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33.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Ricavi</c:v>
                </c:pt>
              </c:strCache>
            </c:strRef>
          </c:tx>
          <c:spPr>
            <a:solidFill>
              <a:srgbClr val="14304E"/>
            </a:solidFill>
            <a:ln w="0">
              <a:noFill/>
            </a:ln>
          </c:spPr>
          <c:invertIfNegative val="0"/>
          <c:dLbls>
            <c:txPr>
              <a:bodyPr wrap="square"/>
              <a:lstStyle/>
              <a:p>
                <a:pPr>
                  <a:defRPr sz="1200" b="0" u="none" strike="noStrike">
                    <a:solidFill>
                      <a:srgbClr val="000000"/>
                    </a:solidFill>
                    <a:uFillTx/>
                    <a:latin typeface="Arial"/>
                  </a:defRPr>
                </a:pPr>
              </a:p>
            </c:txPr>
            <c:dLblPos val="outEnd"/>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Anno 1</c:v>
                </c:pt>
                <c:pt idx="1">
                  <c:v>Anno 2</c:v>
                </c:pt>
                <c:pt idx="2">
                  <c:v>Anno 3</c:v>
                </c:pt>
                <c:pt idx="3">
                  <c:v>Anno 4</c:v>
                </c:pt>
                <c:pt idx="4">
                  <c:v>Anno 5</c:v>
                </c:pt>
              </c:strCache>
            </c:strRef>
          </c:cat>
          <c:val>
            <c:numRef>
              <c:f>0</c:f>
              <c:numCache>
                <c:formatCode>General</c:formatCode>
                <c:ptCount val="5"/>
                <c:pt idx="0">
                  <c:v>400000</c:v>
                </c:pt>
                <c:pt idx="1">
                  <c:v>630000</c:v>
                </c:pt>
                <c:pt idx="2">
                  <c:v>780000</c:v>
                </c:pt>
                <c:pt idx="3">
                  <c:v>975000</c:v>
                </c:pt>
                <c:pt idx="4">
                  <c:v>1560000</c:v>
                </c:pt>
              </c:numCache>
            </c:numRef>
          </c:val>
        </c:ser>
        <c:ser>
          <c:idx val="1"/>
          <c:order val="1"/>
          <c:tx>
            <c:strRef>
              <c:f>label 1</c:f>
              <c:strCache>
                <c:ptCount val="1"/>
                <c:pt idx="0">
                  <c:v>Costi totali</c:v>
                </c:pt>
              </c:strCache>
            </c:strRef>
          </c:tx>
          <c:spPr>
            <a:solidFill>
              <a:srgbClr val="C2A04A"/>
            </a:solidFill>
            <a:ln w="0">
              <a:noFill/>
            </a:ln>
          </c:spPr>
          <c:invertIfNegative val="0"/>
          <c:dLbls>
            <c:txPr>
              <a:bodyPr wrap="square"/>
              <a:lstStyle/>
              <a:p>
                <a:pPr>
                  <a:defRPr sz="1200" b="0" u="none" strike="noStrike">
                    <a:solidFill>
                      <a:srgbClr val="000000"/>
                    </a:solidFill>
                    <a:uFillTx/>
                    <a:latin typeface="Arial"/>
                  </a:defRPr>
                </a:pPr>
              </a:p>
            </c:txPr>
            <c:dLblPos val="outEnd"/>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Anno 1</c:v>
                </c:pt>
                <c:pt idx="1">
                  <c:v>Anno 2</c:v>
                </c:pt>
                <c:pt idx="2">
                  <c:v>Anno 3</c:v>
                </c:pt>
                <c:pt idx="3">
                  <c:v>Anno 4</c:v>
                </c:pt>
                <c:pt idx="4">
                  <c:v>Anno 5</c:v>
                </c:pt>
              </c:strCache>
            </c:strRef>
          </c:cat>
          <c:val>
            <c:numRef>
              <c:f>1</c:f>
              <c:numCache>
                <c:formatCode>General</c:formatCode>
                <c:ptCount val="5"/>
                <c:pt idx="0">
                  <c:v>567520</c:v>
                </c:pt>
                <c:pt idx="1">
                  <c:v>566516</c:v>
                </c:pt>
                <c:pt idx="2">
                  <c:v>542791</c:v>
                </c:pt>
                <c:pt idx="3">
                  <c:v>514201</c:v>
                </c:pt>
                <c:pt idx="4">
                  <c:v>498095</c:v>
                </c:pt>
              </c:numCache>
            </c:numRef>
          </c:val>
        </c:ser>
        <c:gapWidth val="60"/>
        <c:overlap val="0"/>
        <c:axId val="57329806"/>
        <c:axId val="79128040"/>
      </c:barChart>
      <c:lineChart>
        <c:grouping val="standard"/>
        <c:varyColors val="0"/>
        <c:ser>
          <c:idx val="2"/>
          <c:order val="2"/>
          <c:tx>
            <c:strRef>
              <c:f>label 2</c:f>
              <c:strCache>
                <c:ptCount val="1"/>
                <c:pt idx="0">
                  <c:v>Risultato netto cumulato</c:v>
                </c:pt>
              </c:strCache>
            </c:strRef>
          </c:tx>
          <c:spPr>
            <a:solidFill>
              <a:srgbClr val="14304E"/>
            </a:solidFill>
            <a:ln w="31680">
              <a:solidFill>
                <a:srgbClr val="14304E"/>
              </a:solidFill>
              <a:round/>
            </a:ln>
          </c:spPr>
          <c:marker>
            <c:symbol val="circle"/>
            <c:size val="7"/>
            <c:spPr>
              <a:solidFill>
                <a:srgbClr val="14304E"/>
              </a:solidFill>
            </c:spPr>
          </c:marker>
          <c:dLbls>
            <c:txPr>
              <a:bodyPr wrap="square"/>
              <a:lstStyle/>
              <a:p>
                <a:pPr>
                  <a:defRPr sz="1200" b="0" u="none" strike="noStrike">
                    <a:solidFill>
                      <a:srgbClr val="000000"/>
                    </a:solidFill>
                    <a:uFillTx/>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Anno 1</c:v>
                </c:pt>
                <c:pt idx="1">
                  <c:v>Anno 2</c:v>
                </c:pt>
                <c:pt idx="2">
                  <c:v>Anno 3</c:v>
                </c:pt>
                <c:pt idx="3">
                  <c:v>Anno 4</c:v>
                </c:pt>
                <c:pt idx="4">
                  <c:v>Anno 5</c:v>
                </c:pt>
              </c:strCache>
            </c:strRef>
          </c:cat>
          <c:val>
            <c:numRef>
              <c:f>2</c:f>
              <c:numCache>
                <c:formatCode>General</c:formatCode>
                <c:ptCount val="5"/>
                <c:pt idx="0">
                  <c:v>-172250</c:v>
                </c:pt>
                <c:pt idx="1">
                  <c:v>-139867</c:v>
                </c:pt>
                <c:pt idx="2">
                  <c:v>16174</c:v>
                </c:pt>
                <c:pt idx="3">
                  <c:v>331366</c:v>
                </c:pt>
                <c:pt idx="4">
                  <c:v>1074425</c:v>
                </c:pt>
              </c:numCache>
            </c:numRef>
          </c:val>
          <c:smooth val="0"/>
        </c:ser>
        <c:hiLowLines>
          <c:spPr>
            <a:ln w="0">
              <a:noFill/>
            </a:ln>
          </c:spPr>
        </c:hiLowLines>
        <c:marker val="1"/>
        <c:axId val="57329806"/>
        <c:axId val="79128040"/>
      </c:lineChart>
      <c:catAx>
        <c:axId val="57329806"/>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56687A"/>
                </a:solidFill>
                <a:uFillTx/>
                <a:latin typeface="Calibri"/>
              </a:defRPr>
            </a:pPr>
          </a:p>
        </c:txPr>
        <c:crossAx val="79128040"/>
        <c:crosses val="autoZero"/>
        <c:auto val="1"/>
        <c:lblAlgn val="ctr"/>
        <c:lblOffset val="100"/>
        <c:noMultiLvlLbl val="0"/>
      </c:catAx>
      <c:valAx>
        <c:axId val="79128040"/>
        <c:scaling>
          <c:orientation val="minMax"/>
        </c:scaling>
        <c:delete val="0"/>
        <c:axPos val="l"/>
        <c:majorGridlines>
          <c:spPr>
            <a:ln w="9360">
              <a:solidFill>
                <a:srgbClr val="E4DCC7"/>
              </a:solidFill>
              <a:round/>
            </a:ln>
          </c:spPr>
        </c:majorGridlines>
        <c:numFmt formatCode="#,##0" sourceLinked="0"/>
        <c:majorTickMark val="out"/>
        <c:minorTickMark val="none"/>
        <c:tickLblPos val="nextTo"/>
        <c:spPr>
          <a:ln w="12600">
            <a:solidFill>
              <a:srgbClr val="888888"/>
            </a:solidFill>
            <a:round/>
          </a:ln>
        </c:spPr>
        <c:txPr>
          <a:bodyPr/>
          <a:lstStyle/>
          <a:p>
            <a:pPr>
              <a:defRPr sz="1000" b="0" u="none" strike="noStrike">
                <a:solidFill>
                  <a:srgbClr val="56687A"/>
                </a:solidFill>
                <a:uFillTx/>
                <a:latin typeface="Calibri"/>
              </a:defRPr>
            </a:pPr>
          </a:p>
        </c:txPr>
        <c:crossAx val="57329806"/>
        <c:crosses val="autoZero"/>
        <c:crossBetween val="between"/>
      </c:valAx>
      <c:spPr>
        <a:solidFill>
          <a:srgbClr val="FFFFFF"/>
        </a:solidFill>
        <a:ln w="0">
          <a:noFill/>
        </a:ln>
      </c:spPr>
    </c:plotArea>
    <c:legend>
      <c:legendPos val="b"/>
      <c:overlay val="0"/>
      <c:spPr>
        <a:noFill/>
        <a:ln w="0">
          <a:noFill/>
        </a:ln>
      </c:spPr>
      <c:txPr>
        <a:bodyPr/>
        <a:lstStyle/>
        <a:p>
          <a:pPr>
            <a:defRPr sz="1000" b="0" u="none" strike="noStrike">
              <a:solidFill>
                <a:srgbClr val="56687A"/>
              </a:solidFill>
              <a:uFillTx/>
              <a:latin typeface="Calibri"/>
            </a:defRPr>
          </a:pPr>
        </a:p>
      </c:txPr>
    </c:legend>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AB331F1-4AC0-4E86-950C-F5B96B021BEC}"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Img"/>
          </p:nvPr>
        </p:nvSpPr>
        <p:spPr>
          <a:xfrm>
            <a:off x="685800" y="1143000"/>
            <a:ext cx="5485680" cy="3085560"/>
          </a:xfrm>
          <a:prstGeom prst="rect">
            <a:avLst/>
          </a:prstGeom>
          <a:ln w="0">
            <a:noFill/>
          </a:ln>
        </p:spPr>
      </p:sp>
      <p:sp>
        <p:nvSpPr>
          <p:cNvPr id="6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Buongiorno professore. Io sono Gabriele Hamil, insieme a me ha lavorato Matteo Stricagnolo, e le presentiamo il progetto che abbiamo sviluppato per il corso di Sistemi Informativi. Si chiama Tuning Ledger. L'idea di partenza è semplice: quando un'auto viene modificata dopo l'immatricolazione, oggi non esiste un modo affidabile per sapere che cosa sia stato fatto davvero. Noi proponiamo un passaporto digitale, che abbiamo chiamato DMVP, registrato su blockchain, che resta legato al veicolo per tutta la sua vita. Nei prossimi venti minuti ripercorriamo il lavoro, dall'analisi del contesto fino alla valutazione economica.</a:t>
            </a:r>
            <a:endParaRPr lang="en-US" sz="2000" b="0" u="none" strike="noStrike">
              <a:solidFill>
                <a:srgbClr val="000000"/>
              </a:solidFill>
              <a:effectLst/>
              <a:uFillTx/>
              <a:latin typeface="Arial"/>
            </a:endParaRPr>
          </a:p>
        </p:txBody>
      </p:sp>
      <p:sp>
        <p:nvSpPr>
          <p:cNvPr id="662"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5020ECB-3CDA-476A-A830-0F9DAEF9010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Img"/>
          </p:nvPr>
        </p:nvSpPr>
        <p:spPr>
          <a:xfrm>
            <a:off x="685800" y="1143000"/>
            <a:ext cx="5485680" cy="3085560"/>
          </a:xfrm>
          <a:prstGeom prst="rect">
            <a:avLst/>
          </a:prstGeom>
          <a:ln w="0">
            <a:noFill/>
          </a:ln>
        </p:spPr>
      </p:sp>
      <p:sp>
        <p:nvSpPr>
          <p:cNvPr id="6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Partiamo dal problema. Oggi le modifiche a un veicolo vengono documentate con fatture, dichiarazioni di conformità e annotazioni sul libretto. Sono documenti prodotti da soggetti diversi, su supporti diversi, e non c'è niente che ne garantisca l'integrità nel tempo. Nelle sei caselle abbiamo raccolto le conseguenze. Chi compra non può verificare che cosa sia stato fatto. I documenti si possono alterare o retrodatare. Gli enti devono ricostruire la storia a mano. I ricambi non sono tracciati. Le assicurazioni non sanno con precisione che cosa stanno assicurando. E chi ha speso bene non riesce a dimostrarlo alla rivendita. In fondo alla slide abbiamo messo la causa comune: manca una fonte informativa unica e non alterabile.</a:t>
            </a:r>
            <a:endParaRPr lang="en-US" sz="2000" b="0" u="none" strike="noStrike">
              <a:solidFill>
                <a:srgbClr val="000000"/>
              </a:solidFill>
              <a:effectLst/>
              <a:uFillTx/>
              <a:latin typeface="Arial"/>
            </a:endParaRPr>
          </a:p>
        </p:txBody>
      </p:sp>
      <p:sp>
        <p:nvSpPr>
          <p:cNvPr id="665"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2B59F58-FA76-4D8B-9AF3-2478961976D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Img"/>
          </p:nvPr>
        </p:nvSpPr>
        <p:spPr>
          <a:xfrm>
            <a:off x="685800" y="1143000"/>
            <a:ext cx="5485680" cy="3085560"/>
          </a:xfrm>
          <a:prstGeom prst="rect">
            <a:avLst/>
          </a:prstGeom>
          <a:ln w="0">
            <a:noFill/>
          </a:ln>
        </p:spPr>
      </p:sp>
      <p:sp>
        <p:nvSpPr>
          <p:cNvPr id="6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La risposta è il Digital Modified Vehicle Passport, il DMVP. È un passaporto digitale legato al numero di telaio, che accompagna il veicolo per tutta la vita. Nei due riquadri in alto a destra ci sono le informazioni che contiene: da una parte le lavorazioni eseguite, con i codici seriali dei componenti installati; dall'altra l'esito dei controlli del centro di certificazione. Sotto abbiamo elencato che cosa cambia rispetto a oggi: ogni attore scrive solo per la parte che gli compete, gli altri leggono in base ai permessi che hanno, nessuno può modificare quello che è già stato registrato, e il passaporto si trasferisce insieme al veicolo.</a:t>
            </a:r>
            <a:endParaRPr lang="en-US" sz="2000" b="0" u="none" strike="noStrike">
              <a:solidFill>
                <a:srgbClr val="000000"/>
              </a:solidFill>
              <a:effectLst/>
              <a:uFillTx/>
              <a:latin typeface="Arial"/>
            </a:endParaRPr>
          </a:p>
        </p:txBody>
      </p:sp>
      <p:sp>
        <p:nvSpPr>
          <p:cNvPr id="668"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2ACA6FF-1266-445F-8F1C-C554DD1CB21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Img"/>
          </p:nvPr>
        </p:nvSpPr>
        <p:spPr>
          <a:xfrm>
            <a:off x="685800" y="1143000"/>
            <a:ext cx="5485680" cy="3085560"/>
          </a:xfrm>
          <a:prstGeom prst="rect">
            <a:avLst/>
          </a:prstGeom>
          <a:ln w="0">
            <a:noFill/>
          </a:ln>
        </p:spPr>
      </p:sp>
      <p:sp>
        <p:nvSpPr>
          <p:cNvPr id="6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Le scelte tecnologiche sono tre, quelle nei riquadri in alto. La blockchain è permissioned: entrano solo soggetti che sono stati verificati. L'architettura è ibrida: sulla catena registriamo soltanto l'hash, mentre foto, PDF e schede tecniche restano in un database esterno. E gli smart contract validano in automatico le condizioni. Nella riga sotto abbiamo messo il perché delle alternative scartate. Una blockchain pubblica è tecnicamente possibile, ci sono proposte che tokenizzano il veicolo come NFT, ma i costi e la scalabilità non reggono. Una privata toglie proprio la garanzia che ci serve. Nel riquadro in oro, invece, i riferimenti esistenti: Hyperledger Fabric è già usata nell'automotive.</a:t>
            </a:r>
            <a:endParaRPr lang="en-US" sz="2000" b="0" u="none" strike="noStrike">
              <a:solidFill>
                <a:srgbClr val="000000"/>
              </a:solidFill>
              <a:effectLst/>
              <a:uFillTx/>
              <a:latin typeface="Arial"/>
            </a:endParaRPr>
          </a:p>
        </p:txBody>
      </p:sp>
      <p:sp>
        <p:nvSpPr>
          <p:cNvPr id="671"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64F47B8-E901-4E56-A563-2CA8302F6FD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685800" y="1143000"/>
            <a:ext cx="5485680" cy="3085560"/>
          </a:xfrm>
          <a:prstGeom prst="rect">
            <a:avLst/>
          </a:prstGeom>
          <a:ln w="0">
            <a:noFill/>
          </a:ln>
        </p:spPr>
      </p:sp>
      <p:sp>
        <p:nvSpPr>
          <p:cNvPr id="67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Passiamo all'analisi del contesto. Abbiamo usato GOREM in due passaggi: prima uno sguardo largo, su tutti i soggetti che ruotano attorno al tuning, poi la restrizione ai soli attori che useranno davvero la piattaforma.</a:t>
            </a:r>
            <a:endParaRPr lang="en-US" sz="2000" b="0" u="none" strike="noStrike">
              <a:solidFill>
                <a:srgbClr val="000000"/>
              </a:solidFill>
              <a:effectLst/>
              <a:uFillTx/>
              <a:latin typeface="Arial"/>
            </a:endParaRPr>
          </a:p>
        </p:txBody>
      </p:sp>
      <p:sp>
        <p:nvSpPr>
          <p:cNvPr id="674"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785BB91-F495-4584-841E-100BDF96225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685800" y="1143000"/>
            <a:ext cx="5485680" cy="3085560"/>
          </a:xfrm>
          <a:prstGeom prst="rect">
            <a:avLst/>
          </a:prstGeom>
          <a:ln w="0">
            <a:noFill/>
          </a:ln>
        </p:spPr>
      </p:sp>
      <p:sp>
        <p:nvSpPr>
          <p:cNvPr id="6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Questo è lo Stakeholder Diagram. In alto la radice. Collegato direttamente a essa c'è l'Intermediario, che fornisce e gestisce la piattaforma e per questo opera trasversalmente rispetto alla filiera. Accanto ci sono le sei categorie, che abbiamo riportato anche nella riga in fondo, e all'ultimo livello i sedici attori concreti. Le categorie raggruppano i soggetti per la funzione che svolgono nella filiera: gli utenti finali, privati e aziende con flotte; gli operatori tecnici, cioè aziende di tuning e officine; gli attori commerciali, dalla casa automobilistica alla concessionaria fino alle aziende di spedizione; le assicurazioni con i periti; gli enti di certificazione accreditati, che eseguono le verifiche tecniche; e le autorità pubbliche, che fissano le regole e vigilano sulla circolazione. In questa fase l'analisi è volutamente larga: ci sono anche soggetti che sulla piattaforma non entreranno mai.</a:t>
            </a:r>
            <a:endParaRPr lang="en-US" sz="2000" b="0" u="none" strike="noStrike">
              <a:solidFill>
                <a:srgbClr val="000000"/>
              </a:solidFill>
              <a:effectLst/>
              <a:uFillTx/>
              <a:latin typeface="Arial"/>
            </a:endParaRPr>
          </a:p>
        </p:txBody>
      </p:sp>
      <p:sp>
        <p:nvSpPr>
          <p:cNvPr id="677"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E236F54-0B2A-4FB9-9959-61BB9BC9AE0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685800" y="1143000"/>
            <a:ext cx="5485680" cy="3085560"/>
          </a:xfrm>
          <a:prstGeom prst="rect">
            <a:avLst/>
          </a:prstGeom>
          <a:ln w="0">
            <a:noFill/>
          </a:ln>
        </p:spPr>
      </p:sp>
      <p:sp>
        <p:nvSpPr>
          <p:cNvPr id="6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Qui ci sono i softgoal, cioè gli obiettivi non funzionali: le qualità che il sistema deve avere. In cima la radice, la certificazione digitale affidabile delle modifiche ai veicoli. Sotto, cinque softgoal per ciascuno stakeholder, trentacinque in totale. Per esempio l'utente finale si aspetta trasparenza, autenticità e protezione dei dati; l'Intermediario affidabilità, sicurezza degli accessi e costi sostenibili; l'ente di certificazione integrità dei dati e verifiche ripetibili; l'autorità pubblica controlli rapidi e sicurezza della circolazione. Come scritto nel riquadro a destra, un softgoal non è mai raggiunto o non raggiunto: si persegue quanto basta.</a:t>
            </a:r>
            <a:endParaRPr lang="en-US" sz="2000" b="0" u="none" strike="noStrike">
              <a:solidFill>
                <a:srgbClr val="000000"/>
              </a:solidFill>
              <a:effectLst/>
              <a:uFillTx/>
              <a:latin typeface="Arial"/>
            </a:endParaRPr>
          </a:p>
        </p:txBody>
      </p:sp>
      <p:sp>
        <p:nvSpPr>
          <p:cNvPr id="680"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3585A99-E2B4-452D-8D85-62511783F05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685800" y="1143000"/>
            <a:ext cx="5485680" cy="3085560"/>
          </a:xfrm>
          <a:prstGeom prst="rect">
            <a:avLst/>
          </a:prstGeom>
          <a:ln w="0">
            <a:noFill/>
          </a:ln>
        </p:spPr>
      </p:sp>
      <p:sp>
        <p:nvSpPr>
          <p:cNvPr id="6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In questo diagramma le frecce tratteggiate indicano come i softgoal si influenzano tra loro: il più è un rinforzo, il meno un ostacolo. Il risultato è riassunto nei due riquadri a destra. In alto: trenta relazioni su trentatré sono positive, quindi gli interessi dei vari attori vanno quasi tutti nella stessa direzione. In basso i tre conflitti. Due esprimono la stessa tensione: più lo storico è aperto, più si espongono dati riservati. Non la risolviamo scegliendo un lato, la gestiamo con permessi diversi a seconda del ruolo. Il terzo riguarda l'Intermediario, che deve bilanciare l'affidabilità della piattaforma con il costo dell'infrastruttura che la sostiene.</a:t>
            </a:r>
            <a:endParaRPr lang="en-US" sz="2000" b="0" u="none" strike="noStrike">
              <a:solidFill>
                <a:srgbClr val="000000"/>
              </a:solidFill>
              <a:effectLst/>
              <a:uFillTx/>
              <a:latin typeface="Arial"/>
            </a:endParaRPr>
          </a:p>
        </p:txBody>
      </p:sp>
      <p:sp>
        <p:nvSpPr>
          <p:cNvPr id="683"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13D28EB-0186-4124-9DCE-9FF67846D21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685800" y="1143000"/>
            <a:ext cx="5485680" cy="3085560"/>
          </a:xfrm>
          <a:prstGeom prst="rect">
            <a:avLst/>
          </a:prstGeom>
          <a:ln w="0">
            <a:noFill/>
          </a:ln>
        </p:spPr>
      </p:sp>
      <p:sp>
        <p:nvSpPr>
          <p:cNvPr id="6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Adesso stringiamo il campo. Di tutti quegli stakeholder, solo cinque interagiscono direttamente con la piattaforma, e accanto a ognuno abbiamo scritto il motivo per cui dovrebbe aderire. Il primo è l'Intermediario: è chi sviluppa e gestisce il sistema, ed è il nostro cliente primario, quello che lo acquista. Poi ci sono concessionaria, azienda di tuning, centro di certificazione e cliente finale. Nella colonna a destra i quattro partner, dalla Motorizzazione ai fornitori: il sistema si interfaccia con loro, ma non scrivono sul registro.</a:t>
            </a:r>
            <a:endParaRPr lang="en-US" sz="2000" b="0" u="none" strike="noStrike">
              <a:solidFill>
                <a:srgbClr val="000000"/>
              </a:solidFill>
              <a:effectLst/>
              <a:uFillTx/>
              <a:latin typeface="Arial"/>
            </a:endParaRPr>
          </a:p>
        </p:txBody>
      </p:sp>
      <p:sp>
        <p:nvSpPr>
          <p:cNvPr id="686"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3F96E3C-1CDE-4B1D-A44D-7A4CC847B9E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685800" y="1143000"/>
            <a:ext cx="5485680" cy="3085560"/>
          </a:xfrm>
          <a:prstGeom prst="rect">
            <a:avLst/>
          </a:prstGeom>
          <a:ln w="0">
            <a:noFill/>
          </a:ln>
        </p:spPr>
      </p:sp>
      <p:sp>
        <p:nvSpPr>
          <p:cNvPr id="6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Il Role Diagram scompone ogni attore nei ruoli che assume: sono le frecce «plays» che si vedono nel disegno. L'elenco a destra le riassume. L'Intermediario ne ha tre: amministra la rete, gestisce le identità e fa assistenza. Concessionaria e centro di certificazione ne hanno due ciascuno, e nel caso del centro la divisione è voluta: chi ispeziona e chi firma il certificato sono due momenti distinti. In tutto dieci ruoli, e a ognuno corrisponde un goal.</a:t>
            </a:r>
            <a:endParaRPr lang="en-US" sz="2000" b="0" u="none" strike="noStrike">
              <a:solidFill>
                <a:srgbClr val="000000"/>
              </a:solidFill>
              <a:effectLst/>
              <a:uFillTx/>
              <a:latin typeface="Arial"/>
            </a:endParaRPr>
          </a:p>
        </p:txBody>
      </p:sp>
      <p:sp>
        <p:nvSpPr>
          <p:cNvPr id="689"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B953381-DE5D-4558-9437-2339EA1DAAD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685800" y="1143000"/>
            <a:ext cx="5485680" cy="3085560"/>
          </a:xfrm>
          <a:prstGeom prst="rect">
            <a:avLst/>
          </a:prstGeom>
          <a:ln w="0">
            <a:noFill/>
          </a:ln>
        </p:spPr>
      </p:sp>
      <p:sp>
        <p:nvSpPr>
          <p:cNvPr id="6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Stesso impianto della slide precedente, ma qui a ogni ruolo abbiamo agganciato il suo obiettivo, nei riquadri esterni. Un ruolo, un goal. Se li leggiamo in sequenza otteniamo già il ciclo di vita del passaporto: creazione, registrazione delle modifiche, collaudo, certificazione, consegna. La differenza rispetto ai softgoal è che qui la verifica è binaria: il goal o è raggiunto o non lo è.</a:t>
            </a:r>
            <a:endParaRPr lang="en-US" sz="2000" b="0" u="none" strike="noStrike">
              <a:solidFill>
                <a:srgbClr val="000000"/>
              </a:solidFill>
              <a:effectLst/>
              <a:uFillTx/>
              <a:latin typeface="Arial"/>
            </a:endParaRPr>
          </a:p>
        </p:txBody>
      </p:sp>
      <p:sp>
        <p:nvSpPr>
          <p:cNvPr id="692"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94DF14D-606F-4811-8B26-2C59751A277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685800" y="1143000"/>
            <a:ext cx="5485680" cy="3085560"/>
          </a:xfrm>
          <a:prstGeom prst="rect">
            <a:avLst/>
          </a:prstGeom>
          <a:ln w="0">
            <a:noFill/>
          </a:ln>
        </p:spPr>
      </p:sp>
      <p:sp>
        <p:nvSpPr>
          <p:cNvPr id="6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Qui vediamo come i goal si condizionano a vicenda. A sinistra le otto relazioni positive: lette in fila descrivono esattamente il flusso, ogni obiettivo abilita il successivo. A destra i tre punti di attrito, che sono quelli da tenere presenti in esercizio: più il sistema viene usato, più pesa l'infrastruttura; più attori entrano, più cresce il lavoro di assistenza; e un collaudo fatto con rigore allunga i tempi di consegna.</a:t>
            </a:r>
            <a:endParaRPr lang="en-US" sz="2000" b="0" u="none" strike="noStrike">
              <a:solidFill>
                <a:srgbClr val="000000"/>
              </a:solidFill>
              <a:effectLst/>
              <a:uFillTx/>
              <a:latin typeface="Arial"/>
            </a:endParaRPr>
          </a:p>
        </p:txBody>
      </p:sp>
      <p:sp>
        <p:nvSpPr>
          <p:cNvPr id="695"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38C2072-A92D-498D-803F-C32715E8977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685800" y="1143000"/>
            <a:ext cx="5485680" cy="3085560"/>
          </a:xfrm>
          <a:prstGeom prst="rect">
            <a:avLst/>
          </a:prstGeom>
          <a:ln w="0">
            <a:noFill/>
          </a:ln>
        </p:spPr>
      </p:sp>
      <p:sp>
        <p:nvSpPr>
          <p:cNvPr id="6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Questo è il Business Model Canvas. La scelta di fondo è nel primo riquadro a destra: il cliente primario è l'Intermediario, non l'officina e non il cliente finale. È lui che acquista la piattaforma e la porta agli altri. Nel riquadro centrale del canvas il valore offerto è diviso per segmento, così ogni attore ha il suo motivo per entrare. Sotto ci sono i flussi di ricavo: nel Business Plan abbiamo contabilizzato solo abbonamento e verticalizzazioni, gli altri li abbiamo lasciati fuori per prudenza.</a:t>
            </a:r>
            <a:endParaRPr lang="en-US" sz="2000" b="0" u="none" strike="noStrike">
              <a:solidFill>
                <a:srgbClr val="000000"/>
              </a:solidFill>
              <a:effectLst/>
              <a:uFillTx/>
              <a:latin typeface="Arial"/>
            </a:endParaRPr>
          </a:p>
        </p:txBody>
      </p:sp>
      <p:sp>
        <p:nvSpPr>
          <p:cNvPr id="698"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0713B7E-6A02-4A47-ABDD-63B61E833CE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685800" y="1143000"/>
            <a:ext cx="5485680" cy="3085560"/>
          </a:xfrm>
          <a:prstGeom prst="rect">
            <a:avLst/>
          </a:prstGeom>
          <a:ln w="0">
            <a:noFill/>
          </a:ln>
        </p:spPr>
      </p:sp>
      <p:sp>
        <p:nvSpPr>
          <p:cNvPr id="7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Con il capitolo quattro entriamo nel funzionamento: prima i casi d'uso, che dicono chi fa che cosa, poi i processi in BPMN, che mostrano come le attività si concatenano nel tempo.</a:t>
            </a:r>
            <a:endParaRPr lang="en-US" sz="2000" b="0" u="none" strike="noStrike">
              <a:solidFill>
                <a:srgbClr val="000000"/>
              </a:solidFill>
              <a:effectLst/>
              <a:uFillTx/>
              <a:latin typeface="Arial"/>
            </a:endParaRPr>
          </a:p>
        </p:txBody>
      </p:sp>
      <p:sp>
        <p:nvSpPr>
          <p:cNvPr id="701"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5CC0D28-4DF2-41A2-A4CF-05384D55EEB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685800" y="1143000"/>
            <a:ext cx="5485680" cy="3085560"/>
          </a:xfrm>
          <a:prstGeom prst="rect">
            <a:avLst/>
          </a:prstGeom>
          <a:ln w="0">
            <a:noFill/>
          </a:ln>
        </p:spPr>
      </p:sp>
      <p:sp>
        <p:nvSpPr>
          <p:cNvPr id="7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Prima una convenzione che vale per tutti i diagrammi, quella nel riquadro in alto: ogni operazione che scrive sul registro è modellata come «include» e coinvolge l'Intermediario come attore secondario, perché è l'unico che può operare sulla blockchain. A sinistra la concessionaria: registra il veicolo base, e questa operazione crea il passaporto; poi avvia la consegna. A destra l'azienda di tuning, un solo ruolo ma tre azioni incluse: la scheda tecnica con i seriali, le prove multimediali e l'ancoraggio dell'hash.</a:t>
            </a:r>
            <a:endParaRPr lang="en-US" sz="2000" b="0" u="none" strike="noStrike">
              <a:solidFill>
                <a:srgbClr val="000000"/>
              </a:solidFill>
              <a:effectLst/>
              <a:uFillTx/>
              <a:latin typeface="Arial"/>
            </a:endParaRPr>
          </a:p>
        </p:txBody>
      </p:sp>
      <p:sp>
        <p:nvSpPr>
          <p:cNvPr id="704"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07B105E-923F-462A-A16F-539D8088117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685800" y="1143000"/>
            <a:ext cx="5485680" cy="3085560"/>
          </a:xfrm>
          <a:prstGeom prst="rect">
            <a:avLst/>
          </a:prstGeom>
          <a:ln w="0">
            <a:noFill/>
          </a:ln>
        </p:spPr>
      </p:sp>
      <p:sp>
        <p:nvSpPr>
          <p:cNvPr id="70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sinistra il centro di certificazione. L'ispettore, prima di collaudare, consulta lo storico del passaporto per verificare che le fasi precedenti siano in regola. Da qui parte l'unico «extend» di tutta la modellazione: il ramo della non conformità, che scatta se il collaudo va male. L'emittente invece rilascia il certificato e lo registra. A destra il cliente privato: consulta lo storico in sola lettura, e quando accetta il veicolo l'operazione include il passaggio di proprietà del DMVP.</a:t>
            </a:r>
            <a:endParaRPr lang="en-US" sz="2000" b="0" u="none" strike="noStrike">
              <a:solidFill>
                <a:srgbClr val="000000"/>
              </a:solidFill>
              <a:effectLst/>
              <a:uFillTx/>
              <a:latin typeface="Arial"/>
            </a:endParaRPr>
          </a:p>
        </p:txBody>
      </p:sp>
      <p:sp>
        <p:nvSpPr>
          <p:cNvPr id="707"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1F3BF86-FB7A-4EC0-8244-19D1430C59E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685800" y="1143000"/>
            <a:ext cx="5485680" cy="3085560"/>
          </a:xfrm>
          <a:prstGeom prst="rect">
            <a:avLst/>
          </a:prstGeom>
          <a:ln w="0">
            <a:noFill/>
          </a:ln>
        </p:spPr>
      </p:sp>
      <p:sp>
        <p:nvSpPr>
          <p:cNvPr id="70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L'Intermediario gioca tre ruoli, elencati a destra: amministra l'infrastruttura, gestisce le identità e fornisce assistenza. Il secondo è quello su cui vale la pena fermarsi, perché è lì che si decide chi può scrivere sul registro. L'immutabilità garantisce che il dato non cambi, non che sia vero; è l'onboarding a garantirne la provenienza. Il terzo ruolo, l'assistenza, nel diagramma ha quattro frecce in entrata, una per ogni altro attore.</a:t>
            </a:r>
            <a:endParaRPr lang="en-US" sz="2000" b="0" u="none" strike="noStrike">
              <a:solidFill>
                <a:srgbClr val="000000"/>
              </a:solidFill>
              <a:effectLst/>
              <a:uFillTx/>
              <a:latin typeface="Arial"/>
            </a:endParaRPr>
          </a:p>
        </p:txBody>
      </p:sp>
      <p:sp>
        <p:nvSpPr>
          <p:cNvPr id="710"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0AC234D-67F4-43B3-9613-79316AF3243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685800" y="1143000"/>
            <a:ext cx="5485680" cy="3085560"/>
          </a:xfrm>
          <a:prstGeom prst="rect">
            <a:avLst/>
          </a:prstGeom>
          <a:ln w="0">
            <a:noFill/>
          </a:ln>
        </p:spPr>
      </p:sp>
      <p:sp>
        <p:nvSpPr>
          <p:cNvPr id="7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Questo è il processo completo, dalla richiesta del cliente fino al passaggio di proprietà. È una coreografia: ogni attività appartiene a un partecipante e si rivolge agli altri. La fascia centrale si legge da sinistra a destra ed è divisa nelle quattro fasi che abbiamo riassunto in basso. Sotto ogni blocco c'è una banda grigia con scritto Intermediario: è lui che effettua la scrittura. Al centro i due archivi separati, il database off-chain sopra e la blockchain sotto. E poi il rombo con la X, il gateway che valuta l'esito del collaudo: se è negativo la pratica torna all'azienda di tuning.</a:t>
            </a:r>
            <a:endParaRPr lang="en-US" sz="2000" b="0" u="none" strike="noStrike">
              <a:solidFill>
                <a:srgbClr val="000000"/>
              </a:solidFill>
              <a:effectLst/>
              <a:uFillTx/>
              <a:latin typeface="Arial"/>
            </a:endParaRPr>
          </a:p>
        </p:txBody>
      </p:sp>
      <p:sp>
        <p:nvSpPr>
          <p:cNvPr id="713"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A80A8ED-78F3-489E-937C-D6895F24577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685800" y="1143000"/>
            <a:ext cx="5485680" cy="3085560"/>
          </a:xfrm>
          <a:prstGeom prst="rect">
            <a:avLst/>
          </a:prstGeom>
          <a:ln w="0">
            <a:noFill/>
          </a:ln>
        </p:spPr>
      </p:sp>
      <p:sp>
        <p:nvSpPr>
          <p:cNvPr id="71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Questo è il sotto-processo del tuning vero e proprio. Subito dopo l'evento di inizio c'è il rombo con il più: è un gateway parallelo, apre due rami che procedono insieme. Nel ramo in alto l'officina lavora fisicamente sull'auto; nel ramo in basso registra sul sistema le specifiche, i seriali dei componenti e la documentazione. Seguendo il ramo basso si vede che i dati vanno nel database off-chain e in parallelo l'hash finisce sulla blockchain. I due rami si richiudono nel secondo rombo, e parte la notifica al centro di certificazione.</a:t>
            </a:r>
            <a:endParaRPr lang="en-US" sz="2000" b="0" u="none" strike="noStrike">
              <a:solidFill>
                <a:srgbClr val="000000"/>
              </a:solidFill>
              <a:effectLst/>
              <a:uFillTx/>
              <a:latin typeface="Arial"/>
            </a:endParaRPr>
          </a:p>
        </p:txBody>
      </p:sp>
      <p:sp>
        <p:nvSpPr>
          <p:cNvPr id="716"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F582403-3FD9-4081-898E-B270EC21627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685800" y="1143000"/>
            <a:ext cx="5485680" cy="3085560"/>
          </a:xfrm>
          <a:prstGeom prst="rect">
            <a:avLst/>
          </a:prstGeom>
          <a:ln w="0">
            <a:noFill/>
          </a:ln>
        </p:spPr>
      </p:sp>
      <p:sp>
        <p:nvSpPr>
          <p:cNvPr id="7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Ultimo processo. Il centro di certificazione riceve il veicolo e come prima attività consulta lo storico del passaporto. Poi esegue le verifiche. Al centro il rombo con la X apre i due esiti descritti in basso. Il ramo che scende è quello negativo: si genera un report di anomalia e si chiude con un messaggio che rimanda la pratica all'officina. Il ramo che prosegue a destra è quello positivo: il certificato viene archiviato, il suo hash registrato, e lo stato del DMVP passa a «Certificato e conforme».</a:t>
            </a:r>
            <a:endParaRPr lang="en-US" sz="2000" b="0" u="none" strike="noStrike">
              <a:solidFill>
                <a:srgbClr val="000000"/>
              </a:solidFill>
              <a:effectLst/>
              <a:uFillTx/>
              <a:latin typeface="Arial"/>
            </a:endParaRPr>
          </a:p>
        </p:txBody>
      </p:sp>
      <p:sp>
        <p:nvSpPr>
          <p:cNvPr id="719"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DBC1A33-04EA-4573-924A-E7AEAF18FD8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685800" y="1143000"/>
            <a:ext cx="5485680" cy="3085560"/>
          </a:xfrm>
          <a:prstGeom prst="rect">
            <a:avLst/>
          </a:prstGeom>
          <a:ln w="0">
            <a:noFill/>
          </a:ln>
        </p:spPr>
      </p:sp>
      <p:sp>
        <p:nvSpPr>
          <p:cNvPr id="7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L'ultima parte risponde a tre domande: la SWOT se l'idea ha senso, il Project Plan se è realizzabile e con quali risorse, il Business Plan se l'investimento rientra.</a:t>
            </a:r>
            <a:endParaRPr lang="en-US" sz="2000" b="0" u="none" strike="noStrike">
              <a:solidFill>
                <a:srgbClr val="000000"/>
              </a:solidFill>
              <a:effectLst/>
              <a:uFillTx/>
              <a:latin typeface="Arial"/>
            </a:endParaRPr>
          </a:p>
        </p:txBody>
      </p:sp>
      <p:sp>
        <p:nvSpPr>
          <p:cNvPr id="722"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0E142AC-3527-477D-AA7A-8F1DAD0DBB6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685800" y="1143000"/>
            <a:ext cx="5485680" cy="3085560"/>
          </a:xfrm>
          <a:prstGeom prst="rect">
            <a:avLst/>
          </a:prstGeom>
          <a:ln w="0">
            <a:noFill/>
          </a:ln>
        </p:spPr>
      </p:sp>
      <p:sp>
        <p:nvSpPr>
          <p:cNvPr id="72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sinistra la SWOT completa: quattro punti di forza, quattro debolezze, tre opportunità e tre minacce. A destra abbiamo estratto il fattore che pesa di più in ogni quadrante. La forza è l'immutabilità, che elimina tecnicamente la falsificazione. La debolezza è la massa critica: se il centro di certificazione non partecipa, il passaporto resta incompleto. L'opportunità è la domanda crescente di trasparenza. La minaccia è il mancato riconoscimento da parte degli enti. Come si legge in fondo, debolezza e minaccia si affrontano con la stessa leva: le collaborazioni.</a:t>
            </a:r>
            <a:endParaRPr lang="en-US" sz="2000" b="0" u="none" strike="noStrike">
              <a:solidFill>
                <a:srgbClr val="000000"/>
              </a:solidFill>
              <a:effectLst/>
              <a:uFillTx/>
              <a:latin typeface="Arial"/>
            </a:endParaRPr>
          </a:p>
        </p:txBody>
      </p:sp>
      <p:sp>
        <p:nvSpPr>
          <p:cNvPr id="725"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3EC4AAC-11AB-4F8B-80D2-442D442B58C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685800" y="1143000"/>
            <a:ext cx="5485680" cy="3085560"/>
          </a:xfrm>
          <a:prstGeom prst="rect">
            <a:avLst/>
          </a:prstGeom>
          <a:ln w="0">
            <a:noFill/>
          </a:ln>
        </p:spPr>
      </p:sp>
      <p:sp>
        <p:nvSpPr>
          <p:cNvPr id="72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Il piano copre sei anni, dal 2026 al 2031. Nel GANTT la prima barra è l'anno di sviluppo, le cinque sotto sono gli anni di esercizio. In totale sono quasi quarantasette Anni-Persona, con un organico di dodici persone durante lo sviluppo che scende a otto in esercizio. Un parametro che usiamo in tutto il piano: un Anno-Persona corrisponde a 1752 ore, cioè 219 giornate da otto ore; uno sprint di due settimane sono 73 ore a persona.</a:t>
            </a:r>
            <a:endParaRPr lang="en-US" sz="2000" b="0" u="none" strike="noStrike">
              <a:solidFill>
                <a:srgbClr val="000000"/>
              </a:solidFill>
              <a:effectLst/>
              <a:uFillTx/>
              <a:latin typeface="Arial"/>
            </a:endParaRPr>
          </a:p>
        </p:txBody>
      </p:sp>
      <p:sp>
        <p:nvSpPr>
          <p:cNvPr id="728"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C7B117F-D911-4FAB-9F33-5FF9376F0EC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685800" y="1143000"/>
            <a:ext cx="5485680" cy="3085560"/>
          </a:xfrm>
          <a:prstGeom prst="rect">
            <a:avLst/>
          </a:prstGeom>
          <a:ln w="0">
            <a:noFill/>
          </a:ln>
        </p:spPr>
      </p:sp>
      <p:sp>
        <p:nvSpPr>
          <p:cNvPr id="73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L'architettura è a micro-servizi. Il diagramma si legge a fasce. In alto il front-end unificato: una sola applicazione multi-ruolo, dove la differenza tra utente business e cliente finale la fa il profilo di autenticazione. Nella fascia centrale i tre sottosistemi verticali, uno per attore. Sotto, in verde, il Back-Office: è il motore del sistema ed è l'unico livello autorizzato a invocare il chaincode. In fondo la persistenza, con la rete Fabric da un lato e database e object storage dall'altro. A destra il riepilogo dei cinque sottosistemi.</a:t>
            </a:r>
            <a:endParaRPr lang="en-US" sz="2000" b="0" u="none" strike="noStrike">
              <a:solidFill>
                <a:srgbClr val="000000"/>
              </a:solidFill>
              <a:effectLst/>
              <a:uFillTx/>
              <a:latin typeface="Arial"/>
            </a:endParaRPr>
          </a:p>
        </p:txBody>
      </p:sp>
      <p:sp>
        <p:nvSpPr>
          <p:cNvPr id="731"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DE9D531-AF17-4DC0-A2E8-240196C8DB3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685800" y="1143000"/>
            <a:ext cx="5485680" cy="3085560"/>
          </a:xfrm>
          <a:prstGeom prst="rect">
            <a:avLst/>
          </a:prstGeom>
          <a:ln w="0">
            <a:noFill/>
          </a:ln>
        </p:spPr>
      </p:sp>
      <p:sp>
        <p:nvSpPr>
          <p:cNvPr id="73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Qui vediamo dove i componenti vengono collocati fisicamente. In alto i dispositivi degli utenti, al centro a sinistra il cluster applicativo sul cloud, a destra la rete Hyperledger Fabric. Il punto più importante è il secondo riquadro a destra: ogni organizzazione mantiene un proprio peer con la sua copia del ledger, ed è questo che rende impossibile a un singolo attore modificare i dati. In fondo, su una riga sola, lo stack di sviluppo che abbiamo scelto.</a:t>
            </a:r>
            <a:endParaRPr lang="en-US" sz="2000" b="0" u="none" strike="noStrike">
              <a:solidFill>
                <a:srgbClr val="000000"/>
              </a:solidFill>
              <a:effectLst/>
              <a:uFillTx/>
              <a:latin typeface="Arial"/>
            </a:endParaRPr>
          </a:p>
        </p:txBody>
      </p:sp>
      <p:sp>
        <p:nvSpPr>
          <p:cNvPr id="734"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7349803-55FA-48B4-9835-645D9906385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685800" y="1143000"/>
            <a:ext cx="5485680" cy="3085560"/>
          </a:xfrm>
          <a:prstGeom prst="rect">
            <a:avLst/>
          </a:prstGeom>
          <a:ln w="0">
            <a:noFill/>
          </a:ln>
        </p:spPr>
      </p:sp>
      <p:sp>
        <p:nvSpPr>
          <p:cNvPr id="73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Il GANTT della prima fase copre le quarantotto settimane dell'Anno 0: le colonne sono i dodici mesi, ognuno diviso in due sprint da due settimane. Le prime righe in alto sono l'organizzazione del progetto. Al centro si vedono tre blocchi di colore che corrono in parallelo: sono i tre gruppi che lavorano contemporaneamente sui rispettivi sottosistemi. In fondo le ultime due righe, integrazione, testing e deployment. Il sottosistema più pesante è il Back-Office, con oltre cinquemila ore. Abbiamo adottato Scrum con sprint di due settimane: il project manager fa da Product Owner, l'architetto da Scrum Master.</a:t>
            </a:r>
            <a:endParaRPr lang="en-US" sz="2000" b="0" u="none" strike="noStrike">
              <a:solidFill>
                <a:srgbClr val="000000"/>
              </a:solidFill>
              <a:effectLst/>
              <a:uFillTx/>
              <a:latin typeface="Arial"/>
            </a:endParaRPr>
          </a:p>
        </p:txBody>
      </p:sp>
      <p:sp>
        <p:nvSpPr>
          <p:cNvPr id="737"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D6F0F0E-2A7F-4064-8F69-3210C3A5DFD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685800" y="1143000"/>
            <a:ext cx="5485680" cy="3085560"/>
          </a:xfrm>
          <a:prstGeom prst="rect">
            <a:avLst/>
          </a:prstGeom>
          <a:ln w="0">
            <a:noFill/>
          </a:ln>
        </p:spPr>
      </p:sp>
      <p:sp>
        <p:nvSpPr>
          <p:cNvPr id="73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La seconda fase copre cinque anni, venti trimestri, e la squadra scende da dodici a otto persone. Le attività sono cinque, descritte in basso. Guardando la terza riga del GANTT, la manutenzione evolutiva è vuota per i primi due anni e parte solo dall'anno tre: all'inizio le risorse servono a stabilizzare la rete e ad acquisire i primi clienti. L'ultima riga invece è costante, perché l'analisi dei dati gira sempre allo stesso ritmo.</a:t>
            </a:r>
            <a:endParaRPr lang="en-US" sz="2000" b="0" u="none" strike="noStrike">
              <a:solidFill>
                <a:srgbClr val="000000"/>
              </a:solidFill>
              <a:effectLst/>
              <a:uFillTx/>
              <a:latin typeface="Arial"/>
            </a:endParaRPr>
          </a:p>
        </p:txBody>
      </p:sp>
      <p:sp>
        <p:nvSpPr>
          <p:cNvPr id="740"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244BA33-4531-43C8-BAB7-BECA75E42E0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685800" y="1143000"/>
            <a:ext cx="5485680" cy="3085560"/>
          </a:xfrm>
          <a:prstGeom prst="rect">
            <a:avLst/>
          </a:prstGeom>
          <a:ln w="0">
            <a:noFill/>
          </a:ln>
        </p:spPr>
      </p:sp>
      <p:sp>
        <p:nvSpPr>
          <p:cNvPr id="74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Questa tabella chiude il Project Plan. Le colonne sono i sei anni, le righe le quattro figure professionali. Seguendo la riga del totale si vede il salto tra l'anno zero e gli anni successivi: da 11,75 Anni-Persona si passa a 7 all'anno, per un totale di 46,75. Il motivo è nei due riquadri sotto: in sviluppo serve gente per lavorare in parallelo, in esercizio il lavoro cambia natura. Questi numeri sono la base di calcolo del Business Plan.</a:t>
            </a:r>
            <a:endParaRPr lang="en-US" sz="2000" b="0" u="none" strike="noStrike">
              <a:solidFill>
                <a:srgbClr val="000000"/>
              </a:solidFill>
              <a:effectLst/>
              <a:uFillTx/>
              <a:latin typeface="Arial"/>
            </a:endParaRPr>
          </a:p>
        </p:txBody>
      </p:sp>
      <p:sp>
        <p:nvSpPr>
          <p:cNvPr id="743"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E80E88C-DEF8-4ECB-A33E-CF95DF0CDA7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685800" y="1143000"/>
            <a:ext cx="5485680" cy="3085560"/>
          </a:xfrm>
          <a:prstGeom prst="rect">
            <a:avLst/>
          </a:prstGeom>
          <a:ln w="0">
            <a:noFill/>
          </a:ln>
        </p:spPr>
      </p:sp>
      <p:sp>
        <p:nvSpPr>
          <p:cNvPr id="74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Passiamo ai costi. La tabella a sinistra riguarda l'anno zero. La voce principale è il personale, 456 mila euro: l'abbiamo ottenuta moltiplicando gli Anni-Persona per il costo aziendale di ogni figura, cioè la RAL su tredici mensilità più TFR e contributi a carico dell'azienda. Le spese generali sono stimate forfettariamente al venti per cento. Il totale è 599 mila euro; aggiungendo il dodici per cento di oneri finanziari, il capitale investito arriva a 671 mila, il riquadro in oro. Lo ammortizziamo in cinque rate da 134 mila euro.</a:t>
            </a:r>
            <a:endParaRPr lang="en-US" sz="2000" b="0" u="none" strike="noStrike">
              <a:solidFill>
                <a:srgbClr val="000000"/>
              </a:solidFill>
              <a:effectLst/>
              <a:uFillTx/>
              <a:latin typeface="Arial"/>
            </a:endParaRPr>
          </a:p>
        </p:txBody>
      </p:sp>
      <p:sp>
        <p:nvSpPr>
          <p:cNvPr id="746"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DA2C73E-F62F-466B-9B82-BE293B0C216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685800" y="1143000"/>
            <a:ext cx="5485680" cy="3085560"/>
          </a:xfrm>
          <a:prstGeom prst="rect">
            <a:avLst/>
          </a:prstGeom>
          <a:ln w="0">
            <a:noFill/>
          </a:ln>
        </p:spPr>
      </p:sp>
      <p:sp>
        <p:nvSpPr>
          <p:cNvPr id="74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 ricavi si basano sulle tre ipotesi in basso: un abbonamento fisso di trentamila euro l'anno per intermediario, un prezzo per verticalizzazione che scende nel tempo, e una crescita da dieci clienti nel primo anno a quaranta nel quinto. La riga in oro è il ricavo totale: si parte da quattrocentomila euro e si arriva a un milione e mezzo. Nella nota in fondo abbiamo precisato che la fee per ogni passaporto registrato e il marketplace non sono conteggiati, quindi la stima è prudenziale.</a:t>
            </a:r>
            <a:endParaRPr lang="en-US" sz="2000" b="0" u="none" strike="noStrike">
              <a:solidFill>
                <a:srgbClr val="000000"/>
              </a:solidFill>
              <a:effectLst/>
              <a:uFillTx/>
              <a:latin typeface="Arial"/>
            </a:endParaRPr>
          </a:p>
        </p:txBody>
      </p:sp>
      <p:sp>
        <p:nvSpPr>
          <p:cNvPr id="749"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E20DB80-A9B6-448E-8299-C63B5641B79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685800" y="1143000"/>
            <a:ext cx="5485680" cy="3085560"/>
          </a:xfrm>
          <a:prstGeom prst="rect">
            <a:avLst/>
          </a:prstGeom>
          <a:ln w="0">
            <a:noFill/>
          </a:ln>
        </p:spPr>
      </p:sp>
      <p:sp>
        <p:nvSpPr>
          <p:cNvPr id="75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Qui costi e ricavi si incontrano. Nella parte alta i costi di esercizio, circa 482 mila euro l'anno, che comprendono anche la rata di ammortamento. Poi due tipi di oneri finanziari: quelli sul finanziamento iniziale, che calano ogni anno, e quelli sul disavanzo, che compaiono solo negli anni due e tre, quando la cassa è ancora negativa. Sotto si tolgono IRES e IRAP. La riga che conta è l'ultima, il risultato cumulato: parte da meno 172 mila, resta negativo il secondo anno e diventa positivo al terzo.</a:t>
            </a:r>
            <a:endParaRPr lang="en-US" sz="2000" b="0" u="none" strike="noStrike">
              <a:solidFill>
                <a:srgbClr val="000000"/>
              </a:solidFill>
              <a:effectLst/>
              <a:uFillTx/>
              <a:latin typeface="Arial"/>
            </a:endParaRPr>
          </a:p>
        </p:txBody>
      </p:sp>
      <p:sp>
        <p:nvSpPr>
          <p:cNvPr id="752"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4BFF28A-2555-4C21-B0B4-6CE452993F8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685800" y="1143000"/>
            <a:ext cx="5485680" cy="3085560"/>
          </a:xfrm>
          <a:prstGeom prst="rect">
            <a:avLst/>
          </a:prstGeom>
          <a:ln w="0">
            <a:noFill/>
          </a:ln>
        </p:spPr>
      </p:sp>
      <p:sp>
        <p:nvSpPr>
          <p:cNvPr id="7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Il grafico riassume i cinque anni. Le barre blu sono i ricavi, quelle in oro i costi: si incrociano tra il secondo e il terzo anno. La linea scura è il risultato cumulato ed è quella da seguire: parte sotto lo zero e taglia l'asse all'anno tre. Quello è il Break Even Point. A fine quinquennio il cumulato è di un milione e 74 mila euro su 671 mila investiti: un ROI del 160 per cento, cioè un rendimento medio del dodici per cento l'anno. Nella nota in fondo segnaliamo che al terzo anno il pareggio si raggiunge per circa sedicimila euro, quindi con un margine stretto.</a:t>
            </a:r>
            <a:endParaRPr lang="en-US" sz="2000" b="0" u="none" strike="noStrike">
              <a:solidFill>
                <a:srgbClr val="000000"/>
              </a:solidFill>
              <a:effectLst/>
              <a:uFillTx/>
              <a:latin typeface="Arial"/>
            </a:endParaRPr>
          </a:p>
        </p:txBody>
      </p:sp>
      <p:sp>
        <p:nvSpPr>
          <p:cNvPr id="755"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EB71FE1-513F-4B97-95A7-582F0C609E3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685800" y="1143000"/>
            <a:ext cx="5485680" cy="3085560"/>
          </a:xfrm>
          <a:prstGeom prst="rect">
            <a:avLst/>
          </a:prstGeom>
          <a:ln w="0">
            <a:noFill/>
          </a:ln>
        </p:spPr>
      </p:sp>
      <p:sp>
        <p:nvSpPr>
          <p:cNvPr id="7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Chiudiamo con due colonne. A sinistra quello che il sistema porta: informazioni che non si possono alterare, una prova documentale per chi esegue le lavorazioni, collaudi più rapidi e un veicolo che alla rivendita mantiene il suo valore. A destra le direzioni di sviluppo: il modello si applica al retrofit elettrico, alle auto storiche e alle flotte; poi c'è il riconoscimento formale da parte degli enti e l'aggancio ai passaporti digitali di prodotto europei. In fondo abbiamo messo la condizione di successo: non è tecnica, è la capacità di portare abbastanza attori dentro al registro.</a:t>
            </a:r>
            <a:endParaRPr lang="en-US" sz="2000" b="0" u="none" strike="noStrike">
              <a:solidFill>
                <a:srgbClr val="000000"/>
              </a:solidFill>
              <a:effectLst/>
              <a:uFillTx/>
              <a:latin typeface="Arial"/>
            </a:endParaRPr>
          </a:p>
        </p:txBody>
      </p:sp>
      <p:sp>
        <p:nvSpPr>
          <p:cNvPr id="758"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D6F1ED0-0AE4-4C76-BDCF-50CD4DE0817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685800" y="1143000"/>
            <a:ext cx="5485680" cy="3085560"/>
          </a:xfrm>
          <a:prstGeom prst="rect">
            <a:avLst/>
          </a:prstGeom>
          <a:ln w="0">
            <a:noFill/>
          </a:ln>
        </p:spPr>
      </p:sp>
      <p:sp>
        <p:nvSpPr>
          <p:cNvPr id="7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Questo è quanto. Tre numeri per riassumere: quasi quarantasette Anni-Persona di lavoro su sei anni, pareggio al terzo anno di esercizio, e un ROI del centosessanta per cento sul quinquennio. Grazie per l'attenzione, restiamo a disposizione per le domande.</a:t>
            </a:r>
            <a:endParaRPr lang="en-US" sz="2000" b="0" u="none" strike="noStrike">
              <a:solidFill>
                <a:srgbClr val="000000"/>
              </a:solidFill>
              <a:effectLst/>
              <a:uFillTx/>
              <a:latin typeface="Arial"/>
            </a:endParaRPr>
          </a:p>
        </p:txBody>
      </p:sp>
      <p:sp>
        <p:nvSpPr>
          <p:cNvPr id="761"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B66CC28-2422-4609-B850-11B9A41F8A6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a:t>
            </a:r>
            <a:r>
              <a:rPr lang="en-US" sz="1800" b="0" u="none" strike="noStrike">
                <a:solidFill>
                  <a:schemeClr val="dk1"/>
                </a:solidFill>
                <a:effectLst/>
                <a:uFillTx/>
                <a:latin typeface="Calibri"/>
              </a:rPr>
              <a:t>k to </a:t>
            </a:r>
            <a:r>
              <a:rPr lang="en-US" sz="1800" b="0" u="none" strike="noStrike">
                <a:solidFill>
                  <a:schemeClr val="dk1"/>
                </a:solidFill>
                <a:effectLst/>
                <a:uFillTx/>
                <a:latin typeface="Calibri"/>
              </a:rPr>
              <a:t>edit </a:t>
            </a:r>
            <a:r>
              <a:rPr lang="en-US" sz="1800" b="0" u="none" strike="noStrike">
                <a:solidFill>
                  <a:schemeClr val="dk1"/>
                </a:solidFill>
                <a:effectLst/>
                <a:uFillTx/>
                <a:latin typeface="Calibri"/>
              </a:rPr>
              <a:t>the </a:t>
            </a:r>
            <a:r>
              <a:rPr lang="en-US" sz="1800" b="0" u="none" strike="noStrike">
                <a:solidFill>
                  <a:schemeClr val="dk1"/>
                </a:solidFill>
                <a:effectLst/>
                <a:uFillTx/>
                <a:latin typeface="Calibri"/>
              </a:rPr>
              <a:t>titl</a:t>
            </a:r>
            <a:r>
              <a:rPr lang="en-US" sz="1800" b="0" u="none" strike="noStrike">
                <a:solidFill>
                  <a:schemeClr val="dk1"/>
                </a:solidFill>
                <a:effectLst/>
                <a:uFillTx/>
                <a:latin typeface="Calibri"/>
              </a:rPr>
              <a:t>e </a:t>
            </a:r>
            <a:r>
              <a:rPr lang="en-US" sz="1800" b="0" u="none" strike="noStrike">
                <a:solidFill>
                  <a:schemeClr val="dk1"/>
                </a:solidFill>
                <a:effectLst/>
                <a:uFillTx/>
                <a:latin typeface="Calibri"/>
              </a:rPr>
              <a:t>text </a:t>
            </a:r>
            <a:r>
              <a:rPr lang="en-US" sz="1800" b="0" u="none" strike="noStrike">
                <a:solidFill>
                  <a:schemeClr val="dk1"/>
                </a:solidFill>
                <a:effectLst/>
                <a:uFillTx/>
                <a:latin typeface="Calibri"/>
              </a:rPr>
              <a:t>for</a:t>
            </a:r>
            <a:r>
              <a:rPr lang="en-US" sz="1800" b="0" u="none" strike="noStrike">
                <a:solidFill>
                  <a:schemeClr val="dk1"/>
                </a:solidFill>
                <a:effectLst/>
                <a:uFillTx/>
                <a:latin typeface="Calibri"/>
              </a:rPr>
              <a:t>ma</a:t>
            </a:r>
            <a:r>
              <a:rPr lang="en-US" sz="1800" b="0" u="none" strike="noStrike">
                <a:solidFill>
                  <a:schemeClr val="dk1"/>
                </a:solidFill>
                <a:effectLst/>
                <a:uFillTx/>
                <a:latin typeface="Calibri"/>
              </a:rPr>
              <a:t>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1"/>
        </a:solidFill>
      </p:bgPr>
    </p:bg>
    <p:spTree>
      <p:nvGrpSpPr>
        <p:cNvPr id="1" name=""/>
        <p:cNvGrpSpPr/>
        <p:nvPr/>
      </p:nvGrpSpPr>
      <p:grpSpPr>
        <a:xfrm>
          <a:off x="0" y="0"/>
          <a:ext cx="0" cy="0"/>
          <a:chOff x="0" y="0"/>
          <a:chExt cx="0" cy="0"/>
        </a:xfrm>
      </p:grpSpPr>
      <p:sp>
        <p:nvSpPr>
          <p:cNvPr id="10" name="Shape 0"/>
          <p:cNvSpPr/>
          <p:nvPr/>
        </p:nvSpPr>
        <p:spPr>
          <a:xfrm>
            <a:off x="8366760" y="1371600"/>
            <a:ext cx="3016800" cy="3016800"/>
          </a:xfrm>
          <a:prstGeom prst="ellipse">
            <a:avLst/>
          </a:prstGeom>
          <a:solidFill>
            <a:srgbClr val="0B1D31"/>
          </a:solidFill>
          <a:ln w="2032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8750880" y="1755720"/>
            <a:ext cx="2248560" cy="2248560"/>
          </a:xfrm>
          <a:prstGeom prst="ellipse">
            <a:avLst/>
          </a:prstGeom>
          <a:solidFill>
            <a:srgbClr val="11263D"/>
          </a:solidFill>
          <a:ln w="9525">
            <a:solidFill>
              <a:srgbClr val="3E5C7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Text 2"/>
          <p:cNvSpPr/>
          <p:nvPr/>
        </p:nvSpPr>
        <p:spPr>
          <a:xfrm>
            <a:off x="8366760" y="2606040"/>
            <a:ext cx="301680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pc="201" strike="noStrike">
                <a:solidFill>
                  <a:srgbClr val="C2A04A"/>
                </a:solidFill>
                <a:effectLst/>
                <a:uFillTx/>
                <a:latin typeface="Cambria"/>
                <a:ea typeface="Cambria"/>
              </a:rPr>
              <a:t>DMVP</a:t>
            </a:r>
            <a:endParaRPr lang="en-US" sz="2400" b="0" u="none" strike="noStrike">
              <a:solidFill>
                <a:srgbClr val="FFFFFF"/>
              </a:solidFill>
              <a:effectLst/>
              <a:uFillTx/>
              <a:latin typeface="Arial"/>
            </a:endParaRPr>
          </a:p>
        </p:txBody>
      </p:sp>
      <p:sp>
        <p:nvSpPr>
          <p:cNvPr id="13" name="Text 3"/>
          <p:cNvSpPr/>
          <p:nvPr/>
        </p:nvSpPr>
        <p:spPr>
          <a:xfrm>
            <a:off x="8366760" y="4572000"/>
            <a:ext cx="3016800" cy="639360"/>
          </a:xfrm>
          <a:prstGeom prst="rect">
            <a:avLst/>
          </a:prstGeom>
          <a:noFill/>
          <a:ln w="0">
            <a:noFill/>
          </a:ln>
        </p:spPr>
        <p:style>
          <a:lnRef idx="0"/>
          <a:fillRef idx="0"/>
          <a:effectRef idx="0"/>
          <a:fontRef idx="minor"/>
        </p:style>
        <p:txBody>
          <a:bodyPr lIns="0" tIns="0" rIns="0" bIns="0" anchor="ctr">
            <a:noAutofit/>
          </a:bodyPr>
          <a:p>
            <a:pPr algn="ctr" defTabSz="914400">
              <a:lnSpc>
                <a:spcPts val="1599"/>
              </a:lnSpc>
              <a:tabLst>
                <a:tab pos="0" algn="l"/>
              </a:tabLst>
            </a:pPr>
            <a:r>
              <a:rPr lang="en-US" sz="1150" b="0" u="none" strike="noStrike">
                <a:solidFill>
                  <a:srgbClr val="8FA5B9"/>
                </a:solidFill>
                <a:effectLst/>
                <a:uFillTx/>
                <a:latin typeface="Calibri"/>
                <a:ea typeface="Calibri"/>
              </a:rPr>
              <a:t>Digital Modified</a:t>
            </a:r>
            <a:endParaRPr lang="en-US" sz="1150" b="0" u="none" strike="noStrike">
              <a:solidFill>
                <a:srgbClr val="FFFFFF"/>
              </a:solidFill>
              <a:effectLst/>
              <a:uFillTx/>
              <a:latin typeface="Arial"/>
            </a:endParaRPr>
          </a:p>
          <a:p>
            <a:pPr algn="ctr" defTabSz="914400">
              <a:lnSpc>
                <a:spcPts val="1599"/>
              </a:lnSpc>
              <a:tabLst>
                <a:tab pos="0" algn="l"/>
              </a:tabLst>
            </a:pPr>
            <a:r>
              <a:rPr lang="en-US" sz="1150" b="0" u="none" strike="noStrike">
                <a:solidFill>
                  <a:srgbClr val="8FA5B9"/>
                </a:solidFill>
                <a:effectLst/>
                <a:uFillTx/>
                <a:latin typeface="Calibri"/>
                <a:ea typeface="Calibri"/>
              </a:rPr>
              <a:t>Vehicle Passport</a:t>
            </a:r>
            <a:endParaRPr lang="en-US" sz="1150" b="0" u="none" strike="noStrike">
              <a:solidFill>
                <a:srgbClr val="FFFFFF"/>
              </a:solidFill>
              <a:effectLst/>
              <a:uFillTx/>
              <a:latin typeface="Arial"/>
            </a:endParaRPr>
          </a:p>
        </p:txBody>
      </p:sp>
      <p:sp>
        <p:nvSpPr>
          <p:cNvPr id="14" name="Text 4"/>
          <p:cNvSpPr/>
          <p:nvPr/>
        </p:nvSpPr>
        <p:spPr>
          <a:xfrm>
            <a:off x="868680" y="1234440"/>
            <a:ext cx="71316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61" strike="noStrike">
                <a:solidFill>
                  <a:srgbClr val="C2A04A"/>
                </a:solidFill>
                <a:effectLst/>
                <a:uFillTx/>
                <a:latin typeface="Calibri"/>
                <a:ea typeface="Calibri"/>
              </a:rPr>
              <a:t>UNIVERSITÀ DELLA CALABRIA</a:t>
            </a:r>
            <a:endParaRPr lang="en-US" sz="1200" b="0" u="none" strike="noStrike">
              <a:solidFill>
                <a:srgbClr val="FFFFFF"/>
              </a:solidFill>
              <a:effectLst/>
              <a:uFillTx/>
              <a:latin typeface="Arial"/>
            </a:endParaRPr>
          </a:p>
        </p:txBody>
      </p:sp>
      <p:sp>
        <p:nvSpPr>
          <p:cNvPr id="15" name="Text 5"/>
          <p:cNvSpPr/>
          <p:nvPr/>
        </p:nvSpPr>
        <p:spPr>
          <a:xfrm>
            <a:off x="868680" y="1554480"/>
            <a:ext cx="71316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8FA5B9"/>
                </a:solidFill>
                <a:effectLst/>
                <a:uFillTx/>
                <a:latin typeface="Calibri"/>
                <a:ea typeface="Calibri"/>
              </a:rPr>
              <a:t>Corso di Laurea in Ingegneria Informatica  ·  Corso di Sistemi Informativi</a:t>
            </a:r>
            <a:endParaRPr lang="en-US" sz="1200" b="0" u="none" strike="noStrike">
              <a:solidFill>
                <a:srgbClr val="FFFFFF"/>
              </a:solidFill>
              <a:effectLst/>
              <a:uFillTx/>
              <a:latin typeface="Arial"/>
            </a:endParaRPr>
          </a:p>
        </p:txBody>
      </p:sp>
      <p:sp>
        <p:nvSpPr>
          <p:cNvPr id="16" name="Text 6"/>
          <p:cNvSpPr/>
          <p:nvPr/>
        </p:nvSpPr>
        <p:spPr>
          <a:xfrm>
            <a:off x="822960" y="2011680"/>
            <a:ext cx="7223040" cy="1005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5400" b="1" u="none" strike="noStrike">
                <a:solidFill>
                  <a:srgbClr val="FAF6EC"/>
                </a:solidFill>
                <a:effectLst/>
                <a:uFillTx/>
                <a:latin typeface="Cambria"/>
                <a:ea typeface="Cambria"/>
              </a:rPr>
              <a:t>Tuning Ledger</a:t>
            </a:r>
            <a:endParaRPr lang="en-US" sz="5400" b="0" u="none" strike="noStrike">
              <a:solidFill>
                <a:srgbClr val="FFFFFF"/>
              </a:solidFill>
              <a:effectLst/>
              <a:uFillTx/>
              <a:latin typeface="Arial"/>
            </a:endParaRPr>
          </a:p>
        </p:txBody>
      </p:sp>
      <p:sp>
        <p:nvSpPr>
          <p:cNvPr id="17" name="Text 7"/>
          <p:cNvSpPr/>
          <p:nvPr/>
        </p:nvSpPr>
        <p:spPr>
          <a:xfrm>
            <a:off x="868680" y="3127320"/>
            <a:ext cx="6857280" cy="822240"/>
          </a:xfrm>
          <a:prstGeom prst="rect">
            <a:avLst/>
          </a:prstGeom>
          <a:noFill/>
          <a:ln w="0">
            <a:noFill/>
          </a:ln>
        </p:spPr>
        <p:style>
          <a:lnRef idx="0"/>
          <a:fillRef idx="0"/>
          <a:effectRef idx="0"/>
          <a:fontRef idx="minor"/>
        </p:style>
        <p:txBody>
          <a:bodyPr lIns="0" tIns="0" rIns="0" bIns="0" anchor="t">
            <a:noAutofit/>
          </a:bodyPr>
          <a:p>
            <a:pPr defTabSz="914400">
              <a:lnSpc>
                <a:spcPts val="2299"/>
              </a:lnSpc>
              <a:tabLst>
                <a:tab pos="0" algn="l"/>
              </a:tabLst>
            </a:pPr>
            <a:r>
              <a:rPr lang="en-US" sz="1500" b="0" u="none" strike="noStrike">
                <a:solidFill>
                  <a:srgbClr val="A8BACB"/>
                </a:solidFill>
                <a:effectLst/>
                <a:uFillTx/>
                <a:latin typeface="Calibri"/>
                <a:ea typeface="Calibri"/>
              </a:rPr>
              <a:t>Piattaforma blockchain per la certificazione del tuning automobilistico</a:t>
            </a:r>
            <a:endParaRPr lang="en-US" sz="1500" b="0" u="none" strike="noStrike">
              <a:solidFill>
                <a:srgbClr val="FFFFFF"/>
              </a:solidFill>
              <a:effectLst/>
              <a:uFillTx/>
              <a:latin typeface="Arial"/>
            </a:endParaRPr>
          </a:p>
        </p:txBody>
      </p:sp>
      <p:sp>
        <p:nvSpPr>
          <p:cNvPr id="18" name="Shape 8"/>
          <p:cNvSpPr/>
          <p:nvPr/>
        </p:nvSpPr>
        <p:spPr>
          <a:xfrm>
            <a:off x="886680" y="4114800"/>
            <a:ext cx="1371600" cy="360"/>
          </a:xfrm>
          <a:prstGeom prst="line">
            <a:avLst/>
          </a:prstGeom>
          <a:ln w="17780">
            <a:solidFill>
              <a:srgbClr val="C2A04A"/>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9" name="Text 9"/>
          <p:cNvSpPr/>
          <p:nvPr/>
        </p:nvSpPr>
        <p:spPr>
          <a:xfrm>
            <a:off x="868680" y="4370760"/>
            <a:ext cx="3199680" cy="639360"/>
          </a:xfrm>
          <a:prstGeom prst="rect">
            <a:avLst/>
          </a:prstGeom>
          <a:noFill/>
          <a:ln w="0">
            <a:noFill/>
          </a:ln>
        </p:spPr>
        <p:style>
          <a:lnRef idx="0"/>
          <a:fillRef idx="0"/>
          <a:effectRef idx="0"/>
          <a:fontRef idx="minor"/>
        </p:style>
        <p:txBody>
          <a:bodyPr lIns="0" tIns="0" rIns="0" bIns="0" anchor="ctr">
            <a:noAutofit/>
          </a:bodyPr>
          <a:p>
            <a:pPr defTabSz="914400">
              <a:lnSpc>
                <a:spcPts val="2100"/>
              </a:lnSpc>
              <a:tabLst>
                <a:tab pos="0" algn="l"/>
              </a:tabLst>
            </a:pPr>
            <a:r>
              <a:rPr lang="en-US" sz="1000" b="0" u="none" strike="noStrike">
                <a:solidFill>
                  <a:srgbClr val="C2A04A"/>
                </a:solidFill>
                <a:effectLst/>
                <a:uFillTx/>
                <a:latin typeface="Calibri"/>
                <a:ea typeface="Calibri"/>
              </a:rPr>
              <a:t>DOCENTE</a:t>
            </a:r>
            <a:endParaRPr lang="en-US" sz="1000" b="0" u="none" strike="noStrike">
              <a:solidFill>
                <a:srgbClr val="FFFFFF"/>
              </a:solidFill>
              <a:effectLst/>
              <a:uFillTx/>
              <a:latin typeface="Arial"/>
            </a:endParaRPr>
          </a:p>
          <a:p>
            <a:pPr defTabSz="914400">
              <a:lnSpc>
                <a:spcPts val="2100"/>
              </a:lnSpc>
              <a:tabLst>
                <a:tab pos="0" algn="l"/>
              </a:tabLst>
            </a:pPr>
            <a:r>
              <a:rPr lang="en-US" sz="1400" b="1" u="none" strike="noStrike">
                <a:solidFill>
                  <a:srgbClr val="FAF6EC"/>
                </a:solidFill>
                <a:effectLst/>
                <a:uFillTx/>
                <a:latin typeface="Calibri"/>
                <a:ea typeface="Calibri"/>
              </a:rPr>
              <a:t>Prof. Domenico Saccà</a:t>
            </a:r>
            <a:endParaRPr lang="en-US" sz="1400" b="0" u="none" strike="noStrike">
              <a:solidFill>
                <a:srgbClr val="FFFFFF"/>
              </a:solidFill>
              <a:effectLst/>
              <a:uFillTx/>
              <a:latin typeface="Arial"/>
            </a:endParaRPr>
          </a:p>
        </p:txBody>
      </p:sp>
      <p:sp>
        <p:nvSpPr>
          <p:cNvPr id="20" name="Text 10"/>
          <p:cNvSpPr/>
          <p:nvPr/>
        </p:nvSpPr>
        <p:spPr>
          <a:xfrm>
            <a:off x="4343400" y="4370760"/>
            <a:ext cx="3474000" cy="1005120"/>
          </a:xfrm>
          <a:prstGeom prst="rect">
            <a:avLst/>
          </a:prstGeom>
          <a:noFill/>
          <a:ln w="0">
            <a:noFill/>
          </a:ln>
        </p:spPr>
        <p:style>
          <a:lnRef idx="0"/>
          <a:fillRef idx="0"/>
          <a:effectRef idx="0"/>
          <a:fontRef idx="minor"/>
        </p:style>
        <p:txBody>
          <a:bodyPr lIns="0" tIns="0" rIns="0" bIns="0" anchor="ctr">
            <a:noAutofit/>
          </a:bodyPr>
          <a:p>
            <a:pPr defTabSz="914400">
              <a:lnSpc>
                <a:spcPts val="2100"/>
              </a:lnSpc>
              <a:tabLst>
                <a:tab pos="0" algn="l"/>
              </a:tabLst>
            </a:pPr>
            <a:r>
              <a:rPr lang="en-US" sz="1000" b="0" u="none" strike="noStrike">
                <a:solidFill>
                  <a:srgbClr val="C2A04A"/>
                </a:solidFill>
                <a:effectLst/>
                <a:uFillTx/>
                <a:latin typeface="Calibri"/>
                <a:ea typeface="Calibri"/>
              </a:rPr>
              <a:t>STUDENTI</a:t>
            </a:r>
            <a:endParaRPr lang="en-US" sz="1000" b="0" u="none" strike="noStrike">
              <a:solidFill>
                <a:srgbClr val="FFFFFF"/>
              </a:solidFill>
              <a:effectLst/>
              <a:uFillTx/>
              <a:latin typeface="Arial"/>
            </a:endParaRPr>
          </a:p>
          <a:p>
            <a:pPr defTabSz="914400">
              <a:lnSpc>
                <a:spcPts val="2100"/>
              </a:lnSpc>
              <a:tabLst>
                <a:tab pos="0" algn="l"/>
              </a:tabLst>
            </a:pPr>
            <a:r>
              <a:rPr lang="en-US" sz="1400" b="1" u="none" strike="noStrike">
                <a:solidFill>
                  <a:srgbClr val="FAF6EC"/>
                </a:solidFill>
                <a:effectLst/>
                <a:uFillTx/>
                <a:latin typeface="Calibri"/>
                <a:ea typeface="Calibri"/>
              </a:rPr>
              <a:t>Gabriele Hamil</a:t>
            </a:r>
            <a:endParaRPr lang="en-US" sz="1400" b="0" u="none" strike="noStrike">
              <a:solidFill>
                <a:srgbClr val="FFFFFF"/>
              </a:solidFill>
              <a:effectLst/>
              <a:uFillTx/>
              <a:latin typeface="Arial"/>
            </a:endParaRPr>
          </a:p>
          <a:p>
            <a:pPr defTabSz="914400">
              <a:lnSpc>
                <a:spcPts val="2100"/>
              </a:lnSpc>
              <a:tabLst>
                <a:tab pos="0" algn="l"/>
              </a:tabLst>
            </a:pPr>
            <a:r>
              <a:rPr lang="en-US" sz="1400" b="1" u="none" strike="noStrike">
                <a:solidFill>
                  <a:srgbClr val="FAF6EC"/>
                </a:solidFill>
                <a:effectLst/>
                <a:uFillTx/>
                <a:latin typeface="Calibri"/>
                <a:ea typeface="Calibri"/>
              </a:rPr>
              <a:t>Matteo Stricagnolo</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21"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CAPITOLI 1 · 2</a:t>
            </a:r>
            <a:endParaRPr lang="en-US" sz="1050" b="0" u="none" strike="noStrike">
              <a:solidFill>
                <a:srgbClr val="000000"/>
              </a:solidFill>
              <a:effectLst/>
              <a:uFillTx/>
              <a:latin typeface="Arial"/>
            </a:endParaRPr>
          </a:p>
        </p:txBody>
      </p:sp>
      <p:sp>
        <p:nvSpPr>
          <p:cNvPr id="22"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Il problema: una filiera senza un registro condiviso</a:t>
            </a:r>
            <a:endParaRPr lang="en-US" sz="3100" b="0" u="none" strike="noStrike">
              <a:solidFill>
                <a:srgbClr val="000000"/>
              </a:solidFill>
              <a:effectLst/>
              <a:uFillTx/>
              <a:latin typeface="Arial"/>
            </a:endParaRPr>
          </a:p>
        </p:txBody>
      </p:sp>
      <p:sp>
        <p:nvSpPr>
          <p:cNvPr id="23"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a:t>
            </a:r>
            <a:endParaRPr lang="en-US" sz="1000" b="0" u="none" strike="noStrike">
              <a:solidFill>
                <a:srgbClr val="000000"/>
              </a:solidFill>
              <a:effectLst/>
              <a:uFillTx/>
              <a:latin typeface="Arial"/>
            </a:endParaRPr>
          </a:p>
        </p:txBody>
      </p:sp>
      <p:sp>
        <p:nvSpPr>
          <p:cNvPr id="24"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25" name="Text 4"/>
          <p:cNvSpPr/>
          <p:nvPr/>
        </p:nvSpPr>
        <p:spPr>
          <a:xfrm>
            <a:off x="621720" y="1334880"/>
            <a:ext cx="10880640" cy="456480"/>
          </a:xfrm>
          <a:prstGeom prst="rect">
            <a:avLst/>
          </a:prstGeom>
          <a:noFill/>
          <a:ln w="0">
            <a:noFill/>
          </a:ln>
        </p:spPr>
        <p:style>
          <a:lnRef idx="0"/>
          <a:fillRef idx="0"/>
          <a:effectRef idx="0"/>
          <a:fontRef idx="minor"/>
        </p:style>
        <p:txBody>
          <a:bodyPr lIns="0" tIns="0" rIns="0" bIns="0" anchor="ctr">
            <a:noAutofit/>
          </a:bodyPr>
          <a:p>
            <a:pPr defTabSz="914400">
              <a:lnSpc>
                <a:spcPts val="2100"/>
              </a:lnSpc>
              <a:tabLst>
                <a:tab pos="0" algn="l"/>
              </a:tabLst>
            </a:pPr>
            <a:r>
              <a:rPr lang="en-US" sz="1450" b="0" i="1" u="none" strike="noStrike">
                <a:solidFill>
                  <a:srgbClr val="56687A"/>
                </a:solidFill>
                <a:effectLst/>
                <a:uFillTx/>
                <a:latin typeface="Calibri"/>
                <a:ea typeface="Calibri"/>
              </a:rPr>
              <a:t>Le modifiche a un veicolo si documentano ancora con fatture, dichiarazioni di conformità e annotazioni sul libretto: strumenti eterogenei, prodotti da soggetti diversi, senza garanzie di integrità.</a:t>
            </a:r>
            <a:endParaRPr lang="en-US" sz="1450" b="0" u="none" strike="noStrike">
              <a:solidFill>
                <a:srgbClr val="000000"/>
              </a:solidFill>
              <a:effectLst/>
              <a:uFillTx/>
              <a:latin typeface="Arial"/>
            </a:endParaRPr>
          </a:p>
        </p:txBody>
      </p:sp>
      <p:sp>
        <p:nvSpPr>
          <p:cNvPr id="26" name="Shape 5"/>
          <p:cNvSpPr/>
          <p:nvPr/>
        </p:nvSpPr>
        <p:spPr>
          <a:xfrm>
            <a:off x="603360" y="1956960"/>
            <a:ext cx="3474000" cy="1572120"/>
          </a:xfrm>
          <a:prstGeom prst="roundRect">
            <a:avLst>
              <a:gd name="adj" fmla="val 407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 name="Shape 6"/>
          <p:cNvSpPr/>
          <p:nvPr/>
        </p:nvSpPr>
        <p:spPr>
          <a:xfrm>
            <a:off x="841320" y="21945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 name="Text 7"/>
          <p:cNvSpPr/>
          <p:nvPr/>
        </p:nvSpPr>
        <p:spPr>
          <a:xfrm>
            <a:off x="841320" y="21945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1</a:t>
            </a:r>
            <a:endParaRPr lang="en-US" sz="1250" b="0" u="none" strike="noStrike">
              <a:solidFill>
                <a:srgbClr val="000000"/>
              </a:solidFill>
              <a:effectLst/>
              <a:uFillTx/>
              <a:latin typeface="Arial"/>
            </a:endParaRPr>
          </a:p>
        </p:txBody>
      </p:sp>
      <p:sp>
        <p:nvSpPr>
          <p:cNvPr id="29" name="Text 8"/>
          <p:cNvSpPr/>
          <p:nvPr/>
        </p:nvSpPr>
        <p:spPr>
          <a:xfrm>
            <a:off x="1371600" y="220356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Asimmetria informativa</a:t>
            </a:r>
            <a:endParaRPr lang="en-US" sz="1350" b="0" u="none" strike="noStrike">
              <a:solidFill>
                <a:srgbClr val="000000"/>
              </a:solidFill>
              <a:effectLst/>
              <a:uFillTx/>
              <a:latin typeface="Arial"/>
            </a:endParaRPr>
          </a:p>
        </p:txBody>
      </p:sp>
      <p:sp>
        <p:nvSpPr>
          <p:cNvPr id="30" name="Text 9"/>
          <p:cNvSpPr/>
          <p:nvPr/>
        </p:nvSpPr>
        <p:spPr>
          <a:xfrm>
            <a:off x="859680" y="2706480"/>
            <a:ext cx="2962080" cy="67608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L'acquirente non può verificare che cosa sia stato fatto, da chi e con quali componenti.</a:t>
            </a:r>
            <a:endParaRPr lang="en-US" sz="1150" b="0" u="none" strike="noStrike">
              <a:solidFill>
                <a:srgbClr val="000000"/>
              </a:solidFill>
              <a:effectLst/>
              <a:uFillTx/>
              <a:latin typeface="Arial"/>
            </a:endParaRPr>
          </a:p>
        </p:txBody>
      </p:sp>
      <p:sp>
        <p:nvSpPr>
          <p:cNvPr id="31" name="Shape 10"/>
          <p:cNvSpPr/>
          <p:nvPr/>
        </p:nvSpPr>
        <p:spPr>
          <a:xfrm>
            <a:off x="4352400" y="1956960"/>
            <a:ext cx="3474000" cy="1572120"/>
          </a:xfrm>
          <a:prstGeom prst="roundRect">
            <a:avLst>
              <a:gd name="adj" fmla="val 407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 name="Shape 11"/>
          <p:cNvSpPr/>
          <p:nvPr/>
        </p:nvSpPr>
        <p:spPr>
          <a:xfrm>
            <a:off x="4590360" y="21945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 name="Text 12"/>
          <p:cNvSpPr/>
          <p:nvPr/>
        </p:nvSpPr>
        <p:spPr>
          <a:xfrm>
            <a:off x="4590360" y="21945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2</a:t>
            </a:r>
            <a:endParaRPr lang="en-US" sz="1250" b="0" u="none" strike="noStrike">
              <a:solidFill>
                <a:srgbClr val="000000"/>
              </a:solidFill>
              <a:effectLst/>
              <a:uFillTx/>
              <a:latin typeface="Arial"/>
            </a:endParaRPr>
          </a:p>
        </p:txBody>
      </p:sp>
      <p:sp>
        <p:nvSpPr>
          <p:cNvPr id="34" name="Text 13"/>
          <p:cNvSpPr/>
          <p:nvPr/>
        </p:nvSpPr>
        <p:spPr>
          <a:xfrm>
            <a:off x="5120640" y="220356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Documentazione alterabile</a:t>
            </a:r>
            <a:endParaRPr lang="en-US" sz="1350" b="0" u="none" strike="noStrike">
              <a:solidFill>
                <a:srgbClr val="000000"/>
              </a:solidFill>
              <a:effectLst/>
              <a:uFillTx/>
              <a:latin typeface="Arial"/>
            </a:endParaRPr>
          </a:p>
        </p:txBody>
      </p:sp>
      <p:sp>
        <p:nvSpPr>
          <p:cNvPr id="35" name="Text 14"/>
          <p:cNvSpPr/>
          <p:nvPr/>
        </p:nvSpPr>
        <p:spPr>
          <a:xfrm>
            <a:off x="4608720" y="2706480"/>
            <a:ext cx="2962080" cy="67608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Carta e PDF non protetti: nulla impedisce di retrodatare o falsificare un intervento.</a:t>
            </a:r>
            <a:endParaRPr lang="en-US" sz="1150" b="0" u="none" strike="noStrike">
              <a:solidFill>
                <a:srgbClr val="000000"/>
              </a:solidFill>
              <a:effectLst/>
              <a:uFillTx/>
              <a:latin typeface="Arial"/>
            </a:endParaRPr>
          </a:p>
        </p:txBody>
      </p:sp>
      <p:sp>
        <p:nvSpPr>
          <p:cNvPr id="36" name="Shape 15"/>
          <p:cNvSpPr/>
          <p:nvPr/>
        </p:nvSpPr>
        <p:spPr>
          <a:xfrm>
            <a:off x="8101440" y="1956960"/>
            <a:ext cx="3474000" cy="1572120"/>
          </a:xfrm>
          <a:prstGeom prst="roundRect">
            <a:avLst>
              <a:gd name="adj" fmla="val 407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 name="Shape 16"/>
          <p:cNvSpPr/>
          <p:nvPr/>
        </p:nvSpPr>
        <p:spPr>
          <a:xfrm>
            <a:off x="8339400" y="21945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Text 17"/>
          <p:cNvSpPr/>
          <p:nvPr/>
        </p:nvSpPr>
        <p:spPr>
          <a:xfrm>
            <a:off x="8339400" y="21945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3</a:t>
            </a:r>
            <a:endParaRPr lang="en-US" sz="1250" b="0" u="none" strike="noStrike">
              <a:solidFill>
                <a:srgbClr val="000000"/>
              </a:solidFill>
              <a:effectLst/>
              <a:uFillTx/>
              <a:latin typeface="Arial"/>
            </a:endParaRPr>
          </a:p>
        </p:txBody>
      </p:sp>
      <p:sp>
        <p:nvSpPr>
          <p:cNvPr id="39" name="Text 18"/>
          <p:cNvSpPr/>
          <p:nvPr/>
        </p:nvSpPr>
        <p:spPr>
          <a:xfrm>
            <a:off x="8869680" y="220356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Verifiche lente</a:t>
            </a:r>
            <a:endParaRPr lang="en-US" sz="1350" b="0" u="none" strike="noStrike">
              <a:solidFill>
                <a:srgbClr val="000000"/>
              </a:solidFill>
              <a:effectLst/>
              <a:uFillTx/>
              <a:latin typeface="Arial"/>
            </a:endParaRPr>
          </a:p>
        </p:txBody>
      </p:sp>
      <p:sp>
        <p:nvSpPr>
          <p:cNvPr id="40" name="Text 19"/>
          <p:cNvSpPr/>
          <p:nvPr/>
        </p:nvSpPr>
        <p:spPr>
          <a:xfrm>
            <a:off x="8357760" y="2706480"/>
            <a:ext cx="2962080" cy="67608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Gli enti ricostruiscono a mano la storia del mezzo prima di poter autorizzare.</a:t>
            </a:r>
            <a:endParaRPr lang="en-US" sz="1150" b="0" u="none" strike="noStrike">
              <a:solidFill>
                <a:srgbClr val="000000"/>
              </a:solidFill>
              <a:effectLst/>
              <a:uFillTx/>
              <a:latin typeface="Arial"/>
            </a:endParaRPr>
          </a:p>
        </p:txBody>
      </p:sp>
      <p:sp>
        <p:nvSpPr>
          <p:cNvPr id="41" name="Shape 20"/>
          <p:cNvSpPr/>
          <p:nvPr/>
        </p:nvSpPr>
        <p:spPr>
          <a:xfrm>
            <a:off x="603360" y="3785760"/>
            <a:ext cx="3474000" cy="1572120"/>
          </a:xfrm>
          <a:prstGeom prst="roundRect">
            <a:avLst>
              <a:gd name="adj" fmla="val 407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 name="Shape 21"/>
          <p:cNvSpPr/>
          <p:nvPr/>
        </p:nvSpPr>
        <p:spPr>
          <a:xfrm>
            <a:off x="841320" y="40233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 name="Text 22"/>
          <p:cNvSpPr/>
          <p:nvPr/>
        </p:nvSpPr>
        <p:spPr>
          <a:xfrm>
            <a:off x="841320" y="40233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4</a:t>
            </a:r>
            <a:endParaRPr lang="en-US" sz="1250" b="0" u="none" strike="noStrike">
              <a:solidFill>
                <a:srgbClr val="000000"/>
              </a:solidFill>
              <a:effectLst/>
              <a:uFillTx/>
              <a:latin typeface="Arial"/>
            </a:endParaRPr>
          </a:p>
        </p:txBody>
      </p:sp>
      <p:sp>
        <p:nvSpPr>
          <p:cNvPr id="44" name="Text 23"/>
          <p:cNvSpPr/>
          <p:nvPr/>
        </p:nvSpPr>
        <p:spPr>
          <a:xfrm>
            <a:off x="1371600" y="403236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Componenti non tracciati</a:t>
            </a:r>
            <a:endParaRPr lang="en-US" sz="1350" b="0" u="none" strike="noStrike">
              <a:solidFill>
                <a:srgbClr val="000000"/>
              </a:solidFill>
              <a:effectLst/>
              <a:uFillTx/>
              <a:latin typeface="Arial"/>
            </a:endParaRPr>
          </a:p>
        </p:txBody>
      </p:sp>
      <p:sp>
        <p:nvSpPr>
          <p:cNvPr id="45" name="Text 24"/>
          <p:cNvSpPr/>
          <p:nvPr/>
        </p:nvSpPr>
        <p:spPr>
          <a:xfrm>
            <a:off x="859680" y="4535280"/>
            <a:ext cx="2962080" cy="67608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Senza tracciabilità dei ricambi si diffonde componentistica contraffatta.</a:t>
            </a:r>
            <a:endParaRPr lang="en-US" sz="1150" b="0" u="none" strike="noStrike">
              <a:solidFill>
                <a:srgbClr val="000000"/>
              </a:solidFill>
              <a:effectLst/>
              <a:uFillTx/>
              <a:latin typeface="Arial"/>
            </a:endParaRPr>
          </a:p>
        </p:txBody>
      </p:sp>
      <p:sp>
        <p:nvSpPr>
          <p:cNvPr id="46" name="Shape 25"/>
          <p:cNvSpPr/>
          <p:nvPr/>
        </p:nvSpPr>
        <p:spPr>
          <a:xfrm>
            <a:off x="4352400" y="3785760"/>
            <a:ext cx="3474000" cy="1572120"/>
          </a:xfrm>
          <a:prstGeom prst="roundRect">
            <a:avLst>
              <a:gd name="adj" fmla="val 407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 name="Shape 26"/>
          <p:cNvSpPr/>
          <p:nvPr/>
        </p:nvSpPr>
        <p:spPr>
          <a:xfrm>
            <a:off x="4590360" y="40233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 name="Text 27"/>
          <p:cNvSpPr/>
          <p:nvPr/>
        </p:nvSpPr>
        <p:spPr>
          <a:xfrm>
            <a:off x="4590360" y="40233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5</a:t>
            </a:r>
            <a:endParaRPr lang="en-US" sz="1250" b="0" u="none" strike="noStrike">
              <a:solidFill>
                <a:srgbClr val="000000"/>
              </a:solidFill>
              <a:effectLst/>
              <a:uFillTx/>
              <a:latin typeface="Arial"/>
            </a:endParaRPr>
          </a:p>
        </p:txBody>
      </p:sp>
      <p:sp>
        <p:nvSpPr>
          <p:cNvPr id="49" name="Text 28"/>
          <p:cNvSpPr/>
          <p:nvPr/>
        </p:nvSpPr>
        <p:spPr>
          <a:xfrm>
            <a:off x="5120640" y="403236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Assicurazioni al buio</a:t>
            </a:r>
            <a:endParaRPr lang="en-US" sz="1350" b="0" u="none" strike="noStrike">
              <a:solidFill>
                <a:srgbClr val="000000"/>
              </a:solidFill>
              <a:effectLst/>
              <a:uFillTx/>
              <a:latin typeface="Arial"/>
            </a:endParaRPr>
          </a:p>
        </p:txBody>
      </p:sp>
      <p:sp>
        <p:nvSpPr>
          <p:cNvPr id="50" name="Text 29"/>
          <p:cNvSpPr/>
          <p:nvPr/>
        </p:nvSpPr>
        <p:spPr>
          <a:xfrm>
            <a:off x="4608720" y="4535280"/>
            <a:ext cx="2962080" cy="67608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Rischio stimato male in fase di polizza, istruttorie più lunghe sui sinistri.</a:t>
            </a:r>
            <a:endParaRPr lang="en-US" sz="1150" b="0" u="none" strike="noStrike">
              <a:solidFill>
                <a:srgbClr val="000000"/>
              </a:solidFill>
              <a:effectLst/>
              <a:uFillTx/>
              <a:latin typeface="Arial"/>
            </a:endParaRPr>
          </a:p>
        </p:txBody>
      </p:sp>
      <p:sp>
        <p:nvSpPr>
          <p:cNvPr id="51" name="Shape 30"/>
          <p:cNvSpPr/>
          <p:nvPr/>
        </p:nvSpPr>
        <p:spPr>
          <a:xfrm>
            <a:off x="8101440" y="3785760"/>
            <a:ext cx="3474000" cy="1572120"/>
          </a:xfrm>
          <a:prstGeom prst="roundRect">
            <a:avLst>
              <a:gd name="adj" fmla="val 407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Shape 31"/>
          <p:cNvSpPr/>
          <p:nvPr/>
        </p:nvSpPr>
        <p:spPr>
          <a:xfrm>
            <a:off x="8339400" y="40233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 name="Text 32"/>
          <p:cNvSpPr/>
          <p:nvPr/>
        </p:nvSpPr>
        <p:spPr>
          <a:xfrm>
            <a:off x="8339400" y="40233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6</a:t>
            </a:r>
            <a:endParaRPr lang="en-US" sz="1250" b="0" u="none" strike="noStrike">
              <a:solidFill>
                <a:srgbClr val="000000"/>
              </a:solidFill>
              <a:effectLst/>
              <a:uFillTx/>
              <a:latin typeface="Arial"/>
            </a:endParaRPr>
          </a:p>
        </p:txBody>
      </p:sp>
      <p:sp>
        <p:nvSpPr>
          <p:cNvPr id="54" name="Text 33"/>
          <p:cNvSpPr/>
          <p:nvPr/>
        </p:nvSpPr>
        <p:spPr>
          <a:xfrm>
            <a:off x="8869680" y="403236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Svalutazione alla rivendita</a:t>
            </a:r>
            <a:endParaRPr lang="en-US" sz="1350" b="0" u="none" strike="noStrike">
              <a:solidFill>
                <a:srgbClr val="000000"/>
              </a:solidFill>
              <a:effectLst/>
              <a:uFillTx/>
              <a:latin typeface="Arial"/>
            </a:endParaRPr>
          </a:p>
        </p:txBody>
      </p:sp>
      <p:sp>
        <p:nvSpPr>
          <p:cNvPr id="55" name="Text 34"/>
          <p:cNvSpPr/>
          <p:nvPr/>
        </p:nvSpPr>
        <p:spPr>
          <a:xfrm>
            <a:off x="8357760" y="4535280"/>
            <a:ext cx="2962080" cy="67608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Chi ha investito in lavorazioni fatte bene non può dimostrarlo.</a:t>
            </a:r>
            <a:endParaRPr lang="en-US" sz="1150" b="0" u="none" strike="noStrike">
              <a:solidFill>
                <a:srgbClr val="000000"/>
              </a:solidFill>
              <a:effectLst/>
              <a:uFillTx/>
              <a:latin typeface="Arial"/>
            </a:endParaRPr>
          </a:p>
        </p:txBody>
      </p:sp>
      <p:sp>
        <p:nvSpPr>
          <p:cNvPr id="56" name="Shape 35"/>
          <p:cNvSpPr/>
          <p:nvPr/>
        </p:nvSpPr>
        <p:spPr>
          <a:xfrm>
            <a:off x="603360" y="5504760"/>
            <a:ext cx="10972080" cy="657720"/>
          </a:xfrm>
          <a:prstGeom prst="roundRect">
            <a:avLst>
              <a:gd name="adj" fmla="val 9722"/>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Shape 36"/>
          <p:cNvSpPr/>
          <p:nvPr/>
        </p:nvSpPr>
        <p:spPr>
          <a:xfrm>
            <a:off x="841320" y="5623560"/>
            <a:ext cx="419760" cy="419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 name="Text 37"/>
          <p:cNvSpPr/>
          <p:nvPr/>
        </p:nvSpPr>
        <p:spPr>
          <a:xfrm>
            <a:off x="841320" y="562356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304E"/>
                </a:solidFill>
                <a:effectLst/>
                <a:uFillTx/>
                <a:latin typeface="Cambria"/>
                <a:ea typeface="Cambria"/>
              </a:rPr>
              <a:t>!</a:t>
            </a:r>
            <a:endParaRPr lang="en-US" sz="1200" b="0" u="none" strike="noStrike">
              <a:solidFill>
                <a:srgbClr val="000000"/>
              </a:solidFill>
              <a:effectLst/>
              <a:uFillTx/>
              <a:latin typeface="Arial"/>
            </a:endParaRPr>
          </a:p>
        </p:txBody>
      </p:sp>
      <p:sp>
        <p:nvSpPr>
          <p:cNvPr id="59" name="Text 38"/>
          <p:cNvSpPr/>
          <p:nvPr/>
        </p:nvSpPr>
        <p:spPr>
          <a:xfrm>
            <a:off x="1444680" y="5632560"/>
            <a:ext cx="9874800" cy="40176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350" b="0" u="none" strike="noStrike">
                <a:solidFill>
                  <a:srgbClr val="4A4124"/>
                </a:solidFill>
                <a:effectLst/>
                <a:uFillTx/>
                <a:latin typeface="Calibri"/>
                <a:ea typeface="Calibri"/>
              </a:rPr>
              <a:t>Una radice comune: manca una fonte informativa unica, condivisa e non alterabile sullo stato del veicolo.</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60"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1 · L'IDEA</a:t>
            </a:r>
            <a:endParaRPr lang="en-US" sz="1050" b="0" u="none" strike="noStrike">
              <a:solidFill>
                <a:srgbClr val="000000"/>
              </a:solidFill>
              <a:effectLst/>
              <a:uFillTx/>
              <a:latin typeface="Arial"/>
            </a:endParaRPr>
          </a:p>
        </p:txBody>
      </p:sp>
      <p:sp>
        <p:nvSpPr>
          <p:cNvPr id="61"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La risposta: il Digital Modified Vehicle Passport</a:t>
            </a:r>
            <a:endParaRPr lang="en-US" sz="3100" b="0" u="none" strike="noStrike">
              <a:solidFill>
                <a:srgbClr val="000000"/>
              </a:solidFill>
              <a:effectLst/>
              <a:uFillTx/>
              <a:latin typeface="Arial"/>
            </a:endParaRPr>
          </a:p>
        </p:txBody>
      </p:sp>
      <p:sp>
        <p:nvSpPr>
          <p:cNvPr id="62"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3</a:t>
            </a:r>
            <a:endParaRPr lang="en-US" sz="1000" b="0" u="none" strike="noStrike">
              <a:solidFill>
                <a:srgbClr val="000000"/>
              </a:solidFill>
              <a:effectLst/>
              <a:uFillTx/>
              <a:latin typeface="Arial"/>
            </a:endParaRPr>
          </a:p>
        </p:txBody>
      </p:sp>
      <p:sp>
        <p:nvSpPr>
          <p:cNvPr id="63"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64" name="Shape 4"/>
          <p:cNvSpPr/>
          <p:nvPr/>
        </p:nvSpPr>
        <p:spPr>
          <a:xfrm>
            <a:off x="603360" y="1463040"/>
            <a:ext cx="3885480" cy="3931200"/>
          </a:xfrm>
          <a:prstGeom prst="roundRect">
            <a:avLst>
              <a:gd name="adj" fmla="val 1647"/>
            </a:avLst>
          </a:prstGeom>
          <a:solidFill>
            <a:srgbClr val="14304E"/>
          </a:solidFill>
          <a:ln w="9525">
            <a:solidFill>
              <a:srgbClr val="14304E"/>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 name="Shape 5"/>
          <p:cNvSpPr/>
          <p:nvPr/>
        </p:nvSpPr>
        <p:spPr>
          <a:xfrm>
            <a:off x="1792080" y="1920240"/>
            <a:ext cx="1508040" cy="1508040"/>
          </a:xfrm>
          <a:prstGeom prst="ellipse">
            <a:avLst/>
          </a:prstGeom>
          <a:solidFill>
            <a:srgbClr val="14304E"/>
          </a:solidFill>
          <a:ln w="1778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 name="Text 6"/>
          <p:cNvSpPr/>
          <p:nvPr/>
        </p:nvSpPr>
        <p:spPr>
          <a:xfrm>
            <a:off x="1792080" y="1920240"/>
            <a:ext cx="1508040" cy="1508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900" b="1" u="none" strike="noStrike">
                <a:solidFill>
                  <a:srgbClr val="C2A04A"/>
                </a:solidFill>
                <a:effectLst/>
                <a:uFillTx/>
                <a:latin typeface="Cambria"/>
                <a:ea typeface="Cambria"/>
              </a:rPr>
              <a:t>DMVP</a:t>
            </a:r>
            <a:endParaRPr lang="en-US" sz="1900" b="0" u="none" strike="noStrike">
              <a:solidFill>
                <a:srgbClr val="000000"/>
              </a:solidFill>
              <a:effectLst/>
              <a:uFillTx/>
              <a:latin typeface="Arial"/>
            </a:endParaRPr>
          </a:p>
        </p:txBody>
      </p:sp>
      <p:sp>
        <p:nvSpPr>
          <p:cNvPr id="67" name="Text 7"/>
          <p:cNvSpPr/>
          <p:nvPr/>
        </p:nvSpPr>
        <p:spPr>
          <a:xfrm>
            <a:off x="877680" y="3703320"/>
            <a:ext cx="333684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FAF6EC"/>
                </a:solidFill>
                <a:effectLst/>
                <a:uFillTx/>
                <a:latin typeface="Cambria"/>
                <a:ea typeface="Cambria"/>
              </a:rPr>
              <a:t>Passaporto digitale immutabile</a:t>
            </a:r>
            <a:endParaRPr lang="en-US" sz="1700" b="0" u="none" strike="noStrike">
              <a:solidFill>
                <a:srgbClr val="000000"/>
              </a:solidFill>
              <a:effectLst/>
              <a:uFillTx/>
              <a:latin typeface="Arial"/>
            </a:endParaRPr>
          </a:p>
        </p:txBody>
      </p:sp>
      <p:sp>
        <p:nvSpPr>
          <p:cNvPr id="68" name="Text 8"/>
          <p:cNvSpPr/>
          <p:nvPr/>
        </p:nvSpPr>
        <p:spPr>
          <a:xfrm>
            <a:off x="877680" y="4160520"/>
            <a:ext cx="3336840" cy="1005120"/>
          </a:xfrm>
          <a:prstGeom prst="rect">
            <a:avLst/>
          </a:prstGeom>
          <a:noFill/>
          <a:ln w="0">
            <a:noFill/>
          </a:ln>
        </p:spPr>
        <p:style>
          <a:lnRef idx="0"/>
          <a:fillRef idx="0"/>
          <a:effectRef idx="0"/>
          <a:fontRef idx="minor"/>
        </p:style>
        <p:txBody>
          <a:bodyPr lIns="0" tIns="0" rIns="0" bIns="0" anchor="ctr">
            <a:noAutofit/>
          </a:bodyPr>
          <a:p>
            <a:pPr algn="ctr" defTabSz="914400">
              <a:lnSpc>
                <a:spcPts val="1701"/>
              </a:lnSpc>
              <a:tabLst>
                <a:tab pos="0" algn="l"/>
              </a:tabLst>
            </a:pPr>
            <a:r>
              <a:rPr lang="en-US" sz="1150" b="0" u="none" strike="noStrike">
                <a:solidFill>
                  <a:srgbClr val="A8BACB"/>
                </a:solidFill>
                <a:effectLst/>
                <a:uFillTx/>
                <a:latin typeface="Calibri"/>
                <a:ea typeface="Calibri"/>
              </a:rPr>
              <a:t>Legato al numero di telaio, accompagna il veicolo per tutta la sua vita e registra in modo verificabile ogni modifica e ogni certificazione.</a:t>
            </a:r>
            <a:endParaRPr lang="en-US" sz="1150" b="0" u="none" strike="noStrike">
              <a:solidFill>
                <a:srgbClr val="000000"/>
              </a:solidFill>
              <a:effectLst/>
              <a:uFillTx/>
              <a:latin typeface="Arial"/>
            </a:endParaRPr>
          </a:p>
        </p:txBody>
      </p:sp>
      <p:sp>
        <p:nvSpPr>
          <p:cNvPr id="69" name="Text 9"/>
          <p:cNvSpPr/>
          <p:nvPr/>
        </p:nvSpPr>
        <p:spPr>
          <a:xfrm>
            <a:off x="4846320" y="1481400"/>
            <a:ext cx="66744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F7026"/>
                </a:solidFill>
                <a:effectLst/>
                <a:uFillTx/>
                <a:latin typeface="Calibri"/>
                <a:ea typeface="Calibri"/>
              </a:rPr>
              <a:t>Che cosa attesta</a:t>
            </a:r>
            <a:endParaRPr lang="en-US" sz="1150" b="0" u="none" strike="noStrike">
              <a:solidFill>
                <a:srgbClr val="000000"/>
              </a:solidFill>
              <a:effectLst/>
              <a:uFillTx/>
              <a:latin typeface="Arial"/>
            </a:endParaRPr>
          </a:p>
        </p:txBody>
      </p:sp>
      <p:sp>
        <p:nvSpPr>
          <p:cNvPr id="70" name="Shape 10"/>
          <p:cNvSpPr/>
          <p:nvPr/>
        </p:nvSpPr>
        <p:spPr>
          <a:xfrm>
            <a:off x="4846320" y="1828800"/>
            <a:ext cx="3227040" cy="1480680"/>
          </a:xfrm>
          <a:prstGeom prst="roundRect">
            <a:avLst>
              <a:gd name="adj" fmla="val 4321"/>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 name="Shape 11"/>
          <p:cNvSpPr/>
          <p:nvPr/>
        </p:nvSpPr>
        <p:spPr>
          <a:xfrm>
            <a:off x="5083920" y="206640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2" name="Text 12"/>
          <p:cNvSpPr/>
          <p:nvPr/>
        </p:nvSpPr>
        <p:spPr>
          <a:xfrm>
            <a:off x="5083920" y="206640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1</a:t>
            </a:r>
            <a:endParaRPr lang="en-US" sz="1250" b="0" u="none" strike="noStrike">
              <a:solidFill>
                <a:srgbClr val="000000"/>
              </a:solidFill>
              <a:effectLst/>
              <a:uFillTx/>
              <a:latin typeface="Arial"/>
            </a:endParaRPr>
          </a:p>
        </p:txBody>
      </p:sp>
      <p:sp>
        <p:nvSpPr>
          <p:cNvPr id="73" name="Text 13"/>
          <p:cNvSpPr/>
          <p:nvPr/>
        </p:nvSpPr>
        <p:spPr>
          <a:xfrm>
            <a:off x="5614560" y="2075760"/>
            <a:ext cx="222120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Le modifiche eseguite</a:t>
            </a:r>
            <a:endParaRPr lang="en-US" sz="1400" b="0" u="none" strike="noStrike">
              <a:solidFill>
                <a:srgbClr val="000000"/>
              </a:solidFill>
              <a:effectLst/>
              <a:uFillTx/>
              <a:latin typeface="Arial"/>
            </a:endParaRPr>
          </a:p>
        </p:txBody>
      </p:sp>
      <p:sp>
        <p:nvSpPr>
          <p:cNvPr id="74" name="Text 14"/>
          <p:cNvSpPr/>
          <p:nvPr/>
        </p:nvSpPr>
        <p:spPr>
          <a:xfrm>
            <a:off x="5102280" y="2578680"/>
            <a:ext cx="2715120" cy="58464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Interventi funzionali ed estetici, con i seriali dei componenti installati</a:t>
            </a:r>
            <a:endParaRPr lang="en-US" sz="1150" b="0" u="none" strike="noStrike">
              <a:solidFill>
                <a:srgbClr val="000000"/>
              </a:solidFill>
              <a:effectLst/>
              <a:uFillTx/>
              <a:latin typeface="Arial"/>
            </a:endParaRPr>
          </a:p>
        </p:txBody>
      </p:sp>
      <p:sp>
        <p:nvSpPr>
          <p:cNvPr id="75" name="Shape 15"/>
          <p:cNvSpPr/>
          <p:nvPr/>
        </p:nvSpPr>
        <p:spPr>
          <a:xfrm>
            <a:off x="8348400" y="1828800"/>
            <a:ext cx="3227040" cy="1480680"/>
          </a:xfrm>
          <a:prstGeom prst="roundRect">
            <a:avLst>
              <a:gd name="adj" fmla="val 4321"/>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 name="Shape 16"/>
          <p:cNvSpPr/>
          <p:nvPr/>
        </p:nvSpPr>
        <p:spPr>
          <a:xfrm>
            <a:off x="8586360" y="206640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 name="Text 17"/>
          <p:cNvSpPr/>
          <p:nvPr/>
        </p:nvSpPr>
        <p:spPr>
          <a:xfrm>
            <a:off x="8586360" y="206640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2</a:t>
            </a:r>
            <a:endParaRPr lang="en-US" sz="1250" b="0" u="none" strike="noStrike">
              <a:solidFill>
                <a:srgbClr val="000000"/>
              </a:solidFill>
              <a:effectLst/>
              <a:uFillTx/>
              <a:latin typeface="Arial"/>
            </a:endParaRPr>
          </a:p>
        </p:txBody>
      </p:sp>
      <p:sp>
        <p:nvSpPr>
          <p:cNvPr id="78" name="Text 18"/>
          <p:cNvSpPr/>
          <p:nvPr/>
        </p:nvSpPr>
        <p:spPr>
          <a:xfrm>
            <a:off x="9116640" y="2075760"/>
            <a:ext cx="222120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L'esito delle verifiche</a:t>
            </a:r>
            <a:endParaRPr lang="en-US" sz="1400" b="0" u="none" strike="noStrike">
              <a:solidFill>
                <a:srgbClr val="000000"/>
              </a:solidFill>
              <a:effectLst/>
              <a:uFillTx/>
              <a:latin typeface="Arial"/>
            </a:endParaRPr>
          </a:p>
        </p:txBody>
      </p:sp>
      <p:sp>
        <p:nvSpPr>
          <p:cNvPr id="79" name="Text 19"/>
          <p:cNvSpPr/>
          <p:nvPr/>
        </p:nvSpPr>
        <p:spPr>
          <a:xfrm>
            <a:off x="8604360" y="2578680"/>
            <a:ext cx="2715120" cy="58464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Controlli di qualità e di conformità normativa del centro di certificazione</a:t>
            </a:r>
            <a:endParaRPr lang="en-US" sz="1150" b="0" u="none" strike="noStrike">
              <a:solidFill>
                <a:srgbClr val="000000"/>
              </a:solidFill>
              <a:effectLst/>
              <a:uFillTx/>
              <a:latin typeface="Arial"/>
            </a:endParaRPr>
          </a:p>
        </p:txBody>
      </p:sp>
      <p:sp>
        <p:nvSpPr>
          <p:cNvPr id="80" name="Text 20"/>
          <p:cNvSpPr/>
          <p:nvPr/>
        </p:nvSpPr>
        <p:spPr>
          <a:xfrm>
            <a:off x="4846320" y="3511440"/>
            <a:ext cx="66744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F7026"/>
                </a:solidFill>
                <a:effectLst/>
                <a:uFillTx/>
                <a:latin typeface="Calibri"/>
                <a:ea typeface="Calibri"/>
              </a:rPr>
              <a:t>Che cosa cambia</a:t>
            </a:r>
            <a:endParaRPr lang="en-US" sz="1150" b="0" u="none" strike="noStrike">
              <a:solidFill>
                <a:srgbClr val="000000"/>
              </a:solidFill>
              <a:effectLst/>
              <a:uFillTx/>
              <a:latin typeface="Arial"/>
            </a:endParaRPr>
          </a:p>
        </p:txBody>
      </p:sp>
      <p:sp>
        <p:nvSpPr>
          <p:cNvPr id="81" name="Text 21"/>
          <p:cNvSpPr/>
          <p:nvPr/>
        </p:nvSpPr>
        <p:spPr>
          <a:xfrm>
            <a:off x="4883040" y="3877200"/>
            <a:ext cx="6674400" cy="1919520"/>
          </a:xfrm>
          <a:prstGeom prst="rect">
            <a:avLst/>
          </a:prstGeom>
          <a:noFill/>
          <a:ln w="0">
            <a:noFill/>
          </a:ln>
        </p:spPr>
        <p:style>
          <a:lnRef idx="0"/>
          <a:fillRef idx="0"/>
          <a:effectRef idx="0"/>
          <a:fontRef idx="minor"/>
        </p:style>
        <p:txBody>
          <a:bodyPr lIns="0" tIns="0" rIns="0" bIns="0" anchor="t">
            <a:noAutofit/>
          </a:bodyPr>
          <a:p>
            <a:pPr marL="177840" indent="-177840" defTabSz="914400">
              <a:lnSpc>
                <a:spcPts val="2100"/>
              </a:lnSpc>
              <a:spcAft>
                <a:spcPts val="901"/>
              </a:spcAft>
              <a:buClr>
                <a:srgbClr val="222F3B"/>
              </a:buClr>
              <a:buFont typeface="Symbol" charset="2"/>
              <a:buChar char=""/>
            </a:pPr>
            <a:r>
              <a:rPr lang="en-US" sz="1350" b="0" u="none" strike="noStrike">
                <a:solidFill>
                  <a:srgbClr val="222F3B"/>
                </a:solidFill>
                <a:effectLst/>
                <a:uFillTx/>
                <a:latin typeface="Calibri"/>
                <a:ea typeface="Calibri"/>
              </a:rPr>
              <a:t>Ogni attore scrive solo per la parte di propria competenza</a:t>
            </a:r>
            <a:endParaRPr lang="en-US" sz="1350" b="0" u="none" strike="noStrike">
              <a:solidFill>
                <a:srgbClr val="000000"/>
              </a:solidFill>
              <a:effectLst/>
              <a:uFillTx/>
              <a:latin typeface="Arial"/>
            </a:endParaRPr>
          </a:p>
          <a:p>
            <a:pPr marL="177840" indent="-177840" defTabSz="914400">
              <a:lnSpc>
                <a:spcPts val="2100"/>
              </a:lnSpc>
              <a:spcAft>
                <a:spcPts val="901"/>
              </a:spcAft>
              <a:buClr>
                <a:srgbClr val="222F3B"/>
              </a:buClr>
              <a:buFont typeface="Symbol" charset="2"/>
              <a:buChar char=""/>
            </a:pPr>
            <a:r>
              <a:rPr lang="en-US" sz="1350" b="0" u="none" strike="noStrike">
                <a:solidFill>
                  <a:srgbClr val="222F3B"/>
                </a:solidFill>
                <a:effectLst/>
                <a:uFillTx/>
                <a:latin typeface="Calibri"/>
                <a:ea typeface="Calibri"/>
              </a:rPr>
              <a:t>Ciascuno legge il resto nei limiti delle proprie autorizzazioni</a:t>
            </a:r>
            <a:endParaRPr lang="en-US" sz="1350" b="0" u="none" strike="noStrike">
              <a:solidFill>
                <a:srgbClr val="000000"/>
              </a:solidFill>
              <a:effectLst/>
              <a:uFillTx/>
              <a:latin typeface="Arial"/>
            </a:endParaRPr>
          </a:p>
          <a:p>
            <a:pPr marL="177840" indent="-177840" defTabSz="914400">
              <a:lnSpc>
                <a:spcPts val="2100"/>
              </a:lnSpc>
              <a:spcAft>
                <a:spcPts val="901"/>
              </a:spcAft>
              <a:buClr>
                <a:srgbClr val="222F3B"/>
              </a:buClr>
              <a:buFont typeface="Symbol" charset="2"/>
              <a:buChar char=""/>
            </a:pPr>
            <a:r>
              <a:rPr lang="en-US" sz="1350" b="0" u="none" strike="noStrike">
                <a:solidFill>
                  <a:srgbClr val="222F3B"/>
                </a:solidFill>
                <a:effectLst/>
                <a:uFillTx/>
                <a:latin typeface="Calibri"/>
                <a:ea typeface="Calibri"/>
              </a:rPr>
              <a:t>Nessuno può alterare da solo quanto è già stato scritto</a:t>
            </a:r>
            <a:endParaRPr lang="en-US" sz="1350" b="0" u="none" strike="noStrike">
              <a:solidFill>
                <a:srgbClr val="000000"/>
              </a:solidFill>
              <a:effectLst/>
              <a:uFillTx/>
              <a:latin typeface="Arial"/>
            </a:endParaRPr>
          </a:p>
          <a:p>
            <a:pPr marL="177840" indent="-177840" defTabSz="914400">
              <a:lnSpc>
                <a:spcPts val="2100"/>
              </a:lnSpc>
              <a:spcAft>
                <a:spcPts val="901"/>
              </a:spcAft>
              <a:buClr>
                <a:srgbClr val="222F3B"/>
              </a:buClr>
              <a:buFont typeface="Symbol" charset="2"/>
              <a:buChar char=""/>
            </a:pPr>
            <a:r>
              <a:rPr lang="en-US" sz="1350" b="0" u="none" strike="noStrike">
                <a:solidFill>
                  <a:srgbClr val="222F3B"/>
                </a:solidFill>
                <a:effectLst/>
                <a:uFillTx/>
                <a:latin typeface="Calibri"/>
                <a:ea typeface="Calibri"/>
              </a:rPr>
              <a:t>Il passaporto è trasferibile: segue il veicolo alla rivendita</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82"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3 · TECNOLOGIA</a:t>
            </a:r>
            <a:endParaRPr lang="en-US" sz="1050" b="0" u="none" strike="noStrike">
              <a:solidFill>
                <a:srgbClr val="000000"/>
              </a:solidFill>
              <a:effectLst/>
              <a:uFillTx/>
              <a:latin typeface="Arial"/>
            </a:endParaRPr>
          </a:p>
        </p:txBody>
      </p:sp>
      <p:sp>
        <p:nvSpPr>
          <p:cNvPr id="83"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Le tre scelte tecnologiche</a:t>
            </a:r>
            <a:endParaRPr lang="en-US" sz="3100" b="0" u="none" strike="noStrike">
              <a:solidFill>
                <a:srgbClr val="000000"/>
              </a:solidFill>
              <a:effectLst/>
              <a:uFillTx/>
              <a:latin typeface="Arial"/>
            </a:endParaRPr>
          </a:p>
        </p:txBody>
      </p:sp>
      <p:sp>
        <p:nvSpPr>
          <p:cNvPr id="84"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4</a:t>
            </a:r>
            <a:endParaRPr lang="en-US" sz="1000" b="0" u="none" strike="noStrike">
              <a:solidFill>
                <a:srgbClr val="000000"/>
              </a:solidFill>
              <a:effectLst/>
              <a:uFillTx/>
              <a:latin typeface="Arial"/>
            </a:endParaRPr>
          </a:p>
        </p:txBody>
      </p:sp>
      <p:sp>
        <p:nvSpPr>
          <p:cNvPr id="85"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86" name="Shape 4"/>
          <p:cNvSpPr/>
          <p:nvPr/>
        </p:nvSpPr>
        <p:spPr>
          <a:xfrm>
            <a:off x="603360" y="1463040"/>
            <a:ext cx="3474000" cy="2120760"/>
          </a:xfrm>
          <a:prstGeom prst="roundRect">
            <a:avLst>
              <a:gd name="adj" fmla="val 301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 name="Shape 5"/>
          <p:cNvSpPr/>
          <p:nvPr/>
        </p:nvSpPr>
        <p:spPr>
          <a:xfrm>
            <a:off x="841320" y="170064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Text 6"/>
          <p:cNvSpPr/>
          <p:nvPr/>
        </p:nvSpPr>
        <p:spPr>
          <a:xfrm>
            <a:off x="841320" y="170064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1</a:t>
            </a:r>
            <a:endParaRPr lang="en-US" sz="1250" b="0" u="none" strike="noStrike">
              <a:solidFill>
                <a:srgbClr val="000000"/>
              </a:solidFill>
              <a:effectLst/>
              <a:uFillTx/>
              <a:latin typeface="Arial"/>
            </a:endParaRPr>
          </a:p>
        </p:txBody>
      </p:sp>
      <p:sp>
        <p:nvSpPr>
          <p:cNvPr id="89" name="Text 7"/>
          <p:cNvSpPr/>
          <p:nvPr/>
        </p:nvSpPr>
        <p:spPr>
          <a:xfrm>
            <a:off x="1371600" y="171000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4304E"/>
                </a:solidFill>
                <a:effectLst/>
                <a:uFillTx/>
                <a:latin typeface="Cambria"/>
                <a:ea typeface="Cambria"/>
              </a:rPr>
              <a:t>Blockchain permissioned</a:t>
            </a:r>
            <a:endParaRPr lang="en-US" sz="1500" b="0" u="none" strike="noStrike">
              <a:solidFill>
                <a:srgbClr val="000000"/>
              </a:solidFill>
              <a:effectLst/>
              <a:uFillTx/>
              <a:latin typeface="Arial"/>
            </a:endParaRPr>
          </a:p>
        </p:txBody>
      </p:sp>
      <p:sp>
        <p:nvSpPr>
          <p:cNvPr id="90" name="Text 8"/>
          <p:cNvSpPr/>
          <p:nvPr/>
        </p:nvSpPr>
        <p:spPr>
          <a:xfrm>
            <a:off x="859680" y="2212920"/>
            <a:ext cx="2962080" cy="12247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250" b="0" u="none" strike="noStrike">
                <a:solidFill>
                  <a:srgbClr val="56687A"/>
                </a:solidFill>
                <a:effectLst/>
                <a:uFillTx/>
                <a:latin typeface="Calibri"/>
                <a:ea typeface="Calibri"/>
              </a:rPr>
              <a:t>Accesso riservato a partecipanti verificati: bilancia decentralizzazione e controllo, con ruoli e politiche di endorsement per ogni categoria di operatore.</a:t>
            </a:r>
            <a:endParaRPr lang="en-US" sz="1250" b="0" u="none" strike="noStrike">
              <a:solidFill>
                <a:srgbClr val="000000"/>
              </a:solidFill>
              <a:effectLst/>
              <a:uFillTx/>
              <a:latin typeface="Arial"/>
            </a:endParaRPr>
          </a:p>
        </p:txBody>
      </p:sp>
      <p:sp>
        <p:nvSpPr>
          <p:cNvPr id="91" name="Shape 9"/>
          <p:cNvSpPr/>
          <p:nvPr/>
        </p:nvSpPr>
        <p:spPr>
          <a:xfrm>
            <a:off x="4352400" y="1463040"/>
            <a:ext cx="3474000" cy="2120760"/>
          </a:xfrm>
          <a:prstGeom prst="roundRect">
            <a:avLst>
              <a:gd name="adj" fmla="val 301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 name="Shape 10"/>
          <p:cNvSpPr/>
          <p:nvPr/>
        </p:nvSpPr>
        <p:spPr>
          <a:xfrm>
            <a:off x="4590360" y="170064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Text 11"/>
          <p:cNvSpPr/>
          <p:nvPr/>
        </p:nvSpPr>
        <p:spPr>
          <a:xfrm>
            <a:off x="4590360" y="170064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2</a:t>
            </a:r>
            <a:endParaRPr lang="en-US" sz="1250" b="0" u="none" strike="noStrike">
              <a:solidFill>
                <a:srgbClr val="000000"/>
              </a:solidFill>
              <a:effectLst/>
              <a:uFillTx/>
              <a:latin typeface="Arial"/>
            </a:endParaRPr>
          </a:p>
        </p:txBody>
      </p:sp>
      <p:sp>
        <p:nvSpPr>
          <p:cNvPr id="94" name="Text 12"/>
          <p:cNvSpPr/>
          <p:nvPr/>
        </p:nvSpPr>
        <p:spPr>
          <a:xfrm>
            <a:off x="5120640" y="171000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4304E"/>
                </a:solidFill>
                <a:effectLst/>
                <a:uFillTx/>
                <a:latin typeface="Cambria"/>
                <a:ea typeface="Cambria"/>
              </a:rPr>
              <a:t>Architettura ibrida</a:t>
            </a:r>
            <a:endParaRPr lang="en-US" sz="1500" b="0" u="none" strike="noStrike">
              <a:solidFill>
                <a:srgbClr val="000000"/>
              </a:solidFill>
              <a:effectLst/>
              <a:uFillTx/>
              <a:latin typeface="Arial"/>
            </a:endParaRPr>
          </a:p>
        </p:txBody>
      </p:sp>
      <p:sp>
        <p:nvSpPr>
          <p:cNvPr id="95" name="Text 13"/>
          <p:cNvSpPr/>
          <p:nvPr/>
        </p:nvSpPr>
        <p:spPr>
          <a:xfrm>
            <a:off x="4608720" y="2212920"/>
            <a:ext cx="2962080" cy="12247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250" b="0" u="none" strike="noStrike">
                <a:solidFill>
                  <a:srgbClr val="56687A"/>
                </a:solidFill>
                <a:effectLst/>
                <a:uFillTx/>
                <a:latin typeface="Calibri"/>
                <a:ea typeface="Calibri"/>
              </a:rPr>
              <a:t>Documenti e dati descrittivi restano off-chain; sulla catena va solo l'hash che ne garantisce l'integrità. Integrità senza costi né limiti di scalabilità.</a:t>
            </a:r>
            <a:endParaRPr lang="en-US" sz="1250" b="0" u="none" strike="noStrike">
              <a:solidFill>
                <a:srgbClr val="000000"/>
              </a:solidFill>
              <a:effectLst/>
              <a:uFillTx/>
              <a:latin typeface="Arial"/>
            </a:endParaRPr>
          </a:p>
        </p:txBody>
      </p:sp>
      <p:sp>
        <p:nvSpPr>
          <p:cNvPr id="96" name="Shape 14"/>
          <p:cNvSpPr/>
          <p:nvPr/>
        </p:nvSpPr>
        <p:spPr>
          <a:xfrm>
            <a:off x="8101440" y="1463040"/>
            <a:ext cx="3474000" cy="2120760"/>
          </a:xfrm>
          <a:prstGeom prst="roundRect">
            <a:avLst>
              <a:gd name="adj" fmla="val 301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 name="Shape 15"/>
          <p:cNvSpPr/>
          <p:nvPr/>
        </p:nvSpPr>
        <p:spPr>
          <a:xfrm>
            <a:off x="8339400" y="170064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Text 16"/>
          <p:cNvSpPr/>
          <p:nvPr/>
        </p:nvSpPr>
        <p:spPr>
          <a:xfrm>
            <a:off x="8339400" y="170064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3</a:t>
            </a:r>
            <a:endParaRPr lang="en-US" sz="1250" b="0" u="none" strike="noStrike">
              <a:solidFill>
                <a:srgbClr val="000000"/>
              </a:solidFill>
              <a:effectLst/>
              <a:uFillTx/>
              <a:latin typeface="Arial"/>
            </a:endParaRPr>
          </a:p>
        </p:txBody>
      </p:sp>
      <p:sp>
        <p:nvSpPr>
          <p:cNvPr id="99" name="Text 17"/>
          <p:cNvSpPr/>
          <p:nvPr/>
        </p:nvSpPr>
        <p:spPr>
          <a:xfrm>
            <a:off x="8869680" y="171000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4304E"/>
                </a:solidFill>
                <a:effectLst/>
                <a:uFillTx/>
                <a:latin typeface="Cambria"/>
                <a:ea typeface="Cambria"/>
              </a:rPr>
              <a:t>Smart contract</a:t>
            </a:r>
            <a:endParaRPr lang="en-US" sz="1500" b="0" u="none" strike="noStrike">
              <a:solidFill>
                <a:srgbClr val="000000"/>
              </a:solidFill>
              <a:effectLst/>
              <a:uFillTx/>
              <a:latin typeface="Arial"/>
            </a:endParaRPr>
          </a:p>
        </p:txBody>
      </p:sp>
      <p:sp>
        <p:nvSpPr>
          <p:cNvPr id="100" name="Text 18"/>
          <p:cNvSpPr/>
          <p:nvPr/>
        </p:nvSpPr>
        <p:spPr>
          <a:xfrm>
            <a:off x="8357760" y="2212920"/>
            <a:ext cx="2962080" cy="12247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250" b="0" u="none" strike="noStrike">
                <a:solidFill>
                  <a:srgbClr val="56687A"/>
                </a:solidFill>
                <a:effectLst/>
                <a:uFillTx/>
                <a:latin typeface="Calibri"/>
                <a:ea typeface="Calibri"/>
              </a:rPr>
              <a:t>Validano automaticamente la conformità delle modifiche al verificarsi delle condizioni, riducendo intervento manuale e rischio di irregolarità.</a:t>
            </a:r>
            <a:endParaRPr lang="en-US" sz="1250" b="0" u="none" strike="noStrike">
              <a:solidFill>
                <a:srgbClr val="000000"/>
              </a:solidFill>
              <a:effectLst/>
              <a:uFillTx/>
              <a:latin typeface="Arial"/>
            </a:endParaRPr>
          </a:p>
        </p:txBody>
      </p:sp>
      <p:sp>
        <p:nvSpPr>
          <p:cNvPr id="101" name="Shape 19"/>
          <p:cNvSpPr/>
          <p:nvPr/>
        </p:nvSpPr>
        <p:spPr>
          <a:xfrm>
            <a:off x="603360" y="3858840"/>
            <a:ext cx="3474000" cy="1782360"/>
          </a:xfrm>
          <a:prstGeom prst="roundRect">
            <a:avLst>
              <a:gd name="adj" fmla="val 359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 name="Text 20"/>
          <p:cNvSpPr/>
          <p:nvPr/>
        </p:nvSpPr>
        <p:spPr>
          <a:xfrm>
            <a:off x="859680" y="4023360"/>
            <a:ext cx="299844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14304E"/>
                </a:solidFill>
                <a:effectLst/>
                <a:uFillTx/>
                <a:latin typeface="Cambria"/>
                <a:ea typeface="Cambria"/>
              </a:rPr>
              <a:t>Perché non pubblica</a:t>
            </a:r>
            <a:endParaRPr lang="en-US" sz="1400" b="0" u="none" strike="noStrike">
              <a:solidFill>
                <a:srgbClr val="000000"/>
              </a:solidFill>
              <a:effectLst/>
              <a:uFillTx/>
              <a:latin typeface="Arial"/>
            </a:endParaRPr>
          </a:p>
        </p:txBody>
      </p:sp>
      <p:sp>
        <p:nvSpPr>
          <p:cNvPr id="103" name="Text 21"/>
          <p:cNvSpPr/>
          <p:nvPr/>
        </p:nvSpPr>
        <p:spPr>
          <a:xfrm>
            <a:off x="859680" y="4407480"/>
            <a:ext cx="2998440" cy="1105560"/>
          </a:xfrm>
          <a:prstGeom prst="rect">
            <a:avLst/>
          </a:prstGeom>
          <a:noFill/>
          <a:ln w="0">
            <a:noFill/>
          </a:ln>
        </p:spPr>
        <p:style>
          <a:lnRef idx="0"/>
          <a:fillRef idx="0"/>
          <a:effectRef idx="0"/>
          <a:fontRef idx="minor"/>
        </p:style>
        <p:txBody>
          <a:bodyPr lIns="0" tIns="0" rIns="0" bIns="0" anchor="t">
            <a:noAutofit/>
          </a:bodyPr>
          <a:p>
            <a:pPr defTabSz="914400">
              <a:lnSpc>
                <a:spcPts val="1599"/>
              </a:lnSpc>
              <a:tabLst>
                <a:tab pos="0" algn="l"/>
              </a:tabLst>
            </a:pPr>
            <a:r>
              <a:rPr lang="en-US" sz="1150" b="0" u="none" strike="noStrike">
                <a:solidFill>
                  <a:srgbClr val="56687A"/>
                </a:solidFill>
                <a:effectLst/>
                <a:uFillTx/>
                <a:latin typeface="Calibri"/>
                <a:ea typeface="Calibri"/>
              </a:rPr>
              <a:t>Tecnicamente possibile — esistono proposte che tokenizzano il veicolo come NFT — ma costi di transazione e scalabilità non reggono volumi industriali.</a:t>
            </a:r>
            <a:endParaRPr lang="en-US" sz="1150" b="0" u="none" strike="noStrike">
              <a:solidFill>
                <a:srgbClr val="000000"/>
              </a:solidFill>
              <a:effectLst/>
              <a:uFillTx/>
              <a:latin typeface="Arial"/>
            </a:endParaRPr>
          </a:p>
        </p:txBody>
      </p:sp>
      <p:sp>
        <p:nvSpPr>
          <p:cNvPr id="104" name="Shape 22"/>
          <p:cNvSpPr/>
          <p:nvPr/>
        </p:nvSpPr>
        <p:spPr>
          <a:xfrm>
            <a:off x="4352400" y="3858840"/>
            <a:ext cx="3474000" cy="1782360"/>
          </a:xfrm>
          <a:prstGeom prst="roundRect">
            <a:avLst>
              <a:gd name="adj" fmla="val 359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 name="Text 23"/>
          <p:cNvSpPr/>
          <p:nvPr/>
        </p:nvSpPr>
        <p:spPr>
          <a:xfrm>
            <a:off x="4608720" y="4023360"/>
            <a:ext cx="299844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14304E"/>
                </a:solidFill>
                <a:effectLst/>
                <a:uFillTx/>
                <a:latin typeface="Cambria"/>
                <a:ea typeface="Cambria"/>
              </a:rPr>
              <a:t>Perché non privata</a:t>
            </a:r>
            <a:endParaRPr lang="en-US" sz="1400" b="0" u="none" strike="noStrike">
              <a:solidFill>
                <a:srgbClr val="000000"/>
              </a:solidFill>
              <a:effectLst/>
              <a:uFillTx/>
              <a:latin typeface="Arial"/>
            </a:endParaRPr>
          </a:p>
        </p:txBody>
      </p:sp>
      <p:sp>
        <p:nvSpPr>
          <p:cNvPr id="106" name="Text 24"/>
          <p:cNvSpPr/>
          <p:nvPr/>
        </p:nvSpPr>
        <p:spPr>
          <a:xfrm>
            <a:off x="4608720" y="4407480"/>
            <a:ext cx="2998440" cy="1105560"/>
          </a:xfrm>
          <a:prstGeom prst="rect">
            <a:avLst/>
          </a:prstGeom>
          <a:noFill/>
          <a:ln w="0">
            <a:noFill/>
          </a:ln>
        </p:spPr>
        <p:style>
          <a:lnRef idx="0"/>
          <a:fillRef idx="0"/>
          <a:effectRef idx="0"/>
          <a:fontRef idx="minor"/>
        </p:style>
        <p:txBody>
          <a:bodyPr lIns="0" tIns="0" rIns="0" bIns="0" anchor="t">
            <a:noAutofit/>
          </a:bodyPr>
          <a:p>
            <a:pPr defTabSz="914400">
              <a:lnSpc>
                <a:spcPts val="1599"/>
              </a:lnSpc>
              <a:tabLst>
                <a:tab pos="0" algn="l"/>
              </a:tabLst>
            </a:pPr>
            <a:r>
              <a:rPr lang="en-US" sz="1150" b="0" u="none" strike="noStrike">
                <a:solidFill>
                  <a:srgbClr val="56687A"/>
                </a:solidFill>
                <a:effectLst/>
                <a:uFillTx/>
                <a:latin typeface="Calibri"/>
                <a:ea typeface="Calibri"/>
              </a:rPr>
              <a:t>Con un solo soggetto al comando viene meno la garanzia sostanziale: se qualcuno può alterare il registro, il DMVP perde valore probatorio.</a:t>
            </a:r>
            <a:endParaRPr lang="en-US" sz="1150" b="0" u="none" strike="noStrike">
              <a:solidFill>
                <a:srgbClr val="000000"/>
              </a:solidFill>
              <a:effectLst/>
              <a:uFillTx/>
              <a:latin typeface="Arial"/>
            </a:endParaRPr>
          </a:p>
        </p:txBody>
      </p:sp>
      <p:sp>
        <p:nvSpPr>
          <p:cNvPr id="107" name="Shape 25"/>
          <p:cNvSpPr/>
          <p:nvPr/>
        </p:nvSpPr>
        <p:spPr>
          <a:xfrm>
            <a:off x="8101440" y="3858840"/>
            <a:ext cx="3474000" cy="1782360"/>
          </a:xfrm>
          <a:prstGeom prst="roundRect">
            <a:avLst>
              <a:gd name="adj" fmla="val 3590"/>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 name="Text 26"/>
          <p:cNvSpPr/>
          <p:nvPr/>
        </p:nvSpPr>
        <p:spPr>
          <a:xfrm>
            <a:off x="8357760" y="4023360"/>
            <a:ext cx="299844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14304E"/>
                </a:solidFill>
                <a:effectLst/>
                <a:uFillTx/>
                <a:latin typeface="Cambria"/>
                <a:ea typeface="Cambria"/>
              </a:rPr>
              <a:t>Già validata nel settore</a:t>
            </a:r>
            <a:endParaRPr lang="en-US" sz="1400" b="0" u="none" strike="noStrike">
              <a:solidFill>
                <a:srgbClr val="000000"/>
              </a:solidFill>
              <a:effectLst/>
              <a:uFillTx/>
              <a:latin typeface="Arial"/>
            </a:endParaRPr>
          </a:p>
        </p:txBody>
      </p:sp>
      <p:sp>
        <p:nvSpPr>
          <p:cNvPr id="109" name="Text 27"/>
          <p:cNvSpPr/>
          <p:nvPr/>
        </p:nvSpPr>
        <p:spPr>
          <a:xfrm>
            <a:off x="8357760" y="4407480"/>
            <a:ext cx="2998440" cy="1105560"/>
          </a:xfrm>
          <a:prstGeom prst="rect">
            <a:avLst/>
          </a:prstGeom>
          <a:noFill/>
          <a:ln w="0">
            <a:noFill/>
          </a:ln>
        </p:spPr>
        <p:style>
          <a:lnRef idx="0"/>
          <a:fillRef idx="0"/>
          <a:effectRef idx="0"/>
          <a:fontRef idx="minor"/>
        </p:style>
        <p:txBody>
          <a:bodyPr lIns="0" tIns="0" rIns="0" bIns="0" anchor="t">
            <a:noAutofit/>
          </a:bodyPr>
          <a:p>
            <a:pPr defTabSz="914400">
              <a:lnSpc>
                <a:spcPts val="1599"/>
              </a:lnSpc>
              <a:tabLst>
                <a:tab pos="0" algn="l"/>
              </a:tabLst>
            </a:pPr>
            <a:r>
              <a:rPr lang="en-US" sz="1150" b="0" u="none" strike="noStrike">
                <a:solidFill>
                  <a:srgbClr val="56687A"/>
                </a:solidFill>
                <a:effectLst/>
                <a:uFillTx/>
                <a:latin typeface="Calibri"/>
                <a:ea typeface="Calibri"/>
              </a:rPr>
              <a:t>Hyperledger Fabric è in uso nell'automotive per manutenzioni, restauri e passaggi di proprietà, con benefici documentati sul valore dei mezzi.</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1"/>
        </a:solidFill>
      </p:bgPr>
    </p:bg>
    <p:spTree>
      <p:nvGrpSpPr>
        <p:cNvPr id="1" name=""/>
        <p:cNvGrpSpPr/>
        <p:nvPr/>
      </p:nvGrpSpPr>
      <p:grpSpPr>
        <a:xfrm>
          <a:off x="0" y="0"/>
          <a:ext cx="0" cy="0"/>
          <a:chOff x="0" y="0"/>
          <a:chExt cx="0" cy="0"/>
        </a:xfrm>
      </p:grpSpPr>
      <p:sp>
        <p:nvSpPr>
          <p:cNvPr id="110" name="Shape 0"/>
          <p:cNvSpPr/>
          <p:nvPr/>
        </p:nvSpPr>
        <p:spPr>
          <a:xfrm>
            <a:off x="731520" y="2084760"/>
            <a:ext cx="1370880" cy="1370880"/>
          </a:xfrm>
          <a:prstGeom prst="ellipse">
            <a:avLst/>
          </a:prstGeom>
          <a:solidFill>
            <a:srgbClr val="0B1D31"/>
          </a:solidFill>
          <a:ln w="1778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1" name="Text 1"/>
          <p:cNvSpPr/>
          <p:nvPr/>
        </p:nvSpPr>
        <p:spPr>
          <a:xfrm>
            <a:off x="731520" y="2084760"/>
            <a:ext cx="1370880" cy="137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C2A04A"/>
                </a:solidFill>
                <a:effectLst/>
                <a:uFillTx/>
                <a:latin typeface="Cambria"/>
                <a:ea typeface="Cambria"/>
              </a:rPr>
              <a:t>01</a:t>
            </a:r>
            <a:endParaRPr lang="en-US" sz="4400" b="0" u="none" strike="noStrike">
              <a:solidFill>
                <a:srgbClr val="FFFFFF"/>
              </a:solidFill>
              <a:effectLst/>
              <a:uFillTx/>
              <a:latin typeface="Arial"/>
            </a:endParaRPr>
          </a:p>
        </p:txBody>
      </p:sp>
      <p:sp>
        <p:nvSpPr>
          <p:cNvPr id="112" name="Text 2"/>
          <p:cNvSpPr/>
          <p:nvPr/>
        </p:nvSpPr>
        <p:spPr>
          <a:xfrm>
            <a:off x="2514600" y="22129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41" strike="noStrike">
                <a:solidFill>
                  <a:srgbClr val="C2A04A"/>
                </a:solidFill>
                <a:effectLst/>
                <a:uFillTx/>
                <a:latin typeface="Calibri"/>
                <a:ea typeface="Calibri"/>
              </a:rPr>
              <a:t>CAPITOLI 2 · 3</a:t>
            </a:r>
            <a:endParaRPr lang="en-US" sz="1100" b="0" u="none" strike="noStrike">
              <a:solidFill>
                <a:srgbClr val="FFFFFF"/>
              </a:solidFill>
              <a:effectLst/>
              <a:uFillTx/>
              <a:latin typeface="Arial"/>
            </a:endParaRPr>
          </a:p>
        </p:txBody>
      </p:sp>
      <p:sp>
        <p:nvSpPr>
          <p:cNvPr id="113" name="Text 3"/>
          <p:cNvSpPr/>
          <p:nvPr/>
        </p:nvSpPr>
        <p:spPr>
          <a:xfrm>
            <a:off x="2487240" y="2505600"/>
            <a:ext cx="8868960" cy="913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AF6EC"/>
                </a:solidFill>
                <a:effectLst/>
                <a:uFillTx/>
                <a:latin typeface="Cambria"/>
                <a:ea typeface="Cambria"/>
              </a:rPr>
              <a:t>Contesto e scenario specifico</a:t>
            </a:r>
            <a:endParaRPr lang="en-US" sz="3400" b="0" u="none" strike="noStrike">
              <a:solidFill>
                <a:srgbClr val="FFFFFF"/>
              </a:solidFill>
              <a:effectLst/>
              <a:uFillTx/>
              <a:latin typeface="Arial"/>
            </a:endParaRPr>
          </a:p>
        </p:txBody>
      </p:sp>
      <p:sp>
        <p:nvSpPr>
          <p:cNvPr id="114" name="Text 4"/>
          <p:cNvSpPr/>
          <p:nvPr/>
        </p:nvSpPr>
        <p:spPr>
          <a:xfrm>
            <a:off x="2523600" y="3547800"/>
            <a:ext cx="8777520" cy="822240"/>
          </a:xfrm>
          <a:prstGeom prst="rect">
            <a:avLst/>
          </a:prstGeom>
          <a:noFill/>
          <a:ln w="0">
            <a:noFill/>
          </a:ln>
        </p:spPr>
        <p:style>
          <a:lnRef idx="0"/>
          <a:fillRef idx="0"/>
          <a:effectRef idx="0"/>
          <a:fontRef idx="minor"/>
        </p:style>
        <p:txBody>
          <a:bodyPr lIns="0" tIns="0" rIns="0" bIns="0" anchor="ctr">
            <a:noAutofit/>
          </a:bodyPr>
          <a:p>
            <a:pPr defTabSz="914400">
              <a:lnSpc>
                <a:spcPts val="2100"/>
              </a:lnSpc>
              <a:tabLst>
                <a:tab pos="0" algn="l"/>
              </a:tabLst>
            </a:pPr>
            <a:r>
              <a:rPr lang="en-US" sz="1350" b="0" u="none" strike="noStrike">
                <a:solidFill>
                  <a:srgbClr val="A8BACB"/>
                </a:solidFill>
                <a:effectLst/>
                <a:uFillTx/>
                <a:latin typeface="Calibri"/>
                <a:ea typeface="Calibri"/>
              </a:rPr>
              <a:t>Chi gravita attorno alla filiera del tuning, quali qualità si attende dal sistema, e quali attori operano davvero sulla piattaforma.</a:t>
            </a:r>
            <a:endParaRPr lang="en-US" sz="13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115"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2 · GOREM</a:t>
            </a:r>
            <a:endParaRPr lang="en-US" sz="1050" b="0" u="none" strike="noStrike">
              <a:solidFill>
                <a:srgbClr val="000000"/>
              </a:solidFill>
              <a:effectLst/>
              <a:uFillTx/>
              <a:latin typeface="Arial"/>
            </a:endParaRPr>
          </a:p>
        </p:txBody>
      </p:sp>
      <p:sp>
        <p:nvSpPr>
          <p:cNvPr id="116"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Stakeholder Diagram</a:t>
            </a:r>
            <a:endParaRPr lang="en-US" sz="3100" b="0" u="none" strike="noStrike">
              <a:solidFill>
                <a:srgbClr val="000000"/>
              </a:solidFill>
              <a:effectLst/>
              <a:uFillTx/>
              <a:latin typeface="Arial"/>
            </a:endParaRPr>
          </a:p>
        </p:txBody>
      </p:sp>
      <p:sp>
        <p:nvSpPr>
          <p:cNvPr id="117"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5</a:t>
            </a:r>
            <a:endParaRPr lang="en-US" sz="1000" b="0" u="none" strike="noStrike">
              <a:solidFill>
                <a:srgbClr val="000000"/>
              </a:solidFill>
              <a:effectLst/>
              <a:uFillTx/>
              <a:latin typeface="Arial"/>
            </a:endParaRPr>
          </a:p>
        </p:txBody>
      </p:sp>
      <p:sp>
        <p:nvSpPr>
          <p:cNvPr id="118"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119" name="Shape 4"/>
          <p:cNvSpPr/>
          <p:nvPr/>
        </p:nvSpPr>
        <p:spPr>
          <a:xfrm>
            <a:off x="603360" y="1435680"/>
            <a:ext cx="10972080" cy="410508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0" name="Image 0" descr="Stakeholder Diagram"/>
          <p:cNvPicPr/>
          <p:nvPr/>
        </p:nvPicPr>
        <p:blipFill>
          <a:blip r:embed="rId1"/>
          <a:stretch/>
        </p:blipFill>
        <p:spPr>
          <a:xfrm>
            <a:off x="704160" y="1709640"/>
            <a:ext cx="10770840" cy="3547440"/>
          </a:xfrm>
          <a:prstGeom prst="rect">
            <a:avLst/>
          </a:prstGeom>
          <a:noFill/>
          <a:ln w="0">
            <a:noFill/>
          </a:ln>
        </p:spPr>
      </p:pic>
      <p:sp>
        <p:nvSpPr>
          <p:cNvPr id="121" name="Shape 8"/>
          <p:cNvSpPr/>
          <p:nvPr/>
        </p:nvSpPr>
        <p:spPr>
          <a:xfrm>
            <a:off x="658440" y="5632560"/>
            <a:ext cx="1456920" cy="547920"/>
          </a:xfrm>
          <a:prstGeom prst="roundRect">
            <a:avLst>
              <a:gd name="adj" fmla="val 11667"/>
            </a:avLst>
          </a:prstGeom>
          <a:solidFill>
            <a:srgbClr val="F0E5C8"/>
          </a:solidFill>
          <a:ln w="9525">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2" name="Text 9"/>
          <p:cNvSpPr/>
          <p:nvPr/>
        </p:nvSpPr>
        <p:spPr>
          <a:xfrm>
            <a:off x="722520" y="5632560"/>
            <a:ext cx="132912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304E"/>
                </a:solidFill>
                <a:effectLst/>
                <a:uFillTx/>
                <a:latin typeface="Calibri"/>
                <a:ea typeface="Calibri"/>
              </a:rPr>
              <a:t>Intermediario</a:t>
            </a:r>
            <a:endParaRPr lang="en-US" sz="1100" b="0" u="none" strike="noStrike">
              <a:solidFill>
                <a:srgbClr val="000000"/>
              </a:solidFill>
              <a:effectLst/>
              <a:uFillTx/>
              <a:latin typeface="Arial"/>
            </a:endParaRPr>
          </a:p>
        </p:txBody>
      </p:sp>
      <p:sp>
        <p:nvSpPr>
          <p:cNvPr id="123" name="Shape 10"/>
          <p:cNvSpPr/>
          <p:nvPr/>
        </p:nvSpPr>
        <p:spPr>
          <a:xfrm>
            <a:off x="2225880" y="5632560"/>
            <a:ext cx="1456920" cy="547920"/>
          </a:xfrm>
          <a:prstGeom prst="roundRect">
            <a:avLst>
              <a:gd name="adj" fmla="val 11667"/>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4" name="Text 11"/>
          <p:cNvSpPr/>
          <p:nvPr/>
        </p:nvSpPr>
        <p:spPr>
          <a:xfrm>
            <a:off x="2289960" y="5632560"/>
            <a:ext cx="132912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304E"/>
                </a:solidFill>
                <a:effectLst/>
                <a:uFillTx/>
                <a:latin typeface="Calibri"/>
                <a:ea typeface="Calibri"/>
              </a:rPr>
              <a:t>Utente Finale</a:t>
            </a:r>
            <a:endParaRPr lang="en-US" sz="1100" b="0" u="none" strike="noStrike">
              <a:solidFill>
                <a:srgbClr val="000000"/>
              </a:solidFill>
              <a:effectLst/>
              <a:uFillTx/>
              <a:latin typeface="Arial"/>
            </a:endParaRPr>
          </a:p>
        </p:txBody>
      </p:sp>
      <p:sp>
        <p:nvSpPr>
          <p:cNvPr id="125" name="Shape 12"/>
          <p:cNvSpPr/>
          <p:nvPr/>
        </p:nvSpPr>
        <p:spPr>
          <a:xfrm>
            <a:off x="3793320" y="5632560"/>
            <a:ext cx="1456920" cy="547920"/>
          </a:xfrm>
          <a:prstGeom prst="roundRect">
            <a:avLst>
              <a:gd name="adj" fmla="val 11667"/>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 name="Text 13"/>
          <p:cNvSpPr/>
          <p:nvPr/>
        </p:nvSpPr>
        <p:spPr>
          <a:xfrm>
            <a:off x="3857400" y="5632560"/>
            <a:ext cx="132912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304E"/>
                </a:solidFill>
                <a:effectLst/>
                <a:uFillTx/>
                <a:latin typeface="Calibri"/>
                <a:ea typeface="Calibri"/>
              </a:rPr>
              <a:t>Operatore Tecnico</a:t>
            </a:r>
            <a:endParaRPr lang="en-US" sz="1100" b="0" u="none" strike="noStrike">
              <a:solidFill>
                <a:srgbClr val="000000"/>
              </a:solidFill>
              <a:effectLst/>
              <a:uFillTx/>
              <a:latin typeface="Arial"/>
            </a:endParaRPr>
          </a:p>
        </p:txBody>
      </p:sp>
      <p:sp>
        <p:nvSpPr>
          <p:cNvPr id="127" name="Shape 14"/>
          <p:cNvSpPr/>
          <p:nvPr/>
        </p:nvSpPr>
        <p:spPr>
          <a:xfrm>
            <a:off x="5361120" y="5632560"/>
            <a:ext cx="1456920" cy="547920"/>
          </a:xfrm>
          <a:prstGeom prst="roundRect">
            <a:avLst>
              <a:gd name="adj" fmla="val 11667"/>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8" name="Text 15"/>
          <p:cNvSpPr/>
          <p:nvPr/>
        </p:nvSpPr>
        <p:spPr>
          <a:xfrm>
            <a:off x="5424840" y="5632560"/>
            <a:ext cx="132912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304E"/>
                </a:solidFill>
                <a:effectLst/>
                <a:uFillTx/>
                <a:latin typeface="Calibri"/>
                <a:ea typeface="Calibri"/>
              </a:rPr>
              <a:t>Attore Commerciale</a:t>
            </a:r>
            <a:endParaRPr lang="en-US" sz="1100" b="0" u="none" strike="noStrike">
              <a:solidFill>
                <a:srgbClr val="000000"/>
              </a:solidFill>
              <a:effectLst/>
              <a:uFillTx/>
              <a:latin typeface="Arial"/>
            </a:endParaRPr>
          </a:p>
        </p:txBody>
      </p:sp>
      <p:sp>
        <p:nvSpPr>
          <p:cNvPr id="129" name="Shape 16"/>
          <p:cNvSpPr/>
          <p:nvPr/>
        </p:nvSpPr>
        <p:spPr>
          <a:xfrm>
            <a:off x="6928560" y="5632560"/>
            <a:ext cx="1456920" cy="547920"/>
          </a:xfrm>
          <a:prstGeom prst="roundRect">
            <a:avLst>
              <a:gd name="adj" fmla="val 11667"/>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 name="Text 17"/>
          <p:cNvSpPr/>
          <p:nvPr/>
        </p:nvSpPr>
        <p:spPr>
          <a:xfrm>
            <a:off x="6992640" y="5632560"/>
            <a:ext cx="132912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304E"/>
                </a:solidFill>
                <a:effectLst/>
                <a:uFillTx/>
                <a:latin typeface="Calibri"/>
                <a:ea typeface="Calibri"/>
              </a:rPr>
              <a:t>Attore Assicurativo</a:t>
            </a:r>
            <a:endParaRPr lang="en-US" sz="1100" b="0" u="none" strike="noStrike">
              <a:solidFill>
                <a:srgbClr val="000000"/>
              </a:solidFill>
              <a:effectLst/>
              <a:uFillTx/>
              <a:latin typeface="Arial"/>
            </a:endParaRPr>
          </a:p>
        </p:txBody>
      </p:sp>
      <p:sp>
        <p:nvSpPr>
          <p:cNvPr id="131" name="Shape 18"/>
          <p:cNvSpPr/>
          <p:nvPr/>
        </p:nvSpPr>
        <p:spPr>
          <a:xfrm>
            <a:off x="8496000" y="5632560"/>
            <a:ext cx="1456920" cy="547920"/>
          </a:xfrm>
          <a:prstGeom prst="roundRect">
            <a:avLst>
              <a:gd name="adj" fmla="val 11667"/>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2" name="Text 19"/>
          <p:cNvSpPr/>
          <p:nvPr/>
        </p:nvSpPr>
        <p:spPr>
          <a:xfrm>
            <a:off x="8560080" y="5632560"/>
            <a:ext cx="132912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304E"/>
                </a:solidFill>
                <a:effectLst/>
                <a:uFillTx/>
                <a:latin typeface="Calibri"/>
                <a:ea typeface="Calibri"/>
              </a:rPr>
              <a:t>Ente di Certificazione</a:t>
            </a:r>
            <a:endParaRPr lang="en-US" sz="1100" b="0" u="none" strike="noStrike">
              <a:solidFill>
                <a:srgbClr val="000000"/>
              </a:solidFill>
              <a:effectLst/>
              <a:uFillTx/>
              <a:latin typeface="Arial"/>
            </a:endParaRPr>
          </a:p>
        </p:txBody>
      </p:sp>
      <p:sp>
        <p:nvSpPr>
          <p:cNvPr id="133" name="Shape 20"/>
          <p:cNvSpPr/>
          <p:nvPr/>
        </p:nvSpPr>
        <p:spPr>
          <a:xfrm>
            <a:off x="10063800" y="5632560"/>
            <a:ext cx="1456920" cy="547920"/>
          </a:xfrm>
          <a:prstGeom prst="roundRect">
            <a:avLst>
              <a:gd name="adj" fmla="val 11667"/>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 name="Text 21"/>
          <p:cNvSpPr/>
          <p:nvPr/>
        </p:nvSpPr>
        <p:spPr>
          <a:xfrm>
            <a:off x="10127520" y="5632560"/>
            <a:ext cx="132912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304E"/>
                </a:solidFill>
                <a:effectLst/>
                <a:uFillTx/>
                <a:latin typeface="Calibri"/>
                <a:ea typeface="Calibri"/>
              </a:rPr>
              <a:t>Autorità Pubblica</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135"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2 · GOREM</a:t>
            </a:r>
            <a:endParaRPr lang="en-US" sz="1050" b="0" u="none" strike="noStrike">
              <a:solidFill>
                <a:srgbClr val="000000"/>
              </a:solidFill>
              <a:effectLst/>
              <a:uFillTx/>
              <a:latin typeface="Arial"/>
            </a:endParaRPr>
          </a:p>
        </p:txBody>
      </p:sp>
      <p:sp>
        <p:nvSpPr>
          <p:cNvPr id="136"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Softgoal Diagram</a:t>
            </a:r>
            <a:endParaRPr lang="en-US" sz="3100" b="0" u="none" strike="noStrike">
              <a:solidFill>
                <a:srgbClr val="000000"/>
              </a:solidFill>
              <a:effectLst/>
              <a:uFillTx/>
              <a:latin typeface="Arial"/>
            </a:endParaRPr>
          </a:p>
        </p:txBody>
      </p:sp>
      <p:sp>
        <p:nvSpPr>
          <p:cNvPr id="137"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6</a:t>
            </a:r>
            <a:endParaRPr lang="en-US" sz="1000" b="0" u="none" strike="noStrike">
              <a:solidFill>
                <a:srgbClr val="000000"/>
              </a:solidFill>
              <a:effectLst/>
              <a:uFillTx/>
              <a:latin typeface="Arial"/>
            </a:endParaRPr>
          </a:p>
        </p:txBody>
      </p:sp>
      <p:sp>
        <p:nvSpPr>
          <p:cNvPr id="138"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139" name="Shape 4"/>
          <p:cNvSpPr/>
          <p:nvPr/>
        </p:nvSpPr>
        <p:spPr>
          <a:xfrm>
            <a:off x="603360" y="1353240"/>
            <a:ext cx="8000280" cy="484560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40" name="Image 0" descr="Softgoal Diagram"/>
          <p:cNvPicPr/>
          <p:nvPr/>
        </p:nvPicPr>
        <p:blipFill>
          <a:blip r:embed="rId1"/>
          <a:stretch/>
        </p:blipFill>
        <p:spPr>
          <a:xfrm>
            <a:off x="704160" y="1454400"/>
            <a:ext cx="7799040" cy="4643640"/>
          </a:xfrm>
          <a:prstGeom prst="rect">
            <a:avLst/>
          </a:prstGeom>
          <a:noFill/>
          <a:ln w="0">
            <a:noFill/>
          </a:ln>
        </p:spPr>
      </p:pic>
      <p:sp>
        <p:nvSpPr>
          <p:cNvPr id="141" name="Shape 5"/>
          <p:cNvSpPr/>
          <p:nvPr/>
        </p:nvSpPr>
        <p:spPr>
          <a:xfrm>
            <a:off x="8878680" y="1353240"/>
            <a:ext cx="2696760" cy="196524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Text 6"/>
          <p:cNvSpPr/>
          <p:nvPr/>
        </p:nvSpPr>
        <p:spPr>
          <a:xfrm>
            <a:off x="9015840" y="1536120"/>
            <a:ext cx="2422440" cy="639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600" b="1" u="none" strike="noStrike">
                <a:solidFill>
                  <a:srgbClr val="14304E"/>
                </a:solidFill>
                <a:effectLst/>
                <a:uFillTx/>
                <a:latin typeface="Cambria"/>
                <a:ea typeface="Cambria"/>
              </a:rPr>
              <a:t>35</a:t>
            </a:r>
            <a:endParaRPr lang="en-US" sz="3600" b="0" u="none" strike="noStrike">
              <a:solidFill>
                <a:srgbClr val="000000"/>
              </a:solidFill>
              <a:effectLst/>
              <a:uFillTx/>
              <a:latin typeface="Arial"/>
            </a:endParaRPr>
          </a:p>
        </p:txBody>
      </p:sp>
      <p:sp>
        <p:nvSpPr>
          <p:cNvPr id="143" name="Text 7"/>
          <p:cNvSpPr/>
          <p:nvPr/>
        </p:nvSpPr>
        <p:spPr>
          <a:xfrm>
            <a:off x="9079920" y="2221920"/>
            <a:ext cx="2294280" cy="959400"/>
          </a:xfrm>
          <a:prstGeom prst="rect">
            <a:avLst/>
          </a:prstGeom>
          <a:noFill/>
          <a:ln w="0">
            <a:noFill/>
          </a:ln>
        </p:spPr>
        <p:style>
          <a:lnRef idx="0"/>
          <a:fillRef idx="0"/>
          <a:effectRef idx="0"/>
          <a:fontRef idx="minor"/>
        </p:style>
        <p:txBody>
          <a:bodyPr lIns="0" tIns="0" rIns="0" bIns="0" anchor="t">
            <a:noAutofit/>
          </a:bodyPr>
          <a:p>
            <a:pPr algn="ctr" defTabSz="914400">
              <a:lnSpc>
                <a:spcPts val="1701"/>
              </a:lnSpc>
              <a:tabLst>
                <a:tab pos="0" algn="l"/>
              </a:tabLst>
            </a:pPr>
            <a:r>
              <a:rPr lang="en-US" sz="1200" b="1" u="none" strike="noStrike">
                <a:solidFill>
                  <a:srgbClr val="14304E"/>
                </a:solidFill>
                <a:effectLst/>
                <a:uFillTx/>
                <a:latin typeface="Calibri"/>
                <a:ea typeface="Calibri"/>
              </a:rPr>
              <a:t>softgoal specifici</a:t>
            </a:r>
            <a:endParaRPr lang="en-US" sz="12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cinque per ciascuna delle sei categorie e cinque propri dell'Intermediario</a:t>
            </a:r>
            <a:endParaRPr lang="en-US" sz="1100" b="0" u="none" strike="noStrike">
              <a:solidFill>
                <a:srgbClr val="000000"/>
              </a:solidFill>
              <a:effectLst/>
              <a:uFillTx/>
              <a:latin typeface="Arial"/>
            </a:endParaRPr>
          </a:p>
        </p:txBody>
      </p:sp>
      <p:sp>
        <p:nvSpPr>
          <p:cNvPr id="144" name="Shape 8"/>
          <p:cNvSpPr/>
          <p:nvPr/>
        </p:nvSpPr>
        <p:spPr>
          <a:xfrm>
            <a:off x="8878680" y="3502080"/>
            <a:ext cx="2696760" cy="2696760"/>
          </a:xfrm>
          <a:prstGeom prst="roundRect">
            <a:avLst>
              <a:gd name="adj" fmla="val 4667"/>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5" name="Text 9"/>
          <p:cNvSpPr/>
          <p:nvPr/>
        </p:nvSpPr>
        <p:spPr>
          <a:xfrm>
            <a:off x="9079920" y="3703320"/>
            <a:ext cx="22942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Softgoal radice</a:t>
            </a:r>
            <a:endParaRPr lang="en-US" sz="1400" b="0" u="none" strike="noStrike">
              <a:solidFill>
                <a:srgbClr val="000000"/>
              </a:solidFill>
              <a:effectLst/>
              <a:uFillTx/>
              <a:latin typeface="Arial"/>
            </a:endParaRPr>
          </a:p>
        </p:txBody>
      </p:sp>
      <p:sp>
        <p:nvSpPr>
          <p:cNvPr id="146" name="Text 10"/>
          <p:cNvSpPr/>
          <p:nvPr/>
        </p:nvSpPr>
        <p:spPr>
          <a:xfrm>
            <a:off x="9079920" y="4050720"/>
            <a:ext cx="2294280" cy="730800"/>
          </a:xfrm>
          <a:prstGeom prst="rect">
            <a:avLst/>
          </a:prstGeom>
          <a:noFill/>
          <a:ln w="0">
            <a:noFill/>
          </a:ln>
        </p:spPr>
        <p:style>
          <a:lnRef idx="0"/>
          <a:fillRef idx="0"/>
          <a:effectRef idx="0"/>
          <a:fontRef idx="minor"/>
        </p:style>
        <p:txBody>
          <a:bodyPr lIns="0" tIns="0" rIns="0" bIns="0" anchor="t">
            <a:noAutofit/>
          </a:bodyPr>
          <a:p>
            <a:pPr defTabSz="914400">
              <a:lnSpc>
                <a:spcPts val="1800"/>
              </a:lnSpc>
              <a:tabLst>
                <a:tab pos="0" algn="l"/>
              </a:tabLst>
            </a:pPr>
            <a:r>
              <a:rPr lang="en-US" sz="1250" b="0" i="1" u="none" strike="noStrike">
                <a:solidFill>
                  <a:srgbClr val="4A4124"/>
                </a:solidFill>
                <a:effectLst/>
                <a:uFillTx/>
                <a:latin typeface="Calibri"/>
                <a:ea typeface="Calibri"/>
              </a:rPr>
              <a:t>«Certificazione digitale affidabile delle modifiche ai veicoli»</a:t>
            </a:r>
            <a:endParaRPr lang="en-US" sz="1250" b="0" u="none" strike="noStrike">
              <a:solidFill>
                <a:srgbClr val="000000"/>
              </a:solidFill>
              <a:effectLst/>
              <a:uFillTx/>
              <a:latin typeface="Arial"/>
            </a:endParaRPr>
          </a:p>
        </p:txBody>
      </p:sp>
      <p:sp>
        <p:nvSpPr>
          <p:cNvPr id="147" name="Text 11"/>
          <p:cNvSpPr/>
          <p:nvPr/>
        </p:nvSpPr>
        <p:spPr>
          <a:xfrm>
            <a:off x="9079920" y="4965120"/>
            <a:ext cx="2294280" cy="1005120"/>
          </a:xfrm>
          <a:prstGeom prst="rect">
            <a:avLst/>
          </a:prstGeom>
          <a:noFill/>
          <a:ln w="0">
            <a:noFill/>
          </a:ln>
        </p:spPr>
        <p:style>
          <a:lnRef idx="0"/>
          <a:fillRef idx="0"/>
          <a:effectRef idx="0"/>
          <a:fontRef idx="minor"/>
        </p:style>
        <p:txBody>
          <a:bodyPr lIns="0" tIns="0" rIns="0" bIns="0" anchor="t">
            <a:noAutofit/>
          </a:bodyPr>
          <a:p>
            <a:pPr defTabSz="914400">
              <a:lnSpc>
                <a:spcPts val="1599"/>
              </a:lnSpc>
              <a:tabLst>
                <a:tab pos="0" algn="l"/>
              </a:tabLst>
            </a:pPr>
            <a:r>
              <a:rPr lang="en-US" sz="1150" b="0" u="none" strike="noStrike">
                <a:solidFill>
                  <a:srgbClr val="4A4124"/>
                </a:solidFill>
                <a:effectLst/>
                <a:uFillTx/>
                <a:latin typeface="Calibri"/>
                <a:ea typeface="Calibri"/>
              </a:rPr>
              <a:t>I softgoal non si verificano in modo binario: si perseguono per sufficienza.</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148"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2 · GOREM</a:t>
            </a:r>
            <a:endParaRPr lang="en-US" sz="1050" b="0" u="none" strike="noStrike">
              <a:solidFill>
                <a:srgbClr val="000000"/>
              </a:solidFill>
              <a:effectLst/>
              <a:uFillTx/>
              <a:latin typeface="Arial"/>
            </a:endParaRPr>
          </a:p>
        </p:txBody>
      </p:sp>
      <p:sp>
        <p:nvSpPr>
          <p:cNvPr id="149"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Softgoal Dependency Diagram</a:t>
            </a:r>
            <a:endParaRPr lang="en-US" sz="3100" b="0" u="none" strike="noStrike">
              <a:solidFill>
                <a:srgbClr val="000000"/>
              </a:solidFill>
              <a:effectLst/>
              <a:uFillTx/>
              <a:latin typeface="Arial"/>
            </a:endParaRPr>
          </a:p>
        </p:txBody>
      </p:sp>
      <p:sp>
        <p:nvSpPr>
          <p:cNvPr id="150"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7</a:t>
            </a:r>
            <a:endParaRPr lang="en-US" sz="1000" b="0" u="none" strike="noStrike">
              <a:solidFill>
                <a:srgbClr val="000000"/>
              </a:solidFill>
              <a:effectLst/>
              <a:uFillTx/>
              <a:latin typeface="Arial"/>
            </a:endParaRPr>
          </a:p>
        </p:txBody>
      </p:sp>
      <p:sp>
        <p:nvSpPr>
          <p:cNvPr id="151"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152" name="Shape 4"/>
          <p:cNvSpPr/>
          <p:nvPr/>
        </p:nvSpPr>
        <p:spPr>
          <a:xfrm>
            <a:off x="603360" y="1353240"/>
            <a:ext cx="8000280" cy="484560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53" name="Image 0" descr="Softgoal Dependency Diagram"/>
          <p:cNvPicPr/>
          <p:nvPr/>
        </p:nvPicPr>
        <p:blipFill>
          <a:blip r:embed="rId1"/>
          <a:stretch/>
        </p:blipFill>
        <p:spPr>
          <a:xfrm>
            <a:off x="704160" y="1789200"/>
            <a:ext cx="7799040" cy="3974040"/>
          </a:xfrm>
          <a:prstGeom prst="rect">
            <a:avLst/>
          </a:prstGeom>
          <a:noFill/>
          <a:ln w="0">
            <a:noFill/>
          </a:ln>
        </p:spPr>
      </p:pic>
      <p:sp>
        <p:nvSpPr>
          <p:cNvPr id="154" name="Shape 8"/>
          <p:cNvSpPr/>
          <p:nvPr/>
        </p:nvSpPr>
        <p:spPr>
          <a:xfrm>
            <a:off x="8878680" y="1353240"/>
            <a:ext cx="2696760" cy="219384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Shape 9"/>
          <p:cNvSpPr/>
          <p:nvPr/>
        </p:nvSpPr>
        <p:spPr>
          <a:xfrm>
            <a:off x="9079920" y="155448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Text 10"/>
          <p:cNvSpPr/>
          <p:nvPr/>
        </p:nvSpPr>
        <p:spPr>
          <a:xfrm>
            <a:off x="9079920" y="155448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4304E"/>
                </a:solidFill>
                <a:effectLst/>
                <a:uFillTx/>
                <a:latin typeface="Cambria"/>
                <a:ea typeface="Cambria"/>
              </a:rPr>
              <a:t>+</a:t>
            </a:r>
            <a:endParaRPr lang="en-US" sz="1400" b="0" u="none" strike="noStrike">
              <a:solidFill>
                <a:srgbClr val="000000"/>
              </a:solidFill>
              <a:effectLst/>
              <a:uFillTx/>
              <a:latin typeface="Arial"/>
            </a:endParaRPr>
          </a:p>
        </p:txBody>
      </p:sp>
      <p:sp>
        <p:nvSpPr>
          <p:cNvPr id="157" name="Text 11"/>
          <p:cNvSpPr/>
          <p:nvPr/>
        </p:nvSpPr>
        <p:spPr>
          <a:xfrm>
            <a:off x="9610200" y="1481400"/>
            <a:ext cx="17640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Trenta relazioni di rinforzo</a:t>
            </a:r>
            <a:endParaRPr lang="en-US" sz="1400" b="0" u="none" strike="noStrike">
              <a:solidFill>
                <a:srgbClr val="000000"/>
              </a:solidFill>
              <a:effectLst/>
              <a:uFillTx/>
              <a:latin typeface="Arial"/>
            </a:endParaRPr>
          </a:p>
        </p:txBody>
      </p:sp>
      <p:sp>
        <p:nvSpPr>
          <p:cNvPr id="158" name="Text 12"/>
          <p:cNvSpPr/>
          <p:nvPr/>
        </p:nvSpPr>
        <p:spPr>
          <a:xfrm>
            <a:off x="9079920" y="2157840"/>
            <a:ext cx="2294280" cy="1233720"/>
          </a:xfrm>
          <a:prstGeom prst="rect">
            <a:avLst/>
          </a:prstGeom>
          <a:noFill/>
          <a:ln w="0">
            <a:noFill/>
          </a:ln>
        </p:spPr>
        <p:style>
          <a:lnRef idx="0"/>
          <a:fillRef idx="0"/>
          <a:effectRef idx="0"/>
          <a:fontRef idx="minor"/>
        </p:style>
        <p:txBody>
          <a:bodyPr lIns="0" tIns="0" rIns="0" bIns="0" anchor="t">
            <a:noAutofit/>
          </a:bodyPr>
          <a:p>
            <a:pPr defTabSz="914400">
              <a:lnSpc>
                <a:spcPts val="1599"/>
              </a:lnSpc>
              <a:tabLst>
                <a:tab pos="0" algn="l"/>
              </a:tabLst>
            </a:pPr>
            <a:r>
              <a:rPr lang="en-US" sz="1150" b="0" u="none" strike="noStrike">
                <a:solidFill>
                  <a:srgbClr val="56687A"/>
                </a:solidFill>
                <a:effectLst/>
                <a:uFillTx/>
                <a:latin typeface="Calibri"/>
                <a:ea typeface="Calibri"/>
              </a:rPr>
              <a:t>Le qualità attese dai diversi stakeholder sono largamente convergenti: un registro condiviso e non alterabile produce benefici simultanei lungo tutta la filiera.</a:t>
            </a:r>
            <a:endParaRPr lang="en-US" sz="1150" b="0" u="none" strike="noStrike">
              <a:solidFill>
                <a:srgbClr val="000000"/>
              </a:solidFill>
              <a:effectLst/>
              <a:uFillTx/>
              <a:latin typeface="Arial"/>
            </a:endParaRPr>
          </a:p>
        </p:txBody>
      </p:sp>
      <p:sp>
        <p:nvSpPr>
          <p:cNvPr id="159" name="Shape 13"/>
          <p:cNvSpPr/>
          <p:nvPr/>
        </p:nvSpPr>
        <p:spPr>
          <a:xfrm>
            <a:off x="8878680" y="3730680"/>
            <a:ext cx="2696760" cy="2468160"/>
          </a:xfrm>
          <a:prstGeom prst="roundRect">
            <a:avLst>
              <a:gd name="adj" fmla="val 4667"/>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0" name="Shape 14"/>
          <p:cNvSpPr/>
          <p:nvPr/>
        </p:nvSpPr>
        <p:spPr>
          <a:xfrm>
            <a:off x="9079920" y="3931920"/>
            <a:ext cx="401760" cy="401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1" name="Text 15"/>
          <p:cNvSpPr/>
          <p:nvPr/>
        </p:nvSpPr>
        <p:spPr>
          <a:xfrm>
            <a:off x="9079920" y="393192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4304E"/>
                </a:solidFill>
                <a:effectLst/>
                <a:uFillTx/>
                <a:latin typeface="Cambria"/>
                <a:ea typeface="Cambria"/>
              </a:rPr>
              <a:t>−</a:t>
            </a:r>
            <a:endParaRPr lang="en-US" sz="1400" b="0" u="none" strike="noStrike">
              <a:solidFill>
                <a:srgbClr val="000000"/>
              </a:solidFill>
              <a:effectLst/>
              <a:uFillTx/>
              <a:latin typeface="Arial"/>
            </a:endParaRPr>
          </a:p>
        </p:txBody>
      </p:sp>
      <p:sp>
        <p:nvSpPr>
          <p:cNvPr id="162" name="Text 16"/>
          <p:cNvSpPr/>
          <p:nvPr/>
        </p:nvSpPr>
        <p:spPr>
          <a:xfrm>
            <a:off x="9610200" y="3858840"/>
            <a:ext cx="17640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Tre conflitti, due trade-off</a:t>
            </a:r>
            <a:endParaRPr lang="en-US" sz="1400" b="0" u="none" strike="noStrike">
              <a:solidFill>
                <a:srgbClr val="000000"/>
              </a:solidFill>
              <a:effectLst/>
              <a:uFillTx/>
              <a:latin typeface="Arial"/>
            </a:endParaRPr>
          </a:p>
        </p:txBody>
      </p:sp>
      <p:sp>
        <p:nvSpPr>
          <p:cNvPr id="163" name="Text 17"/>
          <p:cNvSpPr/>
          <p:nvPr/>
        </p:nvSpPr>
        <p:spPr>
          <a:xfrm>
            <a:off x="9079920" y="4535280"/>
            <a:ext cx="2294280" cy="1508040"/>
          </a:xfrm>
          <a:prstGeom prst="rect">
            <a:avLst/>
          </a:prstGeom>
          <a:noFill/>
          <a:ln w="0">
            <a:noFill/>
          </a:ln>
        </p:spPr>
        <p:style>
          <a:lnRef idx="0"/>
          <a:fillRef idx="0"/>
          <a:effectRef idx="0"/>
          <a:fontRef idx="minor"/>
        </p:style>
        <p:txBody>
          <a:bodyPr lIns="0" tIns="0" rIns="0" bIns="0" anchor="t">
            <a:noAutofit/>
          </a:bodyPr>
          <a:p>
            <a:pPr defTabSz="914400">
              <a:lnSpc>
                <a:spcPts val="1599"/>
              </a:lnSpc>
              <a:tabLst>
                <a:tab pos="0" algn="l"/>
              </a:tabLst>
            </a:pPr>
            <a:r>
              <a:rPr lang="en-US" sz="1150" b="0" u="none" strike="noStrike">
                <a:solidFill>
                  <a:srgbClr val="4A4124"/>
                </a:solidFill>
                <a:effectLst/>
                <a:uFillTx/>
                <a:latin typeface="Calibri"/>
                <a:ea typeface="Calibri"/>
              </a:rPr>
              <a:t>Due contrappongono l'apertura dello storico alla riservatezza dei dati, e si governano con politiche di accesso selettivo per ruolo. Il terzo riguarda l'Intermediario: affidabilità della piattaforma contro sostenibilità dei costi.</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164" name="Text 39"/>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3 · SCENARIO SPECIFICO</a:t>
            </a:r>
            <a:endParaRPr lang="en-US" sz="1050" b="0" u="none" strike="noStrike">
              <a:solidFill>
                <a:srgbClr val="000000"/>
              </a:solidFill>
              <a:effectLst/>
              <a:uFillTx/>
              <a:latin typeface="Arial"/>
            </a:endParaRPr>
          </a:p>
        </p:txBody>
      </p:sp>
      <p:sp>
        <p:nvSpPr>
          <p:cNvPr id="165" name="Text 42"/>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Cinque attori sulla piattaforma</a:t>
            </a:r>
            <a:endParaRPr lang="en-US" sz="3100" b="0" u="none" strike="noStrike">
              <a:solidFill>
                <a:srgbClr val="000000"/>
              </a:solidFill>
              <a:effectLst/>
              <a:uFillTx/>
              <a:latin typeface="Arial"/>
            </a:endParaRPr>
          </a:p>
        </p:txBody>
      </p:sp>
      <p:sp>
        <p:nvSpPr>
          <p:cNvPr id="166" name="Text 43"/>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8</a:t>
            </a:r>
            <a:endParaRPr lang="en-US" sz="1000" b="0" u="none" strike="noStrike">
              <a:solidFill>
                <a:srgbClr val="000000"/>
              </a:solidFill>
              <a:effectLst/>
              <a:uFillTx/>
              <a:latin typeface="Arial"/>
            </a:endParaRPr>
          </a:p>
        </p:txBody>
      </p:sp>
      <p:sp>
        <p:nvSpPr>
          <p:cNvPr id="167" name="Text 44"/>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168" name="Shape 2"/>
          <p:cNvSpPr/>
          <p:nvPr/>
        </p:nvSpPr>
        <p:spPr>
          <a:xfrm>
            <a:off x="2103480" y="160920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9" name="Text 45"/>
          <p:cNvSpPr/>
          <p:nvPr/>
        </p:nvSpPr>
        <p:spPr>
          <a:xfrm>
            <a:off x="2103480" y="160920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1</a:t>
            </a:r>
            <a:endParaRPr lang="en-US" sz="1300" b="0" u="none" strike="noStrike">
              <a:solidFill>
                <a:srgbClr val="000000"/>
              </a:solidFill>
              <a:effectLst/>
              <a:uFillTx/>
              <a:latin typeface="Arial"/>
            </a:endParaRPr>
          </a:p>
        </p:txBody>
      </p:sp>
      <p:sp>
        <p:nvSpPr>
          <p:cNvPr id="170" name="Text 46"/>
          <p:cNvSpPr/>
          <p:nvPr/>
        </p:nvSpPr>
        <p:spPr>
          <a:xfrm>
            <a:off x="2725200" y="1499760"/>
            <a:ext cx="228528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Intermediario</a:t>
            </a:r>
            <a:endParaRPr lang="en-US" sz="1400" b="0" u="none" strike="noStrike">
              <a:solidFill>
                <a:srgbClr val="000000"/>
              </a:solidFill>
              <a:effectLst/>
              <a:uFillTx/>
              <a:latin typeface="Arial"/>
            </a:endParaRPr>
          </a:p>
        </p:txBody>
      </p:sp>
      <p:sp>
        <p:nvSpPr>
          <p:cNvPr id="171" name="Text 47"/>
          <p:cNvSpPr/>
          <p:nvPr/>
        </p:nvSpPr>
        <p:spPr>
          <a:xfrm>
            <a:off x="5194080" y="1499760"/>
            <a:ext cx="4406760" cy="6577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00" b="0" u="none" strike="noStrike">
                <a:solidFill>
                  <a:srgbClr val="56687A"/>
                </a:solidFill>
                <a:effectLst/>
                <a:uFillTx/>
                <a:latin typeface="Calibri"/>
                <a:ea typeface="Calibri"/>
              </a:rPr>
              <a:t>Sviluppa e gestisce la piattaforma: è il cliente primario. Verticalizza la soluzione sulle esigenze della filiera.</a:t>
            </a:r>
            <a:endParaRPr lang="en-US" sz="1200" b="0" u="none" strike="noStrike">
              <a:solidFill>
                <a:srgbClr val="000000"/>
              </a:solidFill>
              <a:effectLst/>
              <a:uFillTx/>
              <a:latin typeface="Arial"/>
            </a:endParaRPr>
          </a:p>
        </p:txBody>
      </p:sp>
      <p:sp>
        <p:nvSpPr>
          <p:cNvPr id="172" name="Shape 3"/>
          <p:cNvSpPr/>
          <p:nvPr/>
        </p:nvSpPr>
        <p:spPr>
          <a:xfrm>
            <a:off x="2103480" y="235908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Text 48"/>
          <p:cNvSpPr/>
          <p:nvPr/>
        </p:nvSpPr>
        <p:spPr>
          <a:xfrm>
            <a:off x="2103480" y="235908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2</a:t>
            </a:r>
            <a:endParaRPr lang="en-US" sz="1300" b="0" u="none" strike="noStrike">
              <a:solidFill>
                <a:srgbClr val="000000"/>
              </a:solidFill>
              <a:effectLst/>
              <a:uFillTx/>
              <a:latin typeface="Arial"/>
            </a:endParaRPr>
          </a:p>
        </p:txBody>
      </p:sp>
      <p:sp>
        <p:nvSpPr>
          <p:cNvPr id="174" name="Text 49"/>
          <p:cNvSpPr/>
          <p:nvPr/>
        </p:nvSpPr>
        <p:spPr>
          <a:xfrm>
            <a:off x="2725200" y="2249280"/>
            <a:ext cx="228528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Concessionaria</a:t>
            </a:r>
            <a:endParaRPr lang="en-US" sz="1400" b="0" u="none" strike="noStrike">
              <a:solidFill>
                <a:srgbClr val="000000"/>
              </a:solidFill>
              <a:effectLst/>
              <a:uFillTx/>
              <a:latin typeface="Arial"/>
            </a:endParaRPr>
          </a:p>
        </p:txBody>
      </p:sp>
      <p:sp>
        <p:nvSpPr>
          <p:cNvPr id="175" name="Text 50"/>
          <p:cNvSpPr/>
          <p:nvPr/>
        </p:nvSpPr>
        <p:spPr>
          <a:xfrm>
            <a:off x="5194080" y="2249280"/>
            <a:ext cx="4406760" cy="6577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00" b="0" u="none" strike="noStrike">
                <a:solidFill>
                  <a:srgbClr val="56687A"/>
                </a:solidFill>
                <a:effectLst/>
                <a:uFillTx/>
                <a:latin typeface="Calibri"/>
                <a:ea typeface="Calibri"/>
              </a:rPr>
              <a:t>Servizio premium che differenzia l'offerta e riduce il rischio legale sui veicoli modificati.</a:t>
            </a:r>
            <a:endParaRPr lang="en-US" sz="1200" b="0" u="none" strike="noStrike">
              <a:solidFill>
                <a:srgbClr val="000000"/>
              </a:solidFill>
              <a:effectLst/>
              <a:uFillTx/>
              <a:latin typeface="Arial"/>
            </a:endParaRPr>
          </a:p>
        </p:txBody>
      </p:sp>
      <p:sp>
        <p:nvSpPr>
          <p:cNvPr id="176" name="Shape 23"/>
          <p:cNvSpPr/>
          <p:nvPr/>
        </p:nvSpPr>
        <p:spPr>
          <a:xfrm>
            <a:off x="2103480" y="310896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7" name="Text 51"/>
          <p:cNvSpPr/>
          <p:nvPr/>
        </p:nvSpPr>
        <p:spPr>
          <a:xfrm>
            <a:off x="2103480" y="310896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3</a:t>
            </a:r>
            <a:endParaRPr lang="en-US" sz="1300" b="0" u="none" strike="noStrike">
              <a:solidFill>
                <a:srgbClr val="000000"/>
              </a:solidFill>
              <a:effectLst/>
              <a:uFillTx/>
              <a:latin typeface="Arial"/>
            </a:endParaRPr>
          </a:p>
        </p:txBody>
      </p:sp>
      <p:sp>
        <p:nvSpPr>
          <p:cNvPr id="178" name="Text 52"/>
          <p:cNvSpPr/>
          <p:nvPr/>
        </p:nvSpPr>
        <p:spPr>
          <a:xfrm>
            <a:off x="2725200" y="2999160"/>
            <a:ext cx="228528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Azienda di Tuning</a:t>
            </a:r>
            <a:endParaRPr lang="en-US" sz="1400" b="0" u="none" strike="noStrike">
              <a:solidFill>
                <a:srgbClr val="000000"/>
              </a:solidFill>
              <a:effectLst/>
              <a:uFillTx/>
              <a:latin typeface="Arial"/>
            </a:endParaRPr>
          </a:p>
        </p:txBody>
      </p:sp>
      <p:sp>
        <p:nvSpPr>
          <p:cNvPr id="179" name="Text 53"/>
          <p:cNvSpPr/>
          <p:nvPr/>
        </p:nvSpPr>
        <p:spPr>
          <a:xfrm>
            <a:off x="5194080" y="2999160"/>
            <a:ext cx="4406760" cy="6577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00" b="0" u="none" strike="noStrike">
                <a:solidFill>
                  <a:srgbClr val="56687A"/>
                </a:solidFill>
                <a:effectLst/>
                <a:uFillTx/>
                <a:latin typeface="Calibri"/>
                <a:ea typeface="Calibri"/>
              </a:rPr>
              <a:t>Attesta digitalmente la qualità del lavoro e si tutela da contestazioni infondate.</a:t>
            </a:r>
            <a:endParaRPr lang="en-US" sz="1200" b="0" u="none" strike="noStrike">
              <a:solidFill>
                <a:srgbClr val="000000"/>
              </a:solidFill>
              <a:effectLst/>
              <a:uFillTx/>
              <a:latin typeface="Arial"/>
            </a:endParaRPr>
          </a:p>
        </p:txBody>
      </p:sp>
      <p:sp>
        <p:nvSpPr>
          <p:cNvPr id="180" name="Shape 32"/>
          <p:cNvSpPr/>
          <p:nvPr/>
        </p:nvSpPr>
        <p:spPr>
          <a:xfrm>
            <a:off x="2103480" y="385884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1" name="Text 54"/>
          <p:cNvSpPr/>
          <p:nvPr/>
        </p:nvSpPr>
        <p:spPr>
          <a:xfrm>
            <a:off x="2103480" y="385884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4</a:t>
            </a:r>
            <a:endParaRPr lang="en-US" sz="1300" b="0" u="none" strike="noStrike">
              <a:solidFill>
                <a:srgbClr val="000000"/>
              </a:solidFill>
              <a:effectLst/>
              <a:uFillTx/>
              <a:latin typeface="Arial"/>
            </a:endParaRPr>
          </a:p>
        </p:txBody>
      </p:sp>
      <p:sp>
        <p:nvSpPr>
          <p:cNvPr id="182" name="Text 55"/>
          <p:cNvSpPr/>
          <p:nvPr/>
        </p:nvSpPr>
        <p:spPr>
          <a:xfrm>
            <a:off x="2725200" y="3749040"/>
            <a:ext cx="228528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Centro di Certificazione</a:t>
            </a:r>
            <a:endParaRPr lang="en-US" sz="1400" b="0" u="none" strike="noStrike">
              <a:solidFill>
                <a:srgbClr val="000000"/>
              </a:solidFill>
              <a:effectLst/>
              <a:uFillTx/>
              <a:latin typeface="Arial"/>
            </a:endParaRPr>
          </a:p>
        </p:txBody>
      </p:sp>
      <p:sp>
        <p:nvSpPr>
          <p:cNvPr id="183" name="Text 56"/>
          <p:cNvSpPr/>
          <p:nvPr/>
        </p:nvSpPr>
        <p:spPr>
          <a:xfrm>
            <a:off x="5194080" y="3749040"/>
            <a:ext cx="4406760" cy="6577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00" b="0" u="none" strike="noStrike">
                <a:solidFill>
                  <a:srgbClr val="56687A"/>
                </a:solidFill>
                <a:effectLst/>
                <a:uFillTx/>
                <a:latin typeface="Calibri"/>
                <a:ea typeface="Calibri"/>
              </a:rPr>
              <a:t>Dati già strutturati per il collaudo; certificati registrati e controllabili da terzi.</a:t>
            </a:r>
            <a:endParaRPr lang="en-US" sz="1200" b="0" u="none" strike="noStrike">
              <a:solidFill>
                <a:srgbClr val="000000"/>
              </a:solidFill>
              <a:effectLst/>
              <a:uFillTx/>
              <a:latin typeface="Arial"/>
            </a:endParaRPr>
          </a:p>
        </p:txBody>
      </p:sp>
      <p:sp>
        <p:nvSpPr>
          <p:cNvPr id="184" name="Shape 33"/>
          <p:cNvSpPr/>
          <p:nvPr/>
        </p:nvSpPr>
        <p:spPr>
          <a:xfrm>
            <a:off x="2103480" y="460872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5" name="Text 57"/>
          <p:cNvSpPr/>
          <p:nvPr/>
        </p:nvSpPr>
        <p:spPr>
          <a:xfrm>
            <a:off x="2103480" y="460872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5</a:t>
            </a:r>
            <a:endParaRPr lang="en-US" sz="1300" b="0" u="none" strike="noStrike">
              <a:solidFill>
                <a:srgbClr val="000000"/>
              </a:solidFill>
              <a:effectLst/>
              <a:uFillTx/>
              <a:latin typeface="Arial"/>
            </a:endParaRPr>
          </a:p>
        </p:txBody>
      </p:sp>
      <p:sp>
        <p:nvSpPr>
          <p:cNvPr id="186" name="Text 58"/>
          <p:cNvSpPr/>
          <p:nvPr/>
        </p:nvSpPr>
        <p:spPr>
          <a:xfrm>
            <a:off x="2725200" y="4498920"/>
            <a:ext cx="2285280" cy="657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Cliente Privato</a:t>
            </a:r>
            <a:endParaRPr lang="en-US" sz="1400" b="0" u="none" strike="noStrike">
              <a:solidFill>
                <a:srgbClr val="000000"/>
              </a:solidFill>
              <a:effectLst/>
              <a:uFillTx/>
              <a:latin typeface="Arial"/>
            </a:endParaRPr>
          </a:p>
        </p:txBody>
      </p:sp>
      <p:sp>
        <p:nvSpPr>
          <p:cNvPr id="187" name="Text 59"/>
          <p:cNvSpPr/>
          <p:nvPr/>
        </p:nvSpPr>
        <p:spPr>
          <a:xfrm>
            <a:off x="5194080" y="4498920"/>
            <a:ext cx="4406760" cy="6577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200" b="0" u="none" strike="noStrike">
                <a:solidFill>
                  <a:srgbClr val="56687A"/>
                </a:solidFill>
                <a:effectLst/>
                <a:uFillTx/>
                <a:latin typeface="Calibri"/>
                <a:ea typeface="Calibri"/>
              </a:rPr>
              <a:t>Storico certificato e trasferibile, che difende il valore del mezzo alla rivendita.</a:t>
            </a:r>
            <a:endParaRPr lang="en-US" sz="1200" b="0" u="none" strike="noStrike">
              <a:solidFill>
                <a:srgbClr val="000000"/>
              </a:solidFill>
              <a:effectLst/>
              <a:uFillTx/>
              <a:latin typeface="Arial"/>
            </a:endParaRPr>
          </a:p>
        </p:txBody>
      </p:sp>
      <p:sp>
        <p:nvSpPr>
          <p:cNvPr id="188" name="Shape 40"/>
          <p:cNvSpPr/>
          <p:nvPr/>
        </p:nvSpPr>
        <p:spPr>
          <a:xfrm>
            <a:off x="621720" y="5413320"/>
            <a:ext cx="10917360" cy="730800"/>
          </a:xfrm>
          <a:prstGeom prst="roundRect">
            <a:avLst>
              <a:gd name="adj" fmla="val 8750"/>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9" name="Shape 41"/>
          <p:cNvSpPr/>
          <p:nvPr/>
        </p:nvSpPr>
        <p:spPr>
          <a:xfrm>
            <a:off x="859680" y="5568840"/>
            <a:ext cx="419760" cy="419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Text 63"/>
          <p:cNvSpPr/>
          <p:nvPr/>
        </p:nvSpPr>
        <p:spPr>
          <a:xfrm>
            <a:off x="859680" y="556884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304E"/>
                </a:solidFill>
                <a:effectLst/>
                <a:uFillTx/>
                <a:latin typeface="Cambria"/>
                <a:ea typeface="Cambria"/>
              </a:rPr>
              <a:t>i</a:t>
            </a:r>
            <a:endParaRPr lang="en-US" sz="1200" b="0" u="none" strike="noStrike">
              <a:solidFill>
                <a:srgbClr val="000000"/>
              </a:solidFill>
              <a:effectLst/>
              <a:uFillTx/>
              <a:latin typeface="Arial"/>
            </a:endParaRPr>
          </a:p>
        </p:txBody>
      </p:sp>
      <p:sp>
        <p:nvSpPr>
          <p:cNvPr id="191" name="Text 64"/>
          <p:cNvSpPr/>
          <p:nvPr/>
        </p:nvSpPr>
        <p:spPr>
          <a:xfrm>
            <a:off x="1463040" y="5541120"/>
            <a:ext cx="9820080" cy="47484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300" b="0" u="none" strike="noStrike">
                <a:solidFill>
                  <a:srgbClr val="4A4124"/>
                </a:solidFill>
                <a:effectLst/>
                <a:uFillTx/>
                <a:latin typeface="Calibri"/>
                <a:ea typeface="Calibri"/>
              </a:rPr>
              <a:t>A ciascun attore corrispondono uno o più ruoli: dieci ruoli in tutto, ognuno con una responsabilità e un goal. È da qui che discendono gli use-case.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192"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3 · GOREM</a:t>
            </a:r>
            <a:endParaRPr lang="en-US" sz="1050" b="0" u="none" strike="noStrike">
              <a:solidFill>
                <a:srgbClr val="000000"/>
              </a:solidFill>
              <a:effectLst/>
              <a:uFillTx/>
              <a:latin typeface="Arial"/>
            </a:endParaRPr>
          </a:p>
        </p:txBody>
      </p:sp>
      <p:sp>
        <p:nvSpPr>
          <p:cNvPr id="193"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Role Diagram</a:t>
            </a:r>
            <a:endParaRPr lang="en-US" sz="3100" b="0" u="none" strike="noStrike">
              <a:solidFill>
                <a:srgbClr val="000000"/>
              </a:solidFill>
              <a:effectLst/>
              <a:uFillTx/>
              <a:latin typeface="Arial"/>
            </a:endParaRPr>
          </a:p>
        </p:txBody>
      </p:sp>
      <p:sp>
        <p:nvSpPr>
          <p:cNvPr id="194"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9</a:t>
            </a:r>
            <a:endParaRPr lang="en-US" sz="1000" b="0" u="none" strike="noStrike">
              <a:solidFill>
                <a:srgbClr val="000000"/>
              </a:solidFill>
              <a:effectLst/>
              <a:uFillTx/>
              <a:latin typeface="Arial"/>
            </a:endParaRPr>
          </a:p>
        </p:txBody>
      </p:sp>
      <p:sp>
        <p:nvSpPr>
          <p:cNvPr id="195"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196" name="Shape 4"/>
          <p:cNvSpPr/>
          <p:nvPr/>
        </p:nvSpPr>
        <p:spPr>
          <a:xfrm>
            <a:off x="603360" y="1482840"/>
            <a:ext cx="5942880" cy="4485960"/>
          </a:xfrm>
          <a:prstGeom prst="roundRect">
            <a:avLst>
              <a:gd name="adj" fmla="val 142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97" name="Image 0" descr="/home/claude/tl/img/role_diagram.png"/>
          <p:cNvPicPr/>
          <p:nvPr/>
        </p:nvPicPr>
        <p:blipFill>
          <a:blip r:embed="rId1"/>
          <a:stretch/>
        </p:blipFill>
        <p:spPr>
          <a:xfrm>
            <a:off x="704160" y="1583640"/>
            <a:ext cx="5741640" cy="4284720"/>
          </a:xfrm>
          <a:prstGeom prst="rect">
            <a:avLst/>
          </a:prstGeom>
          <a:noFill/>
          <a:ln w="0">
            <a:noFill/>
          </a:ln>
        </p:spPr>
      </p:pic>
      <p:sp>
        <p:nvSpPr>
          <p:cNvPr id="198" name="Text 5"/>
          <p:cNvSpPr/>
          <p:nvPr/>
        </p:nvSpPr>
        <p:spPr>
          <a:xfrm>
            <a:off x="6784920" y="1408320"/>
            <a:ext cx="475416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F7026"/>
                </a:solidFill>
                <a:effectLst/>
                <a:uFillTx/>
                <a:latin typeface="Calibri"/>
                <a:ea typeface="Calibri"/>
              </a:rPr>
              <a:t>Dieci ruoli distribuiti su cinque attori</a:t>
            </a:r>
            <a:endParaRPr lang="en-US" sz="1150" b="0" u="none" strike="noStrike">
              <a:solidFill>
                <a:srgbClr val="000000"/>
              </a:solidFill>
              <a:effectLst/>
              <a:uFillTx/>
              <a:latin typeface="Arial"/>
            </a:endParaRPr>
          </a:p>
        </p:txBody>
      </p:sp>
      <p:sp>
        <p:nvSpPr>
          <p:cNvPr id="199" name="Shape 6"/>
          <p:cNvSpPr/>
          <p:nvPr/>
        </p:nvSpPr>
        <p:spPr>
          <a:xfrm>
            <a:off x="6784920" y="1755720"/>
            <a:ext cx="4772520" cy="785520"/>
          </a:xfrm>
          <a:prstGeom prst="roundRect">
            <a:avLst>
              <a:gd name="adj" fmla="val 814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0" name="Text 7"/>
          <p:cNvSpPr/>
          <p:nvPr/>
        </p:nvSpPr>
        <p:spPr>
          <a:xfrm>
            <a:off x="7004160" y="1847160"/>
            <a:ext cx="4388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Intermediario</a:t>
            </a:r>
            <a:endParaRPr lang="en-US" sz="1350" b="0" u="none" strike="noStrike">
              <a:solidFill>
                <a:srgbClr val="000000"/>
              </a:solidFill>
              <a:effectLst/>
              <a:uFillTx/>
              <a:latin typeface="Arial"/>
            </a:endParaRPr>
          </a:p>
        </p:txBody>
      </p:sp>
      <p:sp>
        <p:nvSpPr>
          <p:cNvPr id="201" name="Text 8"/>
          <p:cNvSpPr/>
          <p:nvPr/>
        </p:nvSpPr>
        <p:spPr>
          <a:xfrm>
            <a:off x="7004160" y="2121480"/>
            <a:ext cx="4388400" cy="38340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Amministratore della piattaforma · Gestore delle identità e onboarding · Assistente all'uso</a:t>
            </a:r>
            <a:endParaRPr lang="en-US" sz="1100" b="0" u="none" strike="noStrike">
              <a:solidFill>
                <a:srgbClr val="000000"/>
              </a:solidFill>
              <a:effectLst/>
              <a:uFillTx/>
              <a:latin typeface="Arial"/>
            </a:endParaRPr>
          </a:p>
        </p:txBody>
      </p:sp>
      <p:sp>
        <p:nvSpPr>
          <p:cNvPr id="202" name="Shape 9"/>
          <p:cNvSpPr/>
          <p:nvPr/>
        </p:nvSpPr>
        <p:spPr>
          <a:xfrm>
            <a:off x="6784920" y="2633400"/>
            <a:ext cx="4772520" cy="785520"/>
          </a:xfrm>
          <a:prstGeom prst="roundRect">
            <a:avLst>
              <a:gd name="adj" fmla="val 814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Text 10"/>
          <p:cNvSpPr/>
          <p:nvPr/>
        </p:nvSpPr>
        <p:spPr>
          <a:xfrm>
            <a:off x="7004160" y="2724840"/>
            <a:ext cx="4388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Concessionaria</a:t>
            </a:r>
            <a:endParaRPr lang="en-US" sz="1350" b="0" u="none" strike="noStrike">
              <a:solidFill>
                <a:srgbClr val="000000"/>
              </a:solidFill>
              <a:effectLst/>
              <a:uFillTx/>
              <a:latin typeface="Arial"/>
            </a:endParaRPr>
          </a:p>
        </p:txBody>
      </p:sp>
      <p:sp>
        <p:nvSpPr>
          <p:cNvPr id="204" name="Text 11"/>
          <p:cNvSpPr/>
          <p:nvPr/>
        </p:nvSpPr>
        <p:spPr>
          <a:xfrm>
            <a:off x="7004160" y="2999160"/>
            <a:ext cx="4388400" cy="38340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Registrante del veicolo base · Responsabile della consegna</a:t>
            </a:r>
            <a:endParaRPr lang="en-US" sz="1100" b="0" u="none" strike="noStrike">
              <a:solidFill>
                <a:srgbClr val="000000"/>
              </a:solidFill>
              <a:effectLst/>
              <a:uFillTx/>
              <a:latin typeface="Arial"/>
            </a:endParaRPr>
          </a:p>
        </p:txBody>
      </p:sp>
      <p:sp>
        <p:nvSpPr>
          <p:cNvPr id="205" name="Shape 12"/>
          <p:cNvSpPr/>
          <p:nvPr/>
        </p:nvSpPr>
        <p:spPr>
          <a:xfrm>
            <a:off x="6784920" y="3511440"/>
            <a:ext cx="4772520" cy="785520"/>
          </a:xfrm>
          <a:prstGeom prst="roundRect">
            <a:avLst>
              <a:gd name="adj" fmla="val 814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Text 13"/>
          <p:cNvSpPr/>
          <p:nvPr/>
        </p:nvSpPr>
        <p:spPr>
          <a:xfrm>
            <a:off x="7004160" y="3602880"/>
            <a:ext cx="4388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Azienda di Tuning</a:t>
            </a:r>
            <a:endParaRPr lang="en-US" sz="1350" b="0" u="none" strike="noStrike">
              <a:solidFill>
                <a:srgbClr val="000000"/>
              </a:solidFill>
              <a:effectLst/>
              <a:uFillTx/>
              <a:latin typeface="Arial"/>
            </a:endParaRPr>
          </a:p>
        </p:txBody>
      </p:sp>
      <p:sp>
        <p:nvSpPr>
          <p:cNvPr id="207" name="Text 14"/>
          <p:cNvSpPr/>
          <p:nvPr/>
        </p:nvSpPr>
        <p:spPr>
          <a:xfrm>
            <a:off x="7004160" y="3877200"/>
            <a:ext cx="4388400" cy="38340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Esecutore della modifica</a:t>
            </a:r>
            <a:endParaRPr lang="en-US" sz="1100" b="0" u="none" strike="noStrike">
              <a:solidFill>
                <a:srgbClr val="000000"/>
              </a:solidFill>
              <a:effectLst/>
              <a:uFillTx/>
              <a:latin typeface="Arial"/>
            </a:endParaRPr>
          </a:p>
        </p:txBody>
      </p:sp>
      <p:sp>
        <p:nvSpPr>
          <p:cNvPr id="208" name="Shape 15"/>
          <p:cNvSpPr/>
          <p:nvPr/>
        </p:nvSpPr>
        <p:spPr>
          <a:xfrm>
            <a:off x="6784920" y="4389120"/>
            <a:ext cx="4772520" cy="785520"/>
          </a:xfrm>
          <a:prstGeom prst="roundRect">
            <a:avLst>
              <a:gd name="adj" fmla="val 814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9" name="Text 16"/>
          <p:cNvSpPr/>
          <p:nvPr/>
        </p:nvSpPr>
        <p:spPr>
          <a:xfrm>
            <a:off x="7004160" y="4480560"/>
            <a:ext cx="4388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Centro di Certificazione</a:t>
            </a:r>
            <a:endParaRPr lang="en-US" sz="1350" b="0" u="none" strike="noStrike">
              <a:solidFill>
                <a:srgbClr val="000000"/>
              </a:solidFill>
              <a:effectLst/>
              <a:uFillTx/>
              <a:latin typeface="Arial"/>
            </a:endParaRPr>
          </a:p>
        </p:txBody>
      </p:sp>
      <p:sp>
        <p:nvSpPr>
          <p:cNvPr id="210" name="Text 17"/>
          <p:cNvSpPr/>
          <p:nvPr/>
        </p:nvSpPr>
        <p:spPr>
          <a:xfrm>
            <a:off x="7004160" y="4754880"/>
            <a:ext cx="4388400" cy="38340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Ispettore/Collaudatore · Emittente della certificazione</a:t>
            </a:r>
            <a:endParaRPr lang="en-US" sz="1100" b="0" u="none" strike="noStrike">
              <a:solidFill>
                <a:srgbClr val="000000"/>
              </a:solidFill>
              <a:effectLst/>
              <a:uFillTx/>
              <a:latin typeface="Arial"/>
            </a:endParaRPr>
          </a:p>
        </p:txBody>
      </p:sp>
      <p:sp>
        <p:nvSpPr>
          <p:cNvPr id="211" name="Shape 18"/>
          <p:cNvSpPr/>
          <p:nvPr/>
        </p:nvSpPr>
        <p:spPr>
          <a:xfrm>
            <a:off x="6784920" y="5266800"/>
            <a:ext cx="4772520" cy="785520"/>
          </a:xfrm>
          <a:prstGeom prst="roundRect">
            <a:avLst>
              <a:gd name="adj" fmla="val 814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2" name="Text 19"/>
          <p:cNvSpPr/>
          <p:nvPr/>
        </p:nvSpPr>
        <p:spPr>
          <a:xfrm>
            <a:off x="7004160" y="5358240"/>
            <a:ext cx="4388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4304E"/>
                </a:solidFill>
                <a:effectLst/>
                <a:uFillTx/>
                <a:latin typeface="Cambria"/>
                <a:ea typeface="Cambria"/>
              </a:rPr>
              <a:t>Cliente Privato</a:t>
            </a:r>
            <a:endParaRPr lang="en-US" sz="1350" b="0" u="none" strike="noStrike">
              <a:solidFill>
                <a:srgbClr val="000000"/>
              </a:solidFill>
              <a:effectLst/>
              <a:uFillTx/>
              <a:latin typeface="Arial"/>
            </a:endParaRPr>
          </a:p>
        </p:txBody>
      </p:sp>
      <p:sp>
        <p:nvSpPr>
          <p:cNvPr id="213" name="Text 20"/>
          <p:cNvSpPr/>
          <p:nvPr/>
        </p:nvSpPr>
        <p:spPr>
          <a:xfrm>
            <a:off x="7004160" y="5632560"/>
            <a:ext cx="4388400" cy="38340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Consultatore dello storico · Acquirente/Nuovo proprietario</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214"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3 · GOREM</a:t>
            </a:r>
            <a:endParaRPr lang="en-US" sz="1050" b="0" u="none" strike="noStrike">
              <a:solidFill>
                <a:srgbClr val="000000"/>
              </a:solidFill>
              <a:effectLst/>
              <a:uFillTx/>
              <a:latin typeface="Arial"/>
            </a:endParaRPr>
          </a:p>
        </p:txBody>
      </p:sp>
      <p:sp>
        <p:nvSpPr>
          <p:cNvPr id="215"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Goal Diagram</a:t>
            </a:r>
            <a:endParaRPr lang="en-US" sz="3100" b="0" u="none" strike="noStrike">
              <a:solidFill>
                <a:srgbClr val="000000"/>
              </a:solidFill>
              <a:effectLst/>
              <a:uFillTx/>
              <a:latin typeface="Arial"/>
            </a:endParaRPr>
          </a:p>
        </p:txBody>
      </p:sp>
      <p:sp>
        <p:nvSpPr>
          <p:cNvPr id="216"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10</a:t>
            </a:r>
            <a:endParaRPr lang="en-US" sz="1000" b="0" u="none" strike="noStrike">
              <a:solidFill>
                <a:srgbClr val="000000"/>
              </a:solidFill>
              <a:effectLst/>
              <a:uFillTx/>
              <a:latin typeface="Arial"/>
            </a:endParaRPr>
          </a:p>
        </p:txBody>
      </p:sp>
      <p:sp>
        <p:nvSpPr>
          <p:cNvPr id="217"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218" name="Shape 4"/>
          <p:cNvSpPr/>
          <p:nvPr/>
        </p:nvSpPr>
        <p:spPr>
          <a:xfrm>
            <a:off x="3233880" y="1353240"/>
            <a:ext cx="5711400" cy="3949560"/>
          </a:xfrm>
          <a:prstGeom prst="roundRect">
            <a:avLst>
              <a:gd name="adj" fmla="val 162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19" name="Image 0" descr="/home/claude/tl/img/goal_diagram.png"/>
          <p:cNvPicPr/>
          <p:nvPr/>
        </p:nvPicPr>
        <p:blipFill>
          <a:blip r:embed="rId1"/>
          <a:stretch/>
        </p:blipFill>
        <p:spPr>
          <a:xfrm>
            <a:off x="3334320" y="1454040"/>
            <a:ext cx="5510520" cy="3748320"/>
          </a:xfrm>
          <a:prstGeom prst="rect">
            <a:avLst/>
          </a:prstGeom>
          <a:noFill/>
          <a:ln w="0">
            <a:noFill/>
          </a:ln>
        </p:spPr>
      </p:pic>
      <p:sp>
        <p:nvSpPr>
          <p:cNvPr id="220" name="Shape 5"/>
          <p:cNvSpPr/>
          <p:nvPr/>
        </p:nvSpPr>
        <p:spPr>
          <a:xfrm>
            <a:off x="603360" y="5449680"/>
            <a:ext cx="10972080" cy="749160"/>
          </a:xfrm>
          <a:prstGeom prst="roundRect">
            <a:avLst>
              <a:gd name="adj" fmla="val 8537"/>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1" name="Text 6"/>
          <p:cNvSpPr/>
          <p:nvPr/>
        </p:nvSpPr>
        <p:spPr>
          <a:xfrm>
            <a:off x="896040" y="5577840"/>
            <a:ext cx="10386720" cy="49320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250" b="0" u="none" strike="noStrike">
                <a:solidFill>
                  <a:srgbClr val="4A4124"/>
                </a:solidFill>
                <a:effectLst/>
                <a:uFillTx/>
                <a:latin typeface="Calibri"/>
                <a:ea typeface="Calibri"/>
              </a:rPr>
              <a:t>A ogni ruolo corrisponde un unico goal. A differenza dei softgoal, i goal si verificano in modo binario: sono operativi, raggiunti o non raggiunti. Da qui discendono direttamente gli use-case del capitolo 4.</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222"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3 · GOREM</a:t>
            </a:r>
            <a:endParaRPr lang="en-US" sz="1050" b="0" u="none" strike="noStrike">
              <a:solidFill>
                <a:srgbClr val="000000"/>
              </a:solidFill>
              <a:effectLst/>
              <a:uFillTx/>
              <a:latin typeface="Arial"/>
            </a:endParaRPr>
          </a:p>
        </p:txBody>
      </p:sp>
      <p:sp>
        <p:nvSpPr>
          <p:cNvPr id="223"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Goal Dependency Diagram</a:t>
            </a:r>
            <a:endParaRPr lang="en-US" sz="3100" b="0" u="none" strike="noStrike">
              <a:solidFill>
                <a:srgbClr val="000000"/>
              </a:solidFill>
              <a:effectLst/>
              <a:uFillTx/>
              <a:latin typeface="Arial"/>
            </a:endParaRPr>
          </a:p>
        </p:txBody>
      </p:sp>
      <p:sp>
        <p:nvSpPr>
          <p:cNvPr id="224"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11</a:t>
            </a:r>
            <a:endParaRPr lang="en-US" sz="1000" b="0" u="none" strike="noStrike">
              <a:solidFill>
                <a:srgbClr val="000000"/>
              </a:solidFill>
              <a:effectLst/>
              <a:uFillTx/>
              <a:latin typeface="Arial"/>
            </a:endParaRPr>
          </a:p>
        </p:txBody>
      </p:sp>
      <p:sp>
        <p:nvSpPr>
          <p:cNvPr id="225"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226" name="Shape 4"/>
          <p:cNvSpPr/>
          <p:nvPr/>
        </p:nvSpPr>
        <p:spPr>
          <a:xfrm>
            <a:off x="1863360" y="1371600"/>
            <a:ext cx="8452440" cy="3291120"/>
          </a:xfrm>
          <a:prstGeom prst="roundRect">
            <a:avLst>
              <a:gd name="adj" fmla="val 194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27" name="Image 0" descr="/home/claude/tl/img/goal_dependency_diagram.png"/>
          <p:cNvPicPr/>
          <p:nvPr/>
        </p:nvPicPr>
        <p:blipFill>
          <a:blip r:embed="rId1"/>
          <a:stretch/>
        </p:blipFill>
        <p:spPr>
          <a:xfrm>
            <a:off x="1963800" y="1472040"/>
            <a:ext cx="8251200" cy="3089880"/>
          </a:xfrm>
          <a:prstGeom prst="rect">
            <a:avLst/>
          </a:prstGeom>
          <a:noFill/>
          <a:ln w="0">
            <a:noFill/>
          </a:ln>
        </p:spPr>
      </p:pic>
      <p:sp>
        <p:nvSpPr>
          <p:cNvPr id="228" name="Shape 5"/>
          <p:cNvSpPr/>
          <p:nvPr/>
        </p:nvSpPr>
        <p:spPr>
          <a:xfrm>
            <a:off x="603360" y="4846320"/>
            <a:ext cx="5394240" cy="1325160"/>
          </a:xfrm>
          <a:prstGeom prst="roundRect">
            <a:avLst>
              <a:gd name="adj" fmla="val 482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9" name="Shape 6"/>
          <p:cNvSpPr/>
          <p:nvPr/>
        </p:nvSpPr>
        <p:spPr>
          <a:xfrm>
            <a:off x="841320" y="50475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0" name="Text 7"/>
          <p:cNvSpPr/>
          <p:nvPr/>
        </p:nvSpPr>
        <p:spPr>
          <a:xfrm>
            <a:off x="841320" y="50475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4304E"/>
                </a:solidFill>
                <a:effectLst/>
                <a:uFillTx/>
                <a:latin typeface="Cambria"/>
                <a:ea typeface="Cambria"/>
              </a:rPr>
              <a:t>+</a:t>
            </a:r>
            <a:endParaRPr lang="en-US" sz="1400" b="0" u="none" strike="noStrike">
              <a:solidFill>
                <a:srgbClr val="000000"/>
              </a:solidFill>
              <a:effectLst/>
              <a:uFillTx/>
              <a:latin typeface="Arial"/>
            </a:endParaRPr>
          </a:p>
        </p:txBody>
      </p:sp>
      <p:sp>
        <p:nvSpPr>
          <p:cNvPr id="231" name="Text 8"/>
          <p:cNvSpPr/>
          <p:nvPr/>
        </p:nvSpPr>
        <p:spPr>
          <a:xfrm>
            <a:off x="1371600" y="5047560"/>
            <a:ext cx="4388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Otto relazioni di rinforzo</a:t>
            </a:r>
            <a:endParaRPr lang="en-US" sz="1400" b="0" u="none" strike="noStrike">
              <a:solidFill>
                <a:srgbClr val="000000"/>
              </a:solidFill>
              <a:effectLst/>
              <a:uFillTx/>
              <a:latin typeface="Arial"/>
            </a:endParaRPr>
          </a:p>
        </p:txBody>
      </p:sp>
      <p:sp>
        <p:nvSpPr>
          <p:cNvPr id="232" name="Text 9"/>
          <p:cNvSpPr/>
          <p:nvPr/>
        </p:nvSpPr>
        <p:spPr>
          <a:xfrm>
            <a:off x="859680" y="5394960"/>
            <a:ext cx="4900320" cy="67608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Una catena sequenziale: l'onboarding abilita la registrazione, il DMVP la rende possibile, la registrazione agevola il collaudo, il collaudo fonda la certificazione, la certificazione abilita la consegna.</a:t>
            </a:r>
            <a:endParaRPr lang="en-US" sz="1100" b="0" u="none" strike="noStrike">
              <a:solidFill>
                <a:srgbClr val="000000"/>
              </a:solidFill>
              <a:effectLst/>
              <a:uFillTx/>
              <a:latin typeface="Arial"/>
            </a:endParaRPr>
          </a:p>
        </p:txBody>
      </p:sp>
      <p:sp>
        <p:nvSpPr>
          <p:cNvPr id="233" name="Shape 10"/>
          <p:cNvSpPr/>
          <p:nvPr/>
        </p:nvSpPr>
        <p:spPr>
          <a:xfrm>
            <a:off x="6181200" y="4846320"/>
            <a:ext cx="5394240" cy="1325160"/>
          </a:xfrm>
          <a:prstGeom prst="roundRect">
            <a:avLst>
              <a:gd name="adj" fmla="val 482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4" name="Shape 11"/>
          <p:cNvSpPr/>
          <p:nvPr/>
        </p:nvSpPr>
        <p:spPr>
          <a:xfrm>
            <a:off x="6419160" y="50475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5" name="Text 12"/>
          <p:cNvSpPr/>
          <p:nvPr/>
        </p:nvSpPr>
        <p:spPr>
          <a:xfrm>
            <a:off x="6419160" y="50475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4304E"/>
                </a:solidFill>
                <a:effectLst/>
                <a:uFillTx/>
                <a:latin typeface="Cambria"/>
                <a:ea typeface="Cambria"/>
              </a:rPr>
              <a:t>−</a:t>
            </a:r>
            <a:endParaRPr lang="en-US" sz="1400" b="0" u="none" strike="noStrike">
              <a:solidFill>
                <a:srgbClr val="000000"/>
              </a:solidFill>
              <a:effectLst/>
              <a:uFillTx/>
              <a:latin typeface="Arial"/>
            </a:endParaRPr>
          </a:p>
        </p:txBody>
      </p:sp>
      <p:sp>
        <p:nvSpPr>
          <p:cNvPr id="236" name="Text 13"/>
          <p:cNvSpPr/>
          <p:nvPr/>
        </p:nvSpPr>
        <p:spPr>
          <a:xfrm>
            <a:off x="6949440" y="5047560"/>
            <a:ext cx="4388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Tre punti di attrito</a:t>
            </a:r>
            <a:endParaRPr lang="en-US" sz="1400" b="0" u="none" strike="noStrike">
              <a:solidFill>
                <a:srgbClr val="000000"/>
              </a:solidFill>
              <a:effectLst/>
              <a:uFillTx/>
              <a:latin typeface="Arial"/>
            </a:endParaRPr>
          </a:p>
        </p:txBody>
      </p:sp>
      <p:sp>
        <p:nvSpPr>
          <p:cNvPr id="237" name="Text 14"/>
          <p:cNvSpPr/>
          <p:nvPr/>
        </p:nvSpPr>
        <p:spPr>
          <a:xfrm>
            <a:off x="6437520" y="5394960"/>
            <a:ext cx="4900320" cy="67608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Il volume di registrazioni appesantisce l'infrastruttura; più utenti significa più assistenza; e il rigore del collaudo allunga i tempi di consegna, soprattutto con esito negativo.</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238"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3 · MODELLO DI BUSINESS</a:t>
            </a:r>
            <a:endParaRPr lang="en-US" sz="1050" b="0" u="none" strike="noStrike">
              <a:solidFill>
                <a:srgbClr val="000000"/>
              </a:solidFill>
              <a:effectLst/>
              <a:uFillTx/>
              <a:latin typeface="Arial"/>
            </a:endParaRPr>
          </a:p>
        </p:txBody>
      </p:sp>
      <p:sp>
        <p:nvSpPr>
          <p:cNvPr id="239"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Business Model Canvas</a:t>
            </a:r>
            <a:endParaRPr lang="en-US" sz="3100" b="0" u="none" strike="noStrike">
              <a:solidFill>
                <a:srgbClr val="000000"/>
              </a:solidFill>
              <a:effectLst/>
              <a:uFillTx/>
              <a:latin typeface="Arial"/>
            </a:endParaRPr>
          </a:p>
        </p:txBody>
      </p:sp>
      <p:sp>
        <p:nvSpPr>
          <p:cNvPr id="240"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12</a:t>
            </a:r>
            <a:endParaRPr lang="en-US" sz="1000" b="0" u="none" strike="noStrike">
              <a:solidFill>
                <a:srgbClr val="000000"/>
              </a:solidFill>
              <a:effectLst/>
              <a:uFillTx/>
              <a:latin typeface="Arial"/>
            </a:endParaRPr>
          </a:p>
        </p:txBody>
      </p:sp>
      <p:sp>
        <p:nvSpPr>
          <p:cNvPr id="241"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242" name="Shape 4"/>
          <p:cNvSpPr/>
          <p:nvPr/>
        </p:nvSpPr>
        <p:spPr>
          <a:xfrm>
            <a:off x="603360" y="1390320"/>
            <a:ext cx="7040160" cy="4671000"/>
          </a:xfrm>
          <a:prstGeom prst="roundRect">
            <a:avLst>
              <a:gd name="adj" fmla="val 1370"/>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3" name="Image 0" descr="/home/claude/tl/img/business_model_canvas.png"/>
          <p:cNvPicPr/>
          <p:nvPr/>
        </p:nvPicPr>
        <p:blipFill>
          <a:blip r:embed="rId1"/>
          <a:stretch/>
        </p:blipFill>
        <p:spPr>
          <a:xfrm>
            <a:off x="704160" y="1491120"/>
            <a:ext cx="6838920" cy="4469760"/>
          </a:xfrm>
          <a:prstGeom prst="rect">
            <a:avLst/>
          </a:prstGeom>
          <a:noFill/>
          <a:ln w="0">
            <a:noFill/>
          </a:ln>
        </p:spPr>
      </p:pic>
      <p:sp>
        <p:nvSpPr>
          <p:cNvPr id="244" name="Shape 5"/>
          <p:cNvSpPr/>
          <p:nvPr/>
        </p:nvSpPr>
        <p:spPr>
          <a:xfrm>
            <a:off x="7882200" y="1408320"/>
            <a:ext cx="3693600" cy="1462320"/>
          </a:xfrm>
          <a:prstGeom prst="roundRect">
            <a:avLst>
              <a:gd name="adj" fmla="val 437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Text 6"/>
          <p:cNvSpPr/>
          <p:nvPr/>
        </p:nvSpPr>
        <p:spPr>
          <a:xfrm>
            <a:off x="8101440" y="1591200"/>
            <a:ext cx="329112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Cliente primario: l'Intermediario</a:t>
            </a:r>
            <a:endParaRPr lang="en-US" sz="1350" b="0" u="none" strike="noStrike">
              <a:solidFill>
                <a:srgbClr val="000000"/>
              </a:solidFill>
              <a:effectLst/>
              <a:uFillTx/>
              <a:latin typeface="Arial"/>
            </a:endParaRPr>
          </a:p>
        </p:txBody>
      </p:sp>
      <p:sp>
        <p:nvSpPr>
          <p:cNvPr id="246" name="Text 7"/>
          <p:cNvSpPr/>
          <p:nvPr/>
        </p:nvSpPr>
        <p:spPr>
          <a:xfrm>
            <a:off x="8101440" y="1828800"/>
            <a:ext cx="3291120" cy="95004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È chi acquisisce la piattaforma e la porta agli altri attori della filiera. Il modello è costruito attorno a lui.</a:t>
            </a:r>
            <a:endParaRPr lang="en-US" sz="1100" b="0" u="none" strike="noStrike">
              <a:solidFill>
                <a:srgbClr val="000000"/>
              </a:solidFill>
              <a:effectLst/>
              <a:uFillTx/>
              <a:latin typeface="Arial"/>
            </a:endParaRPr>
          </a:p>
        </p:txBody>
      </p:sp>
      <p:sp>
        <p:nvSpPr>
          <p:cNvPr id="247" name="Shape 8"/>
          <p:cNvSpPr/>
          <p:nvPr/>
        </p:nvSpPr>
        <p:spPr>
          <a:xfrm>
            <a:off x="7882200" y="3035880"/>
            <a:ext cx="3693600" cy="1462320"/>
          </a:xfrm>
          <a:prstGeom prst="roundRect">
            <a:avLst>
              <a:gd name="adj" fmla="val 437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8" name="Text 9"/>
          <p:cNvSpPr/>
          <p:nvPr/>
        </p:nvSpPr>
        <p:spPr>
          <a:xfrm>
            <a:off x="8101440" y="3218760"/>
            <a:ext cx="329112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Flussi di ricavo</a:t>
            </a:r>
            <a:endParaRPr lang="en-US" sz="1350" b="0" u="none" strike="noStrike">
              <a:solidFill>
                <a:srgbClr val="000000"/>
              </a:solidFill>
              <a:effectLst/>
              <a:uFillTx/>
              <a:latin typeface="Arial"/>
            </a:endParaRPr>
          </a:p>
        </p:txBody>
      </p:sp>
      <p:sp>
        <p:nvSpPr>
          <p:cNvPr id="249" name="Text 10"/>
          <p:cNvSpPr/>
          <p:nvPr/>
        </p:nvSpPr>
        <p:spPr>
          <a:xfrm>
            <a:off x="8101440" y="3429000"/>
            <a:ext cx="3291120" cy="97776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Abbonamento SaaS e vendita di verticalizzazioni; poi fee per transazione, licenza premium e marketplace di servizi.</a:t>
            </a:r>
            <a:endParaRPr lang="en-US" sz="1100" b="0" u="none" strike="noStrike">
              <a:solidFill>
                <a:srgbClr val="000000"/>
              </a:solidFill>
              <a:effectLst/>
              <a:uFillTx/>
              <a:latin typeface="Arial"/>
            </a:endParaRPr>
          </a:p>
        </p:txBody>
      </p:sp>
      <p:sp>
        <p:nvSpPr>
          <p:cNvPr id="250" name="Shape 11"/>
          <p:cNvSpPr/>
          <p:nvPr/>
        </p:nvSpPr>
        <p:spPr>
          <a:xfrm>
            <a:off x="7882200" y="4663440"/>
            <a:ext cx="3693600" cy="1462320"/>
          </a:xfrm>
          <a:prstGeom prst="roundRect">
            <a:avLst>
              <a:gd name="adj" fmla="val 437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1" name="Text 12"/>
          <p:cNvSpPr/>
          <p:nvPr/>
        </p:nvSpPr>
        <p:spPr>
          <a:xfrm>
            <a:off x="8101440" y="4846320"/>
            <a:ext cx="3291120" cy="50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Canali</a:t>
            </a:r>
            <a:endParaRPr lang="en-US" sz="1350" b="0" u="none" strike="noStrike">
              <a:solidFill>
                <a:srgbClr val="000000"/>
              </a:solidFill>
              <a:effectLst/>
              <a:uFillTx/>
              <a:latin typeface="Arial"/>
            </a:endParaRPr>
          </a:p>
        </p:txBody>
      </p:sp>
      <p:sp>
        <p:nvSpPr>
          <p:cNvPr id="252" name="Text 13"/>
          <p:cNvSpPr/>
          <p:nvPr/>
        </p:nvSpPr>
        <p:spPr>
          <a:xfrm>
            <a:off x="8101440" y="5029200"/>
            <a:ext cx="3291120" cy="100512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Portale web B2B, app mobile B2C, QR code sul veicolo e API verso i gestionali dei partner.</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1"/>
        </a:solidFill>
      </p:bgPr>
    </p:bg>
    <p:spTree>
      <p:nvGrpSpPr>
        <p:cNvPr id="1" name=""/>
        <p:cNvGrpSpPr/>
        <p:nvPr/>
      </p:nvGrpSpPr>
      <p:grpSpPr>
        <a:xfrm>
          <a:off x="0" y="0"/>
          <a:ext cx="0" cy="0"/>
          <a:chOff x="0" y="0"/>
          <a:chExt cx="0" cy="0"/>
        </a:xfrm>
      </p:grpSpPr>
      <p:sp>
        <p:nvSpPr>
          <p:cNvPr id="253" name="Shape 0"/>
          <p:cNvSpPr/>
          <p:nvPr/>
        </p:nvSpPr>
        <p:spPr>
          <a:xfrm>
            <a:off x="731520" y="2084760"/>
            <a:ext cx="1370880" cy="1370880"/>
          </a:xfrm>
          <a:prstGeom prst="ellipse">
            <a:avLst/>
          </a:prstGeom>
          <a:solidFill>
            <a:srgbClr val="0B1D31"/>
          </a:solidFill>
          <a:ln w="1778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4" name="Text 1"/>
          <p:cNvSpPr/>
          <p:nvPr/>
        </p:nvSpPr>
        <p:spPr>
          <a:xfrm>
            <a:off x="731520" y="2084760"/>
            <a:ext cx="1370880" cy="137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C2A04A"/>
                </a:solidFill>
                <a:effectLst/>
                <a:uFillTx/>
                <a:latin typeface="Cambria"/>
                <a:ea typeface="Cambria"/>
              </a:rPr>
              <a:t>02</a:t>
            </a:r>
            <a:endParaRPr lang="en-US" sz="4400" b="0" u="none" strike="noStrike">
              <a:solidFill>
                <a:srgbClr val="FFFFFF"/>
              </a:solidFill>
              <a:effectLst/>
              <a:uFillTx/>
              <a:latin typeface="Arial"/>
            </a:endParaRPr>
          </a:p>
        </p:txBody>
      </p:sp>
      <p:sp>
        <p:nvSpPr>
          <p:cNvPr id="255" name="Text 2"/>
          <p:cNvSpPr/>
          <p:nvPr/>
        </p:nvSpPr>
        <p:spPr>
          <a:xfrm>
            <a:off x="2514600" y="22129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41" strike="noStrike">
                <a:solidFill>
                  <a:srgbClr val="C2A04A"/>
                </a:solidFill>
                <a:effectLst/>
                <a:uFillTx/>
                <a:latin typeface="Calibri"/>
                <a:ea typeface="Calibri"/>
              </a:rPr>
              <a:t>CAPITOLO 4</a:t>
            </a:r>
            <a:endParaRPr lang="en-US" sz="1100" b="0" u="none" strike="noStrike">
              <a:solidFill>
                <a:srgbClr val="FFFFFF"/>
              </a:solidFill>
              <a:effectLst/>
              <a:uFillTx/>
              <a:latin typeface="Arial"/>
            </a:endParaRPr>
          </a:p>
        </p:txBody>
      </p:sp>
      <p:sp>
        <p:nvSpPr>
          <p:cNvPr id="256" name="Text 3"/>
          <p:cNvSpPr/>
          <p:nvPr/>
        </p:nvSpPr>
        <p:spPr>
          <a:xfrm>
            <a:off x="2487240" y="2505600"/>
            <a:ext cx="8868960" cy="913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AF6EC"/>
                </a:solidFill>
                <a:effectLst/>
                <a:uFillTx/>
                <a:latin typeface="Cambria"/>
                <a:ea typeface="Cambria"/>
              </a:rPr>
              <a:t>Use-case e processi</a:t>
            </a:r>
            <a:endParaRPr lang="en-US" sz="3400" b="0" u="none" strike="noStrike">
              <a:solidFill>
                <a:srgbClr val="FFFFFF"/>
              </a:solidFill>
              <a:effectLst/>
              <a:uFillTx/>
              <a:latin typeface="Arial"/>
            </a:endParaRPr>
          </a:p>
        </p:txBody>
      </p:sp>
      <p:sp>
        <p:nvSpPr>
          <p:cNvPr id="257" name="Text 4"/>
          <p:cNvSpPr/>
          <p:nvPr/>
        </p:nvSpPr>
        <p:spPr>
          <a:xfrm>
            <a:off x="2523600" y="3547800"/>
            <a:ext cx="8777520" cy="822240"/>
          </a:xfrm>
          <a:prstGeom prst="rect">
            <a:avLst/>
          </a:prstGeom>
          <a:noFill/>
          <a:ln w="0">
            <a:noFill/>
          </a:ln>
        </p:spPr>
        <p:style>
          <a:lnRef idx="0"/>
          <a:fillRef idx="0"/>
          <a:effectRef idx="0"/>
          <a:fontRef idx="minor"/>
        </p:style>
        <p:txBody>
          <a:bodyPr lIns="0" tIns="0" rIns="0" bIns="0" anchor="ctr">
            <a:noAutofit/>
          </a:bodyPr>
          <a:p>
            <a:pPr defTabSz="914400">
              <a:lnSpc>
                <a:spcPts val="2100"/>
              </a:lnSpc>
              <a:tabLst>
                <a:tab pos="0" algn="l"/>
              </a:tabLst>
            </a:pPr>
            <a:r>
              <a:rPr lang="en-US" sz="1350" b="0" u="none" strike="noStrike">
                <a:solidFill>
                  <a:srgbClr val="A8BACB"/>
                </a:solidFill>
                <a:effectLst/>
                <a:uFillTx/>
                <a:latin typeface="Calibri"/>
                <a:ea typeface="Calibri"/>
              </a:rPr>
              <a:t>I casi d'uso modellati in GOREM e i processi della filiera rappresentati in BPMN come coreografia tra i partecipanti.</a:t>
            </a:r>
            <a:endParaRPr lang="en-US" sz="13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258"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4 · USE-CASE IN GOREM</a:t>
            </a:r>
            <a:endParaRPr lang="en-US" sz="1050" b="0" u="none" strike="noStrike">
              <a:solidFill>
                <a:srgbClr val="000000"/>
              </a:solidFill>
              <a:effectLst/>
              <a:uFillTx/>
              <a:latin typeface="Arial"/>
            </a:endParaRPr>
          </a:p>
        </p:txBody>
      </p:sp>
      <p:sp>
        <p:nvSpPr>
          <p:cNvPr id="259"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Concessionaria e Azienda di Tuning</a:t>
            </a:r>
            <a:endParaRPr lang="en-US" sz="3100" b="0" u="none" strike="noStrike">
              <a:solidFill>
                <a:srgbClr val="000000"/>
              </a:solidFill>
              <a:effectLst/>
              <a:uFillTx/>
              <a:latin typeface="Arial"/>
            </a:endParaRPr>
          </a:p>
        </p:txBody>
      </p:sp>
      <p:sp>
        <p:nvSpPr>
          <p:cNvPr id="260"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13</a:t>
            </a:r>
            <a:endParaRPr lang="en-US" sz="1000" b="0" u="none" strike="noStrike">
              <a:solidFill>
                <a:srgbClr val="000000"/>
              </a:solidFill>
              <a:effectLst/>
              <a:uFillTx/>
              <a:latin typeface="Arial"/>
            </a:endParaRPr>
          </a:p>
        </p:txBody>
      </p:sp>
      <p:sp>
        <p:nvSpPr>
          <p:cNvPr id="261"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262" name="Shape 4"/>
          <p:cNvSpPr/>
          <p:nvPr/>
        </p:nvSpPr>
        <p:spPr>
          <a:xfrm>
            <a:off x="603360" y="1371600"/>
            <a:ext cx="10972080" cy="749160"/>
          </a:xfrm>
          <a:prstGeom prst="roundRect">
            <a:avLst>
              <a:gd name="adj" fmla="val 8537"/>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3" name="Shape 5"/>
          <p:cNvSpPr/>
          <p:nvPr/>
        </p:nvSpPr>
        <p:spPr>
          <a:xfrm>
            <a:off x="841320" y="1536120"/>
            <a:ext cx="419760" cy="419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Text 6"/>
          <p:cNvSpPr/>
          <p:nvPr/>
        </p:nvSpPr>
        <p:spPr>
          <a:xfrm>
            <a:off x="841320" y="153612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304E"/>
                </a:solidFill>
                <a:effectLst/>
                <a:uFillTx/>
                <a:latin typeface="Cambria"/>
                <a:ea typeface="Cambria"/>
              </a:rPr>
              <a:t>i</a:t>
            </a:r>
            <a:endParaRPr lang="en-US" sz="1200" b="0" u="none" strike="noStrike">
              <a:solidFill>
                <a:srgbClr val="000000"/>
              </a:solidFill>
              <a:effectLst/>
              <a:uFillTx/>
              <a:latin typeface="Arial"/>
            </a:endParaRPr>
          </a:p>
        </p:txBody>
      </p:sp>
      <p:sp>
        <p:nvSpPr>
          <p:cNvPr id="265" name="Text 7"/>
          <p:cNvSpPr/>
          <p:nvPr/>
        </p:nvSpPr>
        <p:spPr>
          <a:xfrm>
            <a:off x="1444680" y="1499760"/>
            <a:ext cx="9874800" cy="49320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200" b="0" u="none" strike="noStrike">
                <a:solidFill>
                  <a:srgbClr val="4A4124"/>
                </a:solidFill>
                <a:effectLst/>
                <a:uFillTx/>
                <a:latin typeface="Calibri"/>
                <a:ea typeface="Calibri"/>
              </a:rPr>
              <a:t>Convenzione valida per tutti i diagrammi: ogni stakeholder «plays» uno o più ruoli, e ogni azione che scrive sul registro è un «include» che vede l'Intermediario come attore secondario — è l'unico abilitato a operare sulla blockchain.</a:t>
            </a:r>
            <a:endParaRPr lang="en-US" sz="1200" b="0" u="none" strike="noStrike">
              <a:solidFill>
                <a:srgbClr val="000000"/>
              </a:solidFill>
              <a:effectLst/>
              <a:uFillTx/>
              <a:latin typeface="Arial"/>
            </a:endParaRPr>
          </a:p>
        </p:txBody>
      </p:sp>
      <p:sp>
        <p:nvSpPr>
          <p:cNvPr id="266" name="Shape 8"/>
          <p:cNvSpPr/>
          <p:nvPr/>
        </p:nvSpPr>
        <p:spPr>
          <a:xfrm>
            <a:off x="928800" y="2286000"/>
            <a:ext cx="4743720" cy="3291120"/>
          </a:xfrm>
          <a:prstGeom prst="roundRect">
            <a:avLst>
              <a:gd name="adj" fmla="val 194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67" name="Image 0" descr="/home/claude/tl/img/01_concessionaria.png"/>
          <p:cNvPicPr/>
          <p:nvPr/>
        </p:nvPicPr>
        <p:blipFill>
          <a:blip r:embed="rId1"/>
          <a:stretch/>
        </p:blipFill>
        <p:spPr>
          <a:xfrm>
            <a:off x="1029240" y="2386440"/>
            <a:ext cx="4542480" cy="3089880"/>
          </a:xfrm>
          <a:prstGeom prst="rect">
            <a:avLst/>
          </a:prstGeom>
          <a:noFill/>
          <a:ln w="0">
            <a:noFill/>
          </a:ln>
        </p:spPr>
      </p:pic>
      <p:sp>
        <p:nvSpPr>
          <p:cNvPr id="268" name="Shape 9"/>
          <p:cNvSpPr/>
          <p:nvPr/>
        </p:nvSpPr>
        <p:spPr>
          <a:xfrm>
            <a:off x="6475680" y="2286000"/>
            <a:ext cx="4805640" cy="3291120"/>
          </a:xfrm>
          <a:prstGeom prst="roundRect">
            <a:avLst>
              <a:gd name="adj" fmla="val 194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69" name="Image 1" descr="/home/claude/tl/img/02_azienda_di_tuning.png"/>
          <p:cNvPicPr/>
          <p:nvPr/>
        </p:nvPicPr>
        <p:blipFill>
          <a:blip r:embed="rId2"/>
          <a:stretch/>
        </p:blipFill>
        <p:spPr>
          <a:xfrm>
            <a:off x="6576120" y="2386440"/>
            <a:ext cx="4604400" cy="3089880"/>
          </a:xfrm>
          <a:prstGeom prst="rect">
            <a:avLst/>
          </a:prstGeom>
          <a:noFill/>
          <a:ln w="0">
            <a:noFill/>
          </a:ln>
        </p:spPr>
      </p:pic>
      <p:sp>
        <p:nvSpPr>
          <p:cNvPr id="270" name="Text 10"/>
          <p:cNvSpPr/>
          <p:nvPr/>
        </p:nvSpPr>
        <p:spPr>
          <a:xfrm>
            <a:off x="658440" y="5650920"/>
            <a:ext cx="10834920" cy="657720"/>
          </a:xfrm>
          <a:prstGeom prst="rect">
            <a:avLst/>
          </a:prstGeom>
          <a:noFill/>
          <a:ln w="0">
            <a:noFill/>
          </a:ln>
        </p:spPr>
        <p:style>
          <a:lnRef idx="0"/>
          <a:fillRef idx="0"/>
          <a:effectRef idx="0"/>
          <a:fontRef idx="minor"/>
        </p:style>
        <p:txBody>
          <a:bodyPr lIns="0" tIns="0" rIns="0" bIns="0" anchor="t">
            <a:noAutofit/>
          </a:bodyPr>
          <a:p>
            <a:pPr marL="177840" indent="-177840" defTabSz="914400">
              <a:lnSpc>
                <a:spcPts val="1599"/>
              </a:lnSpc>
              <a:spcAft>
                <a:spcPts val="300"/>
              </a:spcAft>
              <a:buClr>
                <a:srgbClr val="222F3B"/>
              </a:buClr>
              <a:buFont typeface="Symbol" charset="2"/>
              <a:buChar char=""/>
            </a:pPr>
            <a:r>
              <a:rPr lang="en-US" sz="1150" b="0" u="none" strike="noStrike">
                <a:solidFill>
                  <a:srgbClr val="222F3B"/>
                </a:solidFill>
                <a:effectLst/>
                <a:uFillTx/>
                <a:latin typeface="Calibri"/>
                <a:ea typeface="Calibri"/>
              </a:rPr>
              <a:t>Concessionaria: registrare il veicolo include l'inizializzazione del DMVP; avviare la consegna include la registrazione sul passaporto</a:t>
            </a:r>
            <a:endParaRPr lang="en-US" sz="1150" b="0" u="none" strike="noStrike">
              <a:solidFill>
                <a:srgbClr val="000000"/>
              </a:solidFill>
              <a:effectLst/>
              <a:uFillTx/>
              <a:latin typeface="Arial"/>
            </a:endParaRPr>
          </a:p>
          <a:p>
            <a:pPr marL="177840" indent="-177840" defTabSz="914400">
              <a:lnSpc>
                <a:spcPts val="1599"/>
              </a:lnSpc>
              <a:spcAft>
                <a:spcPts val="300"/>
              </a:spcAft>
              <a:buClr>
                <a:srgbClr val="222F3B"/>
              </a:buClr>
              <a:buFont typeface="Symbol" charset="2"/>
              <a:buChar char=""/>
            </a:pPr>
            <a:r>
              <a:rPr lang="en-US" sz="1150" b="0" u="none" strike="noStrike">
                <a:solidFill>
                  <a:srgbClr val="222F3B"/>
                </a:solidFill>
                <a:effectLst/>
                <a:uFillTx/>
                <a:latin typeface="Calibri"/>
                <a:ea typeface="Calibri"/>
              </a:rPr>
              <a:t>Azienda di Tuning: scheda tecnica con i seriali, prove multimediali e ancoraggio dell'hash sulla blockchain</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271"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4 · USE-CASE IN GOREM</a:t>
            </a:r>
            <a:endParaRPr lang="en-US" sz="1050" b="0" u="none" strike="noStrike">
              <a:solidFill>
                <a:srgbClr val="000000"/>
              </a:solidFill>
              <a:effectLst/>
              <a:uFillTx/>
              <a:latin typeface="Arial"/>
            </a:endParaRPr>
          </a:p>
        </p:txBody>
      </p:sp>
      <p:sp>
        <p:nvSpPr>
          <p:cNvPr id="272"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Centro di Certificazione e Cliente Privato</a:t>
            </a:r>
            <a:endParaRPr lang="en-US" sz="3100" b="0" u="none" strike="noStrike">
              <a:solidFill>
                <a:srgbClr val="000000"/>
              </a:solidFill>
              <a:effectLst/>
              <a:uFillTx/>
              <a:latin typeface="Arial"/>
            </a:endParaRPr>
          </a:p>
        </p:txBody>
      </p:sp>
      <p:sp>
        <p:nvSpPr>
          <p:cNvPr id="273"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14</a:t>
            </a:r>
            <a:endParaRPr lang="en-US" sz="1000" b="0" u="none" strike="noStrike">
              <a:solidFill>
                <a:srgbClr val="000000"/>
              </a:solidFill>
              <a:effectLst/>
              <a:uFillTx/>
              <a:latin typeface="Arial"/>
            </a:endParaRPr>
          </a:p>
        </p:txBody>
      </p:sp>
      <p:sp>
        <p:nvSpPr>
          <p:cNvPr id="274"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275" name="Shape 4"/>
          <p:cNvSpPr/>
          <p:nvPr/>
        </p:nvSpPr>
        <p:spPr>
          <a:xfrm>
            <a:off x="603360" y="1397160"/>
            <a:ext cx="5394240" cy="3733560"/>
          </a:xfrm>
          <a:prstGeom prst="roundRect">
            <a:avLst>
              <a:gd name="adj" fmla="val 171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76" name="Image 0" descr="/home/claude/tl/img/03_centro_di_certificazione.png"/>
          <p:cNvPicPr/>
          <p:nvPr/>
        </p:nvPicPr>
        <p:blipFill>
          <a:blip r:embed="rId1"/>
          <a:stretch/>
        </p:blipFill>
        <p:spPr>
          <a:xfrm>
            <a:off x="704160" y="1497960"/>
            <a:ext cx="5193000" cy="3532320"/>
          </a:xfrm>
          <a:prstGeom prst="rect">
            <a:avLst/>
          </a:prstGeom>
          <a:noFill/>
          <a:ln w="0">
            <a:noFill/>
          </a:ln>
        </p:spPr>
      </p:pic>
      <p:sp>
        <p:nvSpPr>
          <p:cNvPr id="277" name="Shape 5"/>
          <p:cNvSpPr/>
          <p:nvPr/>
        </p:nvSpPr>
        <p:spPr>
          <a:xfrm>
            <a:off x="6181200" y="1744920"/>
            <a:ext cx="5394240" cy="3038760"/>
          </a:xfrm>
          <a:prstGeom prst="roundRect">
            <a:avLst>
              <a:gd name="adj" fmla="val 210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78" name="Image 1" descr="/home/claude/tl/img/04_cliente_privato.png"/>
          <p:cNvPicPr/>
          <p:nvPr/>
        </p:nvPicPr>
        <p:blipFill>
          <a:blip r:embed="rId2"/>
          <a:stretch/>
        </p:blipFill>
        <p:spPr>
          <a:xfrm>
            <a:off x="6282000" y="1845360"/>
            <a:ext cx="5193000" cy="2837520"/>
          </a:xfrm>
          <a:prstGeom prst="rect">
            <a:avLst/>
          </a:prstGeom>
          <a:noFill/>
          <a:ln w="0">
            <a:noFill/>
          </a:ln>
        </p:spPr>
      </p:pic>
      <p:sp>
        <p:nvSpPr>
          <p:cNvPr id="279" name="Shape 6"/>
          <p:cNvSpPr/>
          <p:nvPr/>
        </p:nvSpPr>
        <p:spPr>
          <a:xfrm>
            <a:off x="603360" y="5285160"/>
            <a:ext cx="5394240" cy="840600"/>
          </a:xfrm>
          <a:prstGeom prst="roundRect">
            <a:avLst>
              <a:gd name="adj" fmla="val 7609"/>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0" name="Text 7"/>
          <p:cNvSpPr/>
          <p:nvPr/>
        </p:nvSpPr>
        <p:spPr>
          <a:xfrm>
            <a:off x="841320" y="5394960"/>
            <a:ext cx="4937040" cy="639360"/>
          </a:xfrm>
          <a:prstGeom prst="rect">
            <a:avLst/>
          </a:prstGeom>
          <a:noFill/>
          <a:ln w="0">
            <a:noFill/>
          </a:ln>
        </p:spPr>
        <p:style>
          <a:lnRef idx="0"/>
          <a:fillRef idx="0"/>
          <a:effectRef idx="0"/>
          <a:fontRef idx="minor"/>
        </p:style>
        <p:txBody>
          <a:bodyPr lIns="0" tIns="0" rIns="0" bIns="0" anchor="ctr">
            <a:noAutofit/>
          </a:bodyPr>
          <a:p>
            <a:pPr defTabSz="914400">
              <a:lnSpc>
                <a:spcPts val="1599"/>
              </a:lnSpc>
              <a:tabLst>
                <a:tab pos="0" algn="l"/>
              </a:tabLst>
            </a:pPr>
            <a:r>
              <a:rPr lang="en-US" sz="1150" b="1" u="none" strike="noStrike">
                <a:solidFill>
                  <a:srgbClr val="8F7026"/>
                </a:solidFill>
                <a:effectLst/>
                <a:uFillTx/>
                <a:latin typeface="Calibri"/>
                <a:ea typeface="Calibri"/>
              </a:rPr>
              <a:t>«extend»  </a:t>
            </a:r>
            <a:r>
              <a:rPr lang="en-US" sz="1150" b="0" u="none" strike="noStrike">
                <a:solidFill>
                  <a:srgbClr val="56687A"/>
                </a:solidFill>
                <a:effectLst/>
                <a:uFillTx/>
                <a:latin typeface="Calibri"/>
                <a:ea typeface="Calibri"/>
              </a:rPr>
              <a:t>La segnalazione di non conformità è il flusso alternativo, attivato quando il collaudo dà esito negativo.</a:t>
            </a:r>
            <a:endParaRPr lang="en-US" sz="1150" b="0" u="none" strike="noStrike">
              <a:solidFill>
                <a:srgbClr val="000000"/>
              </a:solidFill>
              <a:effectLst/>
              <a:uFillTx/>
              <a:latin typeface="Arial"/>
            </a:endParaRPr>
          </a:p>
        </p:txBody>
      </p:sp>
      <p:sp>
        <p:nvSpPr>
          <p:cNvPr id="281" name="Shape 8"/>
          <p:cNvSpPr/>
          <p:nvPr/>
        </p:nvSpPr>
        <p:spPr>
          <a:xfrm>
            <a:off x="6181200" y="5285160"/>
            <a:ext cx="5394240" cy="840600"/>
          </a:xfrm>
          <a:prstGeom prst="roundRect">
            <a:avLst>
              <a:gd name="adj" fmla="val 7609"/>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2" name="Text 9"/>
          <p:cNvSpPr/>
          <p:nvPr/>
        </p:nvSpPr>
        <p:spPr>
          <a:xfrm>
            <a:off x="6419160" y="5394960"/>
            <a:ext cx="4937040" cy="639360"/>
          </a:xfrm>
          <a:prstGeom prst="rect">
            <a:avLst/>
          </a:prstGeom>
          <a:noFill/>
          <a:ln w="0">
            <a:noFill/>
          </a:ln>
        </p:spPr>
        <p:style>
          <a:lnRef idx="0"/>
          <a:fillRef idx="0"/>
          <a:effectRef idx="0"/>
          <a:fontRef idx="minor"/>
        </p:style>
        <p:txBody>
          <a:bodyPr lIns="0" tIns="0" rIns="0" bIns="0" anchor="ctr">
            <a:noAutofit/>
          </a:bodyPr>
          <a:p>
            <a:pPr defTabSz="914400">
              <a:lnSpc>
                <a:spcPts val="1599"/>
              </a:lnSpc>
              <a:tabLst>
                <a:tab pos="0" algn="l"/>
              </a:tabLst>
            </a:pPr>
            <a:r>
              <a:rPr lang="en-US" sz="1150" b="1" u="none" strike="noStrike">
                <a:solidFill>
                  <a:srgbClr val="8F7026"/>
                </a:solidFill>
                <a:effectLst/>
                <a:uFillTx/>
                <a:latin typeface="Calibri"/>
                <a:ea typeface="Calibri"/>
              </a:rPr>
              <a:t>«include»  </a:t>
            </a:r>
            <a:r>
              <a:rPr lang="en-US" sz="1150" b="0" u="none" strike="noStrike">
                <a:solidFill>
                  <a:srgbClr val="56687A"/>
                </a:solidFill>
                <a:effectLst/>
                <a:uFillTx/>
                <a:latin typeface="Calibri"/>
                <a:ea typeface="Calibri"/>
              </a:rPr>
              <a:t>L'accettazione del veicolo include il trasferimento della proprietà del DMVP sulla blockchain.</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283"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4 · USE-CASE IN GOREM</a:t>
            </a:r>
            <a:endParaRPr lang="en-US" sz="1050" b="0" u="none" strike="noStrike">
              <a:solidFill>
                <a:srgbClr val="000000"/>
              </a:solidFill>
              <a:effectLst/>
              <a:uFillTx/>
              <a:latin typeface="Arial"/>
            </a:endParaRPr>
          </a:p>
        </p:txBody>
      </p:sp>
      <p:sp>
        <p:nvSpPr>
          <p:cNvPr id="284"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Intermediario, gestore della piattaforma</a:t>
            </a:r>
            <a:endParaRPr lang="en-US" sz="3100" b="0" u="none" strike="noStrike">
              <a:solidFill>
                <a:srgbClr val="000000"/>
              </a:solidFill>
              <a:effectLst/>
              <a:uFillTx/>
              <a:latin typeface="Arial"/>
            </a:endParaRPr>
          </a:p>
        </p:txBody>
      </p:sp>
      <p:sp>
        <p:nvSpPr>
          <p:cNvPr id="285"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15</a:t>
            </a:r>
            <a:endParaRPr lang="en-US" sz="1000" b="0" u="none" strike="noStrike">
              <a:solidFill>
                <a:srgbClr val="000000"/>
              </a:solidFill>
              <a:effectLst/>
              <a:uFillTx/>
              <a:latin typeface="Arial"/>
            </a:endParaRPr>
          </a:p>
        </p:txBody>
      </p:sp>
      <p:sp>
        <p:nvSpPr>
          <p:cNvPr id="286"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287" name="Shape 4"/>
          <p:cNvSpPr/>
          <p:nvPr/>
        </p:nvSpPr>
        <p:spPr>
          <a:xfrm>
            <a:off x="837720" y="1371600"/>
            <a:ext cx="5474880" cy="4708440"/>
          </a:xfrm>
          <a:prstGeom prst="roundRect">
            <a:avLst>
              <a:gd name="adj" fmla="val 1359"/>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88" name="Image 0" descr="/home/claude/tl/img/05_intermediario.png"/>
          <p:cNvPicPr/>
          <p:nvPr/>
        </p:nvPicPr>
        <p:blipFill>
          <a:blip r:embed="rId1"/>
          <a:stretch/>
        </p:blipFill>
        <p:spPr>
          <a:xfrm>
            <a:off x="938160" y="1472040"/>
            <a:ext cx="5273640" cy="4507200"/>
          </a:xfrm>
          <a:prstGeom prst="rect">
            <a:avLst/>
          </a:prstGeom>
          <a:noFill/>
          <a:ln w="0">
            <a:noFill/>
          </a:ln>
        </p:spPr>
      </p:pic>
      <p:sp>
        <p:nvSpPr>
          <p:cNvPr id="289" name="Shape 5"/>
          <p:cNvSpPr/>
          <p:nvPr/>
        </p:nvSpPr>
        <p:spPr>
          <a:xfrm>
            <a:off x="6766560" y="1426320"/>
            <a:ext cx="4808880" cy="1215360"/>
          </a:xfrm>
          <a:prstGeom prst="roundRect">
            <a:avLst>
              <a:gd name="adj" fmla="val 526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0" name="Shape 6"/>
          <p:cNvSpPr/>
          <p:nvPr/>
        </p:nvSpPr>
        <p:spPr>
          <a:xfrm>
            <a:off x="7004160" y="166428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1" name="Text 7"/>
          <p:cNvSpPr/>
          <p:nvPr/>
        </p:nvSpPr>
        <p:spPr>
          <a:xfrm>
            <a:off x="7004160" y="166428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1</a:t>
            </a:r>
            <a:endParaRPr lang="en-US" sz="1250" b="0" u="none" strike="noStrike">
              <a:solidFill>
                <a:srgbClr val="000000"/>
              </a:solidFill>
              <a:effectLst/>
              <a:uFillTx/>
              <a:latin typeface="Arial"/>
            </a:endParaRPr>
          </a:p>
        </p:txBody>
      </p:sp>
      <p:sp>
        <p:nvSpPr>
          <p:cNvPr id="292" name="Text 8"/>
          <p:cNvSpPr/>
          <p:nvPr/>
        </p:nvSpPr>
        <p:spPr>
          <a:xfrm>
            <a:off x="7534800" y="1673280"/>
            <a:ext cx="380304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Amministratore della piattaforma</a:t>
            </a:r>
            <a:endParaRPr lang="en-US" sz="1300" b="0" u="none" strike="noStrike">
              <a:solidFill>
                <a:srgbClr val="000000"/>
              </a:solidFill>
              <a:effectLst/>
              <a:uFillTx/>
              <a:latin typeface="Arial"/>
            </a:endParaRPr>
          </a:p>
        </p:txBody>
      </p:sp>
      <p:sp>
        <p:nvSpPr>
          <p:cNvPr id="293" name="Text 9"/>
          <p:cNvSpPr/>
          <p:nvPr/>
        </p:nvSpPr>
        <p:spPr>
          <a:xfrm>
            <a:off x="7022520" y="2176200"/>
            <a:ext cx="4296960" cy="3193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00" b="0" u="none" strike="noStrike">
                <a:solidFill>
                  <a:srgbClr val="56687A"/>
                </a:solidFill>
                <a:effectLst/>
                <a:uFillTx/>
                <a:latin typeface="Calibri"/>
                <a:ea typeface="Calibri"/>
              </a:rPr>
              <a:t>Configura e mantiene la rete permissioned: canali, politiche di endorsement e parametri.</a:t>
            </a:r>
            <a:endParaRPr lang="en-US" sz="1100" b="0" u="none" strike="noStrike">
              <a:solidFill>
                <a:srgbClr val="000000"/>
              </a:solidFill>
              <a:effectLst/>
              <a:uFillTx/>
              <a:latin typeface="Arial"/>
            </a:endParaRPr>
          </a:p>
        </p:txBody>
      </p:sp>
      <p:sp>
        <p:nvSpPr>
          <p:cNvPr id="294" name="Shape 10"/>
          <p:cNvSpPr/>
          <p:nvPr/>
        </p:nvSpPr>
        <p:spPr>
          <a:xfrm>
            <a:off x="6766560" y="2807280"/>
            <a:ext cx="4808880" cy="1215360"/>
          </a:xfrm>
          <a:prstGeom prst="roundRect">
            <a:avLst>
              <a:gd name="adj" fmla="val 526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5" name="Shape 11"/>
          <p:cNvSpPr/>
          <p:nvPr/>
        </p:nvSpPr>
        <p:spPr>
          <a:xfrm>
            <a:off x="7004160" y="304488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Text 12"/>
          <p:cNvSpPr/>
          <p:nvPr/>
        </p:nvSpPr>
        <p:spPr>
          <a:xfrm>
            <a:off x="7004160" y="304488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2</a:t>
            </a:r>
            <a:endParaRPr lang="en-US" sz="1250" b="0" u="none" strike="noStrike">
              <a:solidFill>
                <a:srgbClr val="000000"/>
              </a:solidFill>
              <a:effectLst/>
              <a:uFillTx/>
              <a:latin typeface="Arial"/>
            </a:endParaRPr>
          </a:p>
        </p:txBody>
      </p:sp>
      <p:sp>
        <p:nvSpPr>
          <p:cNvPr id="297" name="Text 13"/>
          <p:cNvSpPr/>
          <p:nvPr/>
        </p:nvSpPr>
        <p:spPr>
          <a:xfrm>
            <a:off x="7534800" y="3054240"/>
            <a:ext cx="380304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Gestore delle identità e onboarding</a:t>
            </a:r>
            <a:endParaRPr lang="en-US" sz="1300" b="0" u="none" strike="noStrike">
              <a:solidFill>
                <a:srgbClr val="000000"/>
              </a:solidFill>
              <a:effectLst/>
              <a:uFillTx/>
              <a:latin typeface="Arial"/>
            </a:endParaRPr>
          </a:p>
        </p:txBody>
      </p:sp>
      <p:sp>
        <p:nvSpPr>
          <p:cNvPr id="298" name="Text 14"/>
          <p:cNvSpPr/>
          <p:nvPr/>
        </p:nvSpPr>
        <p:spPr>
          <a:xfrm>
            <a:off x="7022520" y="3557160"/>
            <a:ext cx="4296960" cy="3193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00" b="0" u="none" strike="noStrike">
                <a:solidFill>
                  <a:srgbClr val="56687A"/>
                </a:solidFill>
                <a:effectLst/>
                <a:uFillTx/>
                <a:latin typeface="Calibri"/>
                <a:ea typeface="Calibri"/>
              </a:rPr>
              <a:t>Verifica gli attori ammessi ed emette le credenziali. È il presupposto di affidabilità di tutto il sistema.</a:t>
            </a:r>
            <a:endParaRPr lang="en-US" sz="1100" b="0" u="none" strike="noStrike">
              <a:solidFill>
                <a:srgbClr val="000000"/>
              </a:solidFill>
              <a:effectLst/>
              <a:uFillTx/>
              <a:latin typeface="Arial"/>
            </a:endParaRPr>
          </a:p>
        </p:txBody>
      </p:sp>
      <p:sp>
        <p:nvSpPr>
          <p:cNvPr id="299" name="Shape 15"/>
          <p:cNvSpPr/>
          <p:nvPr/>
        </p:nvSpPr>
        <p:spPr>
          <a:xfrm>
            <a:off x="6766560" y="4187880"/>
            <a:ext cx="4808880" cy="1215360"/>
          </a:xfrm>
          <a:prstGeom prst="roundRect">
            <a:avLst>
              <a:gd name="adj" fmla="val 526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0" name="Shape 16"/>
          <p:cNvSpPr/>
          <p:nvPr/>
        </p:nvSpPr>
        <p:spPr>
          <a:xfrm>
            <a:off x="7004160" y="442584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1" name="Text 17"/>
          <p:cNvSpPr/>
          <p:nvPr/>
        </p:nvSpPr>
        <p:spPr>
          <a:xfrm>
            <a:off x="7004160" y="442584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3</a:t>
            </a:r>
            <a:endParaRPr lang="en-US" sz="1250" b="0" u="none" strike="noStrike">
              <a:solidFill>
                <a:srgbClr val="000000"/>
              </a:solidFill>
              <a:effectLst/>
              <a:uFillTx/>
              <a:latin typeface="Arial"/>
            </a:endParaRPr>
          </a:p>
        </p:txBody>
      </p:sp>
      <p:sp>
        <p:nvSpPr>
          <p:cNvPr id="302" name="Text 18"/>
          <p:cNvSpPr/>
          <p:nvPr/>
        </p:nvSpPr>
        <p:spPr>
          <a:xfrm>
            <a:off x="7534800" y="4434840"/>
            <a:ext cx="380304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Assistente all'uso</a:t>
            </a:r>
            <a:endParaRPr lang="en-US" sz="1300" b="0" u="none" strike="noStrike">
              <a:solidFill>
                <a:srgbClr val="000000"/>
              </a:solidFill>
              <a:effectLst/>
              <a:uFillTx/>
              <a:latin typeface="Arial"/>
            </a:endParaRPr>
          </a:p>
        </p:txBody>
      </p:sp>
      <p:sp>
        <p:nvSpPr>
          <p:cNvPr id="303" name="Text 19"/>
          <p:cNvSpPr/>
          <p:nvPr/>
        </p:nvSpPr>
        <p:spPr>
          <a:xfrm>
            <a:off x="7022520" y="4937760"/>
            <a:ext cx="4296960" cy="3193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00" b="0" u="none" strike="noStrike">
                <a:solidFill>
                  <a:srgbClr val="56687A"/>
                </a:solidFill>
                <a:effectLst/>
                <a:uFillTx/>
                <a:latin typeface="Calibri"/>
                <a:ea typeface="Calibri"/>
              </a:rPr>
              <a:t>Supporto operativo e formativo: lo use-case è invocato da tutti e quattro gli altri attori.</a:t>
            </a:r>
            <a:endParaRPr lang="en-US" sz="1100" b="0" u="none" strike="noStrike">
              <a:solidFill>
                <a:srgbClr val="000000"/>
              </a:solidFill>
              <a:effectLst/>
              <a:uFillTx/>
              <a:latin typeface="Arial"/>
            </a:endParaRPr>
          </a:p>
        </p:txBody>
      </p:sp>
      <p:sp>
        <p:nvSpPr>
          <p:cNvPr id="304" name="Text 20"/>
          <p:cNvSpPr/>
          <p:nvPr/>
        </p:nvSpPr>
        <p:spPr>
          <a:xfrm>
            <a:off x="6803280" y="5577840"/>
            <a:ext cx="4754160" cy="65772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i="1" u="none" strike="noStrike">
                <a:solidFill>
                  <a:srgbClr val="788593"/>
                </a:solidFill>
                <a:effectLst/>
                <a:uFillTx/>
                <a:latin typeface="Calibri"/>
                <a:ea typeface="Calibri"/>
              </a:rPr>
              <a:t>È l'unico soggetto abilitato a scrivere sulla blockchain: in tutti i diagrammi compare come attore secondario.</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305"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4 · PROCESSI IN BPMN</a:t>
            </a:r>
            <a:endParaRPr lang="en-US" sz="1050" b="0" u="none" strike="noStrike">
              <a:solidFill>
                <a:srgbClr val="000000"/>
              </a:solidFill>
              <a:effectLst/>
              <a:uFillTx/>
              <a:latin typeface="Arial"/>
            </a:endParaRPr>
          </a:p>
        </p:txBody>
      </p:sp>
      <p:sp>
        <p:nvSpPr>
          <p:cNvPr id="306"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Processo complessivo di gestione del DMVP</a:t>
            </a:r>
            <a:endParaRPr lang="en-US" sz="3100" b="0" u="none" strike="noStrike">
              <a:solidFill>
                <a:srgbClr val="000000"/>
              </a:solidFill>
              <a:effectLst/>
              <a:uFillTx/>
              <a:latin typeface="Arial"/>
            </a:endParaRPr>
          </a:p>
        </p:txBody>
      </p:sp>
      <p:sp>
        <p:nvSpPr>
          <p:cNvPr id="307"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16</a:t>
            </a:r>
            <a:endParaRPr lang="en-US" sz="1000" b="0" u="none" strike="noStrike">
              <a:solidFill>
                <a:srgbClr val="000000"/>
              </a:solidFill>
              <a:effectLst/>
              <a:uFillTx/>
              <a:latin typeface="Arial"/>
            </a:endParaRPr>
          </a:p>
        </p:txBody>
      </p:sp>
      <p:sp>
        <p:nvSpPr>
          <p:cNvPr id="308"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309" name="Shape 4"/>
          <p:cNvSpPr/>
          <p:nvPr/>
        </p:nvSpPr>
        <p:spPr>
          <a:xfrm>
            <a:off x="603360" y="1362600"/>
            <a:ext cx="10972080" cy="2998440"/>
          </a:xfrm>
          <a:prstGeom prst="roundRect">
            <a:avLst>
              <a:gd name="adj" fmla="val 213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10" name="Image 0" descr="/home/claude/tl/img/00_gestione_DMVP.png"/>
          <p:cNvPicPr/>
          <p:nvPr/>
        </p:nvPicPr>
        <p:blipFill>
          <a:blip r:embed="rId1"/>
          <a:stretch/>
        </p:blipFill>
        <p:spPr>
          <a:xfrm>
            <a:off x="704160" y="1463040"/>
            <a:ext cx="10770840" cy="2797200"/>
          </a:xfrm>
          <a:prstGeom prst="rect">
            <a:avLst/>
          </a:prstGeom>
          <a:noFill/>
          <a:ln w="0">
            <a:noFill/>
          </a:ln>
        </p:spPr>
      </p:pic>
      <p:sp>
        <p:nvSpPr>
          <p:cNvPr id="311" name="Shape 5"/>
          <p:cNvSpPr/>
          <p:nvPr/>
        </p:nvSpPr>
        <p:spPr>
          <a:xfrm>
            <a:off x="603360" y="4498920"/>
            <a:ext cx="2577960" cy="1663560"/>
          </a:xfrm>
          <a:prstGeom prst="roundRect">
            <a:avLst>
              <a:gd name="adj" fmla="val 384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2" name="Shape 6"/>
          <p:cNvSpPr/>
          <p:nvPr/>
        </p:nvSpPr>
        <p:spPr>
          <a:xfrm>
            <a:off x="841320" y="473652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3" name="Text 7"/>
          <p:cNvSpPr/>
          <p:nvPr/>
        </p:nvSpPr>
        <p:spPr>
          <a:xfrm>
            <a:off x="841320" y="473652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1</a:t>
            </a:r>
            <a:endParaRPr lang="en-US" sz="1250" b="0" u="none" strike="noStrike">
              <a:solidFill>
                <a:srgbClr val="000000"/>
              </a:solidFill>
              <a:effectLst/>
              <a:uFillTx/>
              <a:latin typeface="Arial"/>
            </a:endParaRPr>
          </a:p>
        </p:txBody>
      </p:sp>
      <p:sp>
        <p:nvSpPr>
          <p:cNvPr id="314" name="Text 8"/>
          <p:cNvSpPr/>
          <p:nvPr/>
        </p:nvSpPr>
        <p:spPr>
          <a:xfrm>
            <a:off x="1371600" y="4745880"/>
            <a:ext cx="157212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Registrazione del veicolo</a:t>
            </a:r>
            <a:endParaRPr lang="en-US" sz="1250" b="0" u="none" strike="noStrike">
              <a:solidFill>
                <a:srgbClr val="000000"/>
              </a:solidFill>
              <a:effectLst/>
              <a:uFillTx/>
              <a:latin typeface="Arial"/>
            </a:endParaRPr>
          </a:p>
        </p:txBody>
      </p:sp>
      <p:sp>
        <p:nvSpPr>
          <p:cNvPr id="315" name="Text 9"/>
          <p:cNvSpPr/>
          <p:nvPr/>
        </p:nvSpPr>
        <p:spPr>
          <a:xfrm>
            <a:off x="859680" y="5248800"/>
            <a:ext cx="2065680" cy="7675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050" b="0" u="none" strike="noStrike">
                <a:solidFill>
                  <a:srgbClr val="56687A"/>
                </a:solidFill>
                <a:effectLst/>
                <a:uFillTx/>
                <a:latin typeface="Calibri"/>
                <a:ea typeface="Calibri"/>
              </a:rPr>
              <a:t>La concessionaria registra il veicolo base e crea il DMVP in bozza; l'hash va sulla catena.</a:t>
            </a:r>
            <a:endParaRPr lang="en-US" sz="1050" b="0" u="none" strike="noStrike">
              <a:solidFill>
                <a:srgbClr val="000000"/>
              </a:solidFill>
              <a:effectLst/>
              <a:uFillTx/>
              <a:latin typeface="Arial"/>
            </a:endParaRPr>
          </a:p>
        </p:txBody>
      </p:sp>
      <p:sp>
        <p:nvSpPr>
          <p:cNvPr id="316" name="Shape 10"/>
          <p:cNvSpPr/>
          <p:nvPr/>
        </p:nvSpPr>
        <p:spPr>
          <a:xfrm>
            <a:off x="3401640" y="4498920"/>
            <a:ext cx="2577960" cy="1663560"/>
          </a:xfrm>
          <a:prstGeom prst="roundRect">
            <a:avLst>
              <a:gd name="adj" fmla="val 384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7" name="Shape 11"/>
          <p:cNvSpPr/>
          <p:nvPr/>
        </p:nvSpPr>
        <p:spPr>
          <a:xfrm>
            <a:off x="3639240" y="473652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8" name="Text 12"/>
          <p:cNvSpPr/>
          <p:nvPr/>
        </p:nvSpPr>
        <p:spPr>
          <a:xfrm>
            <a:off x="3639240" y="473652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2</a:t>
            </a:r>
            <a:endParaRPr lang="en-US" sz="1250" b="0" u="none" strike="noStrike">
              <a:solidFill>
                <a:srgbClr val="000000"/>
              </a:solidFill>
              <a:effectLst/>
              <a:uFillTx/>
              <a:latin typeface="Arial"/>
            </a:endParaRPr>
          </a:p>
        </p:txBody>
      </p:sp>
      <p:sp>
        <p:nvSpPr>
          <p:cNvPr id="319" name="Text 13"/>
          <p:cNvSpPr/>
          <p:nvPr/>
        </p:nvSpPr>
        <p:spPr>
          <a:xfrm>
            <a:off x="4169520" y="4745880"/>
            <a:ext cx="157212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Esecuzione del tuning</a:t>
            </a:r>
            <a:endParaRPr lang="en-US" sz="1250" b="0" u="none" strike="noStrike">
              <a:solidFill>
                <a:srgbClr val="000000"/>
              </a:solidFill>
              <a:effectLst/>
              <a:uFillTx/>
              <a:latin typeface="Arial"/>
            </a:endParaRPr>
          </a:p>
        </p:txBody>
      </p:sp>
      <p:sp>
        <p:nvSpPr>
          <p:cNvPr id="320" name="Text 14"/>
          <p:cNvSpPr/>
          <p:nvPr/>
        </p:nvSpPr>
        <p:spPr>
          <a:xfrm>
            <a:off x="3657600" y="5248800"/>
            <a:ext cx="2065680" cy="7675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050" b="0" u="none" strike="noStrike">
                <a:solidFill>
                  <a:srgbClr val="56687A"/>
                </a:solidFill>
                <a:effectLst/>
                <a:uFillTx/>
                <a:latin typeface="Calibri"/>
                <a:ea typeface="Calibri"/>
              </a:rPr>
              <a:t>L'officina esegue le lavorazioni e registra specifiche e seriali dei componenti.</a:t>
            </a:r>
            <a:endParaRPr lang="en-US" sz="1050" b="0" u="none" strike="noStrike">
              <a:solidFill>
                <a:srgbClr val="000000"/>
              </a:solidFill>
              <a:effectLst/>
              <a:uFillTx/>
              <a:latin typeface="Arial"/>
            </a:endParaRPr>
          </a:p>
        </p:txBody>
      </p:sp>
      <p:sp>
        <p:nvSpPr>
          <p:cNvPr id="321" name="Shape 15"/>
          <p:cNvSpPr/>
          <p:nvPr/>
        </p:nvSpPr>
        <p:spPr>
          <a:xfrm>
            <a:off x="6199560" y="4498920"/>
            <a:ext cx="2577960" cy="1663560"/>
          </a:xfrm>
          <a:prstGeom prst="roundRect">
            <a:avLst>
              <a:gd name="adj" fmla="val 384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2" name="Shape 16"/>
          <p:cNvSpPr/>
          <p:nvPr/>
        </p:nvSpPr>
        <p:spPr>
          <a:xfrm>
            <a:off x="6437520" y="473652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3" name="Text 17"/>
          <p:cNvSpPr/>
          <p:nvPr/>
        </p:nvSpPr>
        <p:spPr>
          <a:xfrm>
            <a:off x="6437520" y="473652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3</a:t>
            </a:r>
            <a:endParaRPr lang="en-US" sz="1250" b="0" u="none" strike="noStrike">
              <a:solidFill>
                <a:srgbClr val="000000"/>
              </a:solidFill>
              <a:effectLst/>
              <a:uFillTx/>
              <a:latin typeface="Arial"/>
            </a:endParaRPr>
          </a:p>
        </p:txBody>
      </p:sp>
      <p:sp>
        <p:nvSpPr>
          <p:cNvPr id="324" name="Text 18"/>
          <p:cNvSpPr/>
          <p:nvPr/>
        </p:nvSpPr>
        <p:spPr>
          <a:xfrm>
            <a:off x="6967800" y="4745880"/>
            <a:ext cx="157212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Ispezione e certificazione</a:t>
            </a:r>
            <a:endParaRPr lang="en-US" sz="1250" b="0" u="none" strike="noStrike">
              <a:solidFill>
                <a:srgbClr val="000000"/>
              </a:solidFill>
              <a:effectLst/>
              <a:uFillTx/>
              <a:latin typeface="Arial"/>
            </a:endParaRPr>
          </a:p>
        </p:txBody>
      </p:sp>
      <p:sp>
        <p:nvSpPr>
          <p:cNvPr id="325" name="Text 19"/>
          <p:cNvSpPr/>
          <p:nvPr/>
        </p:nvSpPr>
        <p:spPr>
          <a:xfrm>
            <a:off x="6455520" y="5248800"/>
            <a:ext cx="2065680" cy="7675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050" b="0" u="none" strike="noStrike">
                <a:solidFill>
                  <a:srgbClr val="56687A"/>
                </a:solidFill>
                <a:effectLst/>
                <a:uFillTx/>
                <a:latin typeface="Calibri"/>
                <a:ea typeface="Calibri"/>
              </a:rPr>
              <a:t>Un gateway esclusivo separa i due esiti: si torna al tuning oppure si certifica.</a:t>
            </a:r>
            <a:endParaRPr lang="en-US" sz="1050" b="0" u="none" strike="noStrike">
              <a:solidFill>
                <a:srgbClr val="000000"/>
              </a:solidFill>
              <a:effectLst/>
              <a:uFillTx/>
              <a:latin typeface="Arial"/>
            </a:endParaRPr>
          </a:p>
        </p:txBody>
      </p:sp>
      <p:sp>
        <p:nvSpPr>
          <p:cNvPr id="326" name="Shape 20"/>
          <p:cNvSpPr/>
          <p:nvPr/>
        </p:nvSpPr>
        <p:spPr>
          <a:xfrm>
            <a:off x="8997840" y="4498920"/>
            <a:ext cx="2577960" cy="1663560"/>
          </a:xfrm>
          <a:prstGeom prst="roundRect">
            <a:avLst>
              <a:gd name="adj" fmla="val 384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7" name="Shape 21"/>
          <p:cNvSpPr/>
          <p:nvPr/>
        </p:nvSpPr>
        <p:spPr>
          <a:xfrm>
            <a:off x="9235440" y="473652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8" name="Text 22"/>
          <p:cNvSpPr/>
          <p:nvPr/>
        </p:nvSpPr>
        <p:spPr>
          <a:xfrm>
            <a:off x="9235440" y="473652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4</a:t>
            </a:r>
            <a:endParaRPr lang="en-US" sz="1250" b="0" u="none" strike="noStrike">
              <a:solidFill>
                <a:srgbClr val="000000"/>
              </a:solidFill>
              <a:effectLst/>
              <a:uFillTx/>
              <a:latin typeface="Arial"/>
            </a:endParaRPr>
          </a:p>
        </p:txBody>
      </p:sp>
      <p:sp>
        <p:nvSpPr>
          <p:cNvPr id="329" name="Text 23"/>
          <p:cNvSpPr/>
          <p:nvPr/>
        </p:nvSpPr>
        <p:spPr>
          <a:xfrm>
            <a:off x="9765720" y="4745880"/>
            <a:ext cx="157212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Consegna e trasferimento</a:t>
            </a:r>
            <a:endParaRPr lang="en-US" sz="1250" b="0" u="none" strike="noStrike">
              <a:solidFill>
                <a:srgbClr val="000000"/>
              </a:solidFill>
              <a:effectLst/>
              <a:uFillTx/>
              <a:latin typeface="Arial"/>
            </a:endParaRPr>
          </a:p>
        </p:txBody>
      </p:sp>
      <p:sp>
        <p:nvSpPr>
          <p:cNvPr id="330" name="Text 24"/>
          <p:cNvSpPr/>
          <p:nvPr/>
        </p:nvSpPr>
        <p:spPr>
          <a:xfrm>
            <a:off x="9253800" y="5248800"/>
            <a:ext cx="2065680" cy="7675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050" b="0" u="none" strike="noStrike">
                <a:solidFill>
                  <a:srgbClr val="56687A"/>
                </a:solidFill>
                <a:effectLst/>
                <a:uFillTx/>
                <a:latin typeface="Calibri"/>
                <a:ea typeface="Calibri"/>
              </a:rPr>
              <a:t>Consegna del veicolo omologato e passaggio di proprietà del DMVP al cliente.</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331"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4 · PROCESSI IN BPMN</a:t>
            </a:r>
            <a:endParaRPr lang="en-US" sz="1050" b="0" u="none" strike="noStrike">
              <a:solidFill>
                <a:srgbClr val="000000"/>
              </a:solidFill>
              <a:effectLst/>
              <a:uFillTx/>
              <a:latin typeface="Arial"/>
            </a:endParaRPr>
          </a:p>
        </p:txBody>
      </p:sp>
      <p:sp>
        <p:nvSpPr>
          <p:cNvPr id="332"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Esecuzione del tuning e registrazione delle modifiche</a:t>
            </a:r>
            <a:endParaRPr lang="en-US" sz="3100" b="0" u="none" strike="noStrike">
              <a:solidFill>
                <a:srgbClr val="000000"/>
              </a:solidFill>
              <a:effectLst/>
              <a:uFillTx/>
              <a:latin typeface="Arial"/>
            </a:endParaRPr>
          </a:p>
        </p:txBody>
      </p:sp>
      <p:sp>
        <p:nvSpPr>
          <p:cNvPr id="333"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17</a:t>
            </a:r>
            <a:endParaRPr lang="en-US" sz="1000" b="0" u="none" strike="noStrike">
              <a:solidFill>
                <a:srgbClr val="000000"/>
              </a:solidFill>
              <a:effectLst/>
              <a:uFillTx/>
              <a:latin typeface="Arial"/>
            </a:endParaRPr>
          </a:p>
        </p:txBody>
      </p:sp>
      <p:sp>
        <p:nvSpPr>
          <p:cNvPr id="334"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335" name="Shape 4"/>
          <p:cNvSpPr/>
          <p:nvPr/>
        </p:nvSpPr>
        <p:spPr>
          <a:xfrm>
            <a:off x="603360" y="1540080"/>
            <a:ext cx="7588800" cy="3685680"/>
          </a:xfrm>
          <a:prstGeom prst="roundRect">
            <a:avLst>
              <a:gd name="adj" fmla="val 173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36" name="Image 0" descr="/home/claude/tl/img/02_esecuzione_tuning_e_registrazione_modifiche.png"/>
          <p:cNvPicPr/>
          <p:nvPr/>
        </p:nvPicPr>
        <p:blipFill>
          <a:blip r:embed="rId1"/>
          <a:stretch/>
        </p:blipFill>
        <p:spPr>
          <a:xfrm>
            <a:off x="704160" y="1640880"/>
            <a:ext cx="7387560" cy="3484440"/>
          </a:xfrm>
          <a:prstGeom prst="rect">
            <a:avLst/>
          </a:prstGeom>
          <a:noFill/>
          <a:ln w="0">
            <a:noFill/>
          </a:ln>
        </p:spPr>
      </p:pic>
      <p:sp>
        <p:nvSpPr>
          <p:cNvPr id="337" name="Text 5"/>
          <p:cNvSpPr/>
          <p:nvPr/>
        </p:nvSpPr>
        <p:spPr>
          <a:xfrm>
            <a:off x="603360" y="5272200"/>
            <a:ext cx="75888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788593"/>
                </a:solidFill>
                <a:effectLst/>
                <a:uFillTx/>
                <a:latin typeface="Calibri"/>
                <a:ea typeface="Calibri"/>
              </a:rPr>
              <a:t>Il cuore operativo della piattaforma: il DMVP viene arricchito in modo immutabile</a:t>
            </a:r>
            <a:endParaRPr lang="en-US" sz="1050" b="0" u="none" strike="noStrike">
              <a:solidFill>
                <a:srgbClr val="000000"/>
              </a:solidFill>
              <a:effectLst/>
              <a:uFillTx/>
              <a:latin typeface="Arial"/>
            </a:endParaRPr>
          </a:p>
        </p:txBody>
      </p:sp>
      <p:sp>
        <p:nvSpPr>
          <p:cNvPr id="338" name="Shape 6"/>
          <p:cNvSpPr/>
          <p:nvPr/>
        </p:nvSpPr>
        <p:spPr>
          <a:xfrm>
            <a:off x="8412480" y="1426320"/>
            <a:ext cx="3162960" cy="2193840"/>
          </a:xfrm>
          <a:prstGeom prst="roundRect">
            <a:avLst>
              <a:gd name="adj" fmla="val 291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9" name="Shape 7"/>
          <p:cNvSpPr/>
          <p:nvPr/>
        </p:nvSpPr>
        <p:spPr>
          <a:xfrm>
            <a:off x="8650080" y="162756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0" name="Text 8"/>
          <p:cNvSpPr/>
          <p:nvPr/>
        </p:nvSpPr>
        <p:spPr>
          <a:xfrm>
            <a:off x="8650080" y="162756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4304E"/>
                </a:solidFill>
                <a:effectLst/>
                <a:uFillTx/>
                <a:latin typeface="Cambria"/>
                <a:ea typeface="Cambria"/>
              </a:rPr>
              <a:t>∧</a:t>
            </a:r>
            <a:endParaRPr lang="en-US" sz="1500" b="0" u="none" strike="noStrike">
              <a:solidFill>
                <a:srgbClr val="000000"/>
              </a:solidFill>
              <a:effectLst/>
              <a:uFillTx/>
              <a:latin typeface="Arial"/>
            </a:endParaRPr>
          </a:p>
        </p:txBody>
      </p:sp>
      <p:sp>
        <p:nvSpPr>
          <p:cNvPr id="341" name="Text 9"/>
          <p:cNvSpPr/>
          <p:nvPr/>
        </p:nvSpPr>
        <p:spPr>
          <a:xfrm>
            <a:off x="9180720" y="1627560"/>
            <a:ext cx="2193840" cy="41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Gateway parallelo (AND)</a:t>
            </a:r>
            <a:endParaRPr lang="en-US" sz="1300" b="0" u="none" strike="noStrike">
              <a:solidFill>
                <a:srgbClr val="000000"/>
              </a:solidFill>
              <a:effectLst/>
              <a:uFillTx/>
              <a:latin typeface="Arial"/>
            </a:endParaRPr>
          </a:p>
        </p:txBody>
      </p:sp>
      <p:sp>
        <p:nvSpPr>
          <p:cNvPr id="342" name="Text 10"/>
          <p:cNvSpPr/>
          <p:nvPr/>
        </p:nvSpPr>
        <p:spPr>
          <a:xfrm>
            <a:off x="8668440" y="2139840"/>
            <a:ext cx="2705760" cy="1370880"/>
          </a:xfrm>
          <a:prstGeom prst="rect">
            <a:avLst/>
          </a:prstGeom>
          <a:noFill/>
          <a:ln w="0">
            <a:noFill/>
          </a:ln>
        </p:spPr>
        <p:style>
          <a:lnRef idx="0"/>
          <a:fillRef idx="0"/>
          <a:effectRef idx="0"/>
          <a:fontRef idx="minor"/>
        </p:style>
        <p:txBody>
          <a:bodyPr lIns="0" tIns="0" rIns="0" bIns="0" anchor="ctr">
            <a:noAutofit/>
          </a:bodyPr>
          <a:p>
            <a:pPr defTabSz="914400">
              <a:lnSpc>
                <a:spcPts val="1599"/>
              </a:lnSpc>
              <a:tabLst>
                <a:tab pos="0" algn="l"/>
              </a:tabLst>
            </a:pPr>
            <a:r>
              <a:rPr lang="en-US" sz="1100" b="0" u="none" strike="noStrike">
                <a:solidFill>
                  <a:srgbClr val="56687A"/>
                </a:solidFill>
                <a:effectLst/>
                <a:uFillTx/>
                <a:latin typeface="Calibri"/>
                <a:ea typeface="Calibri"/>
              </a:rPr>
              <a:t>Due attività in parallelo: le modifiche fisiche sul veicolo e la rendicontazione digitale. I rami riconvergono in un gateway di sincronizzazione.</a:t>
            </a:r>
            <a:endParaRPr lang="en-US" sz="1100" b="0" u="none" strike="noStrike">
              <a:solidFill>
                <a:srgbClr val="000000"/>
              </a:solidFill>
              <a:effectLst/>
              <a:uFillTx/>
              <a:latin typeface="Arial"/>
            </a:endParaRPr>
          </a:p>
        </p:txBody>
      </p:sp>
      <p:sp>
        <p:nvSpPr>
          <p:cNvPr id="343" name="Text 11"/>
          <p:cNvSpPr/>
          <p:nvPr/>
        </p:nvSpPr>
        <p:spPr>
          <a:xfrm>
            <a:off x="8632080" y="3840480"/>
            <a:ext cx="2925360" cy="2193840"/>
          </a:xfrm>
          <a:prstGeom prst="rect">
            <a:avLst/>
          </a:prstGeom>
          <a:noFill/>
          <a:ln w="0">
            <a:noFill/>
          </a:ln>
        </p:spPr>
        <p:style>
          <a:lnRef idx="0"/>
          <a:fillRef idx="0"/>
          <a:effectRef idx="0"/>
          <a:fontRef idx="minor"/>
        </p:style>
        <p:txBody>
          <a:bodyPr lIns="0" tIns="0" rIns="0" bIns="0" anchor="t">
            <a:noAutofit/>
          </a:bodyPr>
          <a:p>
            <a:pPr marL="177840" indent="-177840" defTabSz="914400">
              <a:lnSpc>
                <a:spcPts val="1701"/>
              </a:lnSpc>
              <a:spcAft>
                <a:spcPts val="400"/>
              </a:spcAft>
              <a:buClr>
                <a:srgbClr val="222F3B"/>
              </a:buClr>
              <a:buFont typeface="Symbol" charset="2"/>
              <a:buChar char=""/>
            </a:pPr>
            <a:r>
              <a:rPr lang="en-US" sz="1150" b="0" u="none" strike="noStrike">
                <a:solidFill>
                  <a:srgbClr val="222F3B"/>
                </a:solidFill>
                <a:effectLst/>
                <a:uFillTx/>
                <a:latin typeface="Calibri"/>
                <a:ea typeface="Calibri"/>
              </a:rPr>
              <a:t>Specifiche tecniche degli interventi</a:t>
            </a:r>
            <a:endParaRPr lang="en-US" sz="1150" b="0" u="none" strike="noStrike">
              <a:solidFill>
                <a:srgbClr val="000000"/>
              </a:solidFill>
              <a:effectLst/>
              <a:uFillTx/>
              <a:latin typeface="Arial"/>
            </a:endParaRPr>
          </a:p>
          <a:p>
            <a:pPr marL="177840" indent="-177840" defTabSz="914400">
              <a:lnSpc>
                <a:spcPts val="1701"/>
              </a:lnSpc>
              <a:spcAft>
                <a:spcPts val="400"/>
              </a:spcAft>
              <a:buClr>
                <a:srgbClr val="222F3B"/>
              </a:buClr>
              <a:buFont typeface="Symbol" charset="2"/>
              <a:buChar char=""/>
            </a:pPr>
            <a:r>
              <a:rPr lang="en-US" sz="1150" b="0" u="none" strike="noStrike">
                <a:solidFill>
                  <a:srgbClr val="222F3B"/>
                </a:solidFill>
                <a:effectLst/>
                <a:uFillTx/>
                <a:latin typeface="Calibri"/>
                <a:ea typeface="Calibri"/>
              </a:rPr>
              <a:t>Codici seriali dei componenti</a:t>
            </a:r>
            <a:endParaRPr lang="en-US" sz="1150" b="0" u="none" strike="noStrike">
              <a:solidFill>
                <a:srgbClr val="000000"/>
              </a:solidFill>
              <a:effectLst/>
              <a:uFillTx/>
              <a:latin typeface="Arial"/>
            </a:endParaRPr>
          </a:p>
          <a:p>
            <a:pPr marL="177840" indent="-177840" defTabSz="914400">
              <a:lnSpc>
                <a:spcPts val="1701"/>
              </a:lnSpc>
              <a:spcAft>
                <a:spcPts val="400"/>
              </a:spcAft>
              <a:buClr>
                <a:srgbClr val="222F3B"/>
              </a:buClr>
              <a:buFont typeface="Symbol" charset="2"/>
              <a:buChar char=""/>
            </a:pPr>
            <a:r>
              <a:rPr lang="en-US" sz="1150" b="0" u="none" strike="noStrike">
                <a:solidFill>
                  <a:srgbClr val="222F3B"/>
                </a:solidFill>
                <a:effectLst/>
                <a:uFillTx/>
                <a:latin typeface="Calibri"/>
                <a:ea typeface="Calibri"/>
              </a:rPr>
              <a:t>Documentazione tecnica</a:t>
            </a:r>
            <a:endParaRPr lang="en-US" sz="1150" b="0" u="none" strike="noStrike">
              <a:solidFill>
                <a:srgbClr val="000000"/>
              </a:solidFill>
              <a:effectLst/>
              <a:uFillTx/>
              <a:latin typeface="Arial"/>
            </a:endParaRPr>
          </a:p>
          <a:p>
            <a:pPr marL="177840" indent="-177840" defTabSz="914400">
              <a:lnSpc>
                <a:spcPts val="1701"/>
              </a:lnSpc>
              <a:spcAft>
                <a:spcPts val="400"/>
              </a:spcAft>
              <a:buClr>
                <a:srgbClr val="222F3B"/>
              </a:buClr>
              <a:buFont typeface="Symbol" charset="2"/>
              <a:buChar char=""/>
            </a:pPr>
            <a:r>
              <a:rPr lang="en-US" sz="1150" b="0" u="none" strike="noStrike">
                <a:solidFill>
                  <a:srgbClr val="222F3B"/>
                </a:solidFill>
                <a:effectLst/>
                <a:uFillTx/>
                <a:latin typeface="Calibri"/>
                <a:ea typeface="Calibri"/>
              </a:rPr>
              <a:t>Salvataggio strutturato off-chain</a:t>
            </a:r>
            <a:endParaRPr lang="en-US" sz="1150" b="0" u="none" strike="noStrike">
              <a:solidFill>
                <a:srgbClr val="000000"/>
              </a:solidFill>
              <a:effectLst/>
              <a:uFillTx/>
              <a:latin typeface="Arial"/>
            </a:endParaRPr>
          </a:p>
          <a:p>
            <a:pPr marL="177840" indent="-177840" defTabSz="914400">
              <a:lnSpc>
                <a:spcPts val="1701"/>
              </a:lnSpc>
              <a:spcAft>
                <a:spcPts val="400"/>
              </a:spcAft>
              <a:buClr>
                <a:srgbClr val="222F3B"/>
              </a:buClr>
              <a:buFont typeface="Symbol" charset="2"/>
              <a:buChar char=""/>
            </a:pPr>
            <a:r>
              <a:rPr lang="en-US" sz="1150" b="0" u="none" strike="noStrike">
                <a:solidFill>
                  <a:srgbClr val="222F3B"/>
                </a:solidFill>
                <a:effectLst/>
                <a:uFillTx/>
                <a:latin typeface="Calibri"/>
                <a:ea typeface="Calibri"/>
              </a:rPr>
              <a:t>Hash registrato sulla blockchain</a:t>
            </a:r>
            <a:endParaRPr lang="en-US" sz="1150" b="0" u="none" strike="noStrike">
              <a:solidFill>
                <a:srgbClr val="000000"/>
              </a:solidFill>
              <a:effectLst/>
              <a:uFillTx/>
              <a:latin typeface="Arial"/>
            </a:endParaRPr>
          </a:p>
          <a:p>
            <a:pPr marL="177840" indent="-177840" defTabSz="914400">
              <a:lnSpc>
                <a:spcPts val="1701"/>
              </a:lnSpc>
              <a:spcAft>
                <a:spcPts val="400"/>
              </a:spcAft>
              <a:buClr>
                <a:srgbClr val="222F3B"/>
              </a:buClr>
              <a:buFont typeface="Symbol" charset="2"/>
              <a:buChar char=""/>
            </a:pPr>
            <a:r>
              <a:rPr lang="en-US" sz="1150" b="0" u="none" strike="noStrike">
                <a:solidFill>
                  <a:srgbClr val="222F3B"/>
                </a:solidFill>
                <a:effectLst/>
                <a:uFillTx/>
                <a:latin typeface="Calibri"/>
                <a:ea typeface="Calibri"/>
              </a:rPr>
              <a:t>Notifica al Centro di Certificazione</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344"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4 · PROCESSI IN BPMN</a:t>
            </a:r>
            <a:endParaRPr lang="en-US" sz="1050" b="0" u="none" strike="noStrike">
              <a:solidFill>
                <a:srgbClr val="000000"/>
              </a:solidFill>
              <a:effectLst/>
              <a:uFillTx/>
              <a:latin typeface="Arial"/>
            </a:endParaRPr>
          </a:p>
        </p:txBody>
      </p:sp>
      <p:sp>
        <p:nvSpPr>
          <p:cNvPr id="345"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Ispezione e certificazione</a:t>
            </a:r>
            <a:endParaRPr lang="en-US" sz="3100" b="0" u="none" strike="noStrike">
              <a:solidFill>
                <a:srgbClr val="000000"/>
              </a:solidFill>
              <a:effectLst/>
              <a:uFillTx/>
              <a:latin typeface="Arial"/>
            </a:endParaRPr>
          </a:p>
        </p:txBody>
      </p:sp>
      <p:sp>
        <p:nvSpPr>
          <p:cNvPr id="346"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18</a:t>
            </a:r>
            <a:endParaRPr lang="en-US" sz="1000" b="0" u="none" strike="noStrike">
              <a:solidFill>
                <a:srgbClr val="000000"/>
              </a:solidFill>
              <a:effectLst/>
              <a:uFillTx/>
              <a:latin typeface="Arial"/>
            </a:endParaRPr>
          </a:p>
        </p:txBody>
      </p:sp>
      <p:sp>
        <p:nvSpPr>
          <p:cNvPr id="347"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348" name="Shape 4"/>
          <p:cNvSpPr/>
          <p:nvPr/>
        </p:nvSpPr>
        <p:spPr>
          <a:xfrm>
            <a:off x="1330560" y="1353240"/>
            <a:ext cx="9518040" cy="3245400"/>
          </a:xfrm>
          <a:prstGeom prst="roundRect">
            <a:avLst>
              <a:gd name="adj" fmla="val 1972"/>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49" name="Image 0" descr="/home/claude/tl/img/03_ispezione_e_certificazione.png"/>
          <p:cNvPicPr/>
          <p:nvPr/>
        </p:nvPicPr>
        <p:blipFill>
          <a:blip r:embed="rId1"/>
          <a:stretch/>
        </p:blipFill>
        <p:spPr>
          <a:xfrm>
            <a:off x="1431000" y="1454040"/>
            <a:ext cx="9316800" cy="3044160"/>
          </a:xfrm>
          <a:prstGeom prst="rect">
            <a:avLst/>
          </a:prstGeom>
          <a:noFill/>
          <a:ln w="0">
            <a:noFill/>
          </a:ln>
        </p:spPr>
      </p:pic>
      <p:sp>
        <p:nvSpPr>
          <p:cNvPr id="350" name="Shape 5"/>
          <p:cNvSpPr/>
          <p:nvPr/>
        </p:nvSpPr>
        <p:spPr>
          <a:xfrm>
            <a:off x="603360" y="4754880"/>
            <a:ext cx="5394240" cy="137088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1" name="Shape 6"/>
          <p:cNvSpPr/>
          <p:nvPr/>
        </p:nvSpPr>
        <p:spPr>
          <a:xfrm>
            <a:off x="841320" y="497448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2" name="Text 7"/>
          <p:cNvSpPr/>
          <p:nvPr/>
        </p:nvSpPr>
        <p:spPr>
          <a:xfrm>
            <a:off x="841320" y="497448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a:t>
            </a:r>
            <a:endParaRPr lang="en-US" sz="1300" b="0" u="none" strike="noStrike">
              <a:solidFill>
                <a:srgbClr val="000000"/>
              </a:solidFill>
              <a:effectLst/>
              <a:uFillTx/>
              <a:latin typeface="Arial"/>
            </a:endParaRPr>
          </a:p>
        </p:txBody>
      </p:sp>
      <p:sp>
        <p:nvSpPr>
          <p:cNvPr id="353" name="Text 8"/>
          <p:cNvSpPr/>
          <p:nvPr/>
        </p:nvSpPr>
        <p:spPr>
          <a:xfrm>
            <a:off x="1371600" y="4974480"/>
            <a:ext cx="43884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Esito negativo</a:t>
            </a:r>
            <a:endParaRPr lang="en-US" sz="1400" b="0" u="none" strike="noStrike">
              <a:solidFill>
                <a:srgbClr val="000000"/>
              </a:solidFill>
              <a:effectLst/>
              <a:uFillTx/>
              <a:latin typeface="Arial"/>
            </a:endParaRPr>
          </a:p>
        </p:txBody>
      </p:sp>
      <p:sp>
        <p:nvSpPr>
          <p:cNvPr id="354" name="Text 9"/>
          <p:cNvSpPr/>
          <p:nvPr/>
        </p:nvSpPr>
        <p:spPr>
          <a:xfrm>
            <a:off x="859680" y="5340240"/>
            <a:ext cx="4900320" cy="69408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56687A"/>
                </a:solidFill>
                <a:effectLst/>
                <a:uFillTx/>
                <a:latin typeface="Calibri"/>
                <a:ea typeface="Calibri"/>
              </a:rPr>
              <a:t>Modifiche non conformi: si genera un report di anomalia e il ramo chiude con un Message End Event verso l'Azienda di Tuning, che riceve la pratica per le correzioni.</a:t>
            </a:r>
            <a:endParaRPr lang="en-US" sz="1100" b="0" u="none" strike="noStrike">
              <a:solidFill>
                <a:srgbClr val="000000"/>
              </a:solidFill>
              <a:effectLst/>
              <a:uFillTx/>
              <a:latin typeface="Arial"/>
            </a:endParaRPr>
          </a:p>
        </p:txBody>
      </p:sp>
      <p:sp>
        <p:nvSpPr>
          <p:cNvPr id="355" name="Shape 10"/>
          <p:cNvSpPr/>
          <p:nvPr/>
        </p:nvSpPr>
        <p:spPr>
          <a:xfrm>
            <a:off x="6181200" y="4754880"/>
            <a:ext cx="5394240" cy="1370880"/>
          </a:xfrm>
          <a:prstGeom prst="roundRect">
            <a:avLst>
              <a:gd name="adj" fmla="val 4667"/>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6" name="Shape 11"/>
          <p:cNvSpPr/>
          <p:nvPr/>
        </p:nvSpPr>
        <p:spPr>
          <a:xfrm>
            <a:off x="6419160" y="4974480"/>
            <a:ext cx="401760" cy="401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7" name="Text 12"/>
          <p:cNvSpPr/>
          <p:nvPr/>
        </p:nvSpPr>
        <p:spPr>
          <a:xfrm>
            <a:off x="6419160" y="497448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a:t>
            </a:r>
            <a:endParaRPr lang="en-US" sz="1300" b="0" u="none" strike="noStrike">
              <a:solidFill>
                <a:srgbClr val="000000"/>
              </a:solidFill>
              <a:effectLst/>
              <a:uFillTx/>
              <a:latin typeface="Arial"/>
            </a:endParaRPr>
          </a:p>
        </p:txBody>
      </p:sp>
      <p:sp>
        <p:nvSpPr>
          <p:cNvPr id="358" name="Text 13"/>
          <p:cNvSpPr/>
          <p:nvPr/>
        </p:nvSpPr>
        <p:spPr>
          <a:xfrm>
            <a:off x="6949440" y="4974480"/>
            <a:ext cx="43884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Esito positivo</a:t>
            </a:r>
            <a:endParaRPr lang="en-US" sz="1400" b="0" u="none" strike="noStrike">
              <a:solidFill>
                <a:srgbClr val="000000"/>
              </a:solidFill>
              <a:effectLst/>
              <a:uFillTx/>
              <a:latin typeface="Arial"/>
            </a:endParaRPr>
          </a:p>
        </p:txBody>
      </p:sp>
      <p:sp>
        <p:nvSpPr>
          <p:cNvPr id="359" name="Text 14"/>
          <p:cNvSpPr/>
          <p:nvPr/>
        </p:nvSpPr>
        <p:spPr>
          <a:xfrm>
            <a:off x="6437520" y="5340240"/>
            <a:ext cx="4900320" cy="694080"/>
          </a:xfrm>
          <a:prstGeom prst="rect">
            <a:avLst/>
          </a:prstGeom>
          <a:noFill/>
          <a:ln w="0">
            <a:noFill/>
          </a:ln>
        </p:spPr>
        <p:style>
          <a:lnRef idx="0"/>
          <a:fillRef idx="0"/>
          <a:effectRef idx="0"/>
          <a:fontRef idx="minor"/>
        </p:style>
        <p:txBody>
          <a:bodyPr lIns="0" tIns="0" rIns="0" bIns="0" anchor="ctr">
            <a:noAutofit/>
          </a:bodyPr>
          <a:p>
            <a:pPr defTabSz="914400">
              <a:lnSpc>
                <a:spcPts val="1500"/>
              </a:lnSpc>
              <a:tabLst>
                <a:tab pos="0" algn="l"/>
              </a:tabLst>
            </a:pPr>
            <a:r>
              <a:rPr lang="en-US" sz="1100" b="0" u="none" strike="noStrike">
                <a:solidFill>
                  <a:srgbClr val="4A4124"/>
                </a:solidFill>
                <a:effectLst/>
                <a:uFillTx/>
                <a:latin typeface="Calibri"/>
                <a:ea typeface="Calibri"/>
              </a:rPr>
              <a:t>Collaudo superato: certificato archiviato off-chain, hash sulla blockchain e stato del DMVP aggiornato a «Certificato e Conforme».</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1"/>
        </a:solidFill>
      </p:bgPr>
    </p:bg>
    <p:spTree>
      <p:nvGrpSpPr>
        <p:cNvPr id="1" name=""/>
        <p:cNvGrpSpPr/>
        <p:nvPr/>
      </p:nvGrpSpPr>
      <p:grpSpPr>
        <a:xfrm>
          <a:off x="0" y="0"/>
          <a:ext cx="0" cy="0"/>
          <a:chOff x="0" y="0"/>
          <a:chExt cx="0" cy="0"/>
        </a:xfrm>
      </p:grpSpPr>
      <p:sp>
        <p:nvSpPr>
          <p:cNvPr id="360" name="Shape 0"/>
          <p:cNvSpPr/>
          <p:nvPr/>
        </p:nvSpPr>
        <p:spPr>
          <a:xfrm>
            <a:off x="731520" y="2084760"/>
            <a:ext cx="1370880" cy="1370880"/>
          </a:xfrm>
          <a:prstGeom prst="ellipse">
            <a:avLst/>
          </a:prstGeom>
          <a:solidFill>
            <a:srgbClr val="0B1D31"/>
          </a:solidFill>
          <a:ln w="1778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1" name="Text 1"/>
          <p:cNvSpPr/>
          <p:nvPr/>
        </p:nvSpPr>
        <p:spPr>
          <a:xfrm>
            <a:off x="731520" y="2084760"/>
            <a:ext cx="1370880" cy="137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400" b="1" u="none" strike="noStrike">
                <a:solidFill>
                  <a:srgbClr val="C2A04A"/>
                </a:solidFill>
                <a:effectLst/>
                <a:uFillTx/>
                <a:latin typeface="Cambria"/>
                <a:ea typeface="Cambria"/>
              </a:rPr>
              <a:t>03</a:t>
            </a:r>
            <a:endParaRPr lang="en-US" sz="4400" b="0" u="none" strike="noStrike">
              <a:solidFill>
                <a:srgbClr val="FFFFFF"/>
              </a:solidFill>
              <a:effectLst/>
              <a:uFillTx/>
              <a:latin typeface="Arial"/>
            </a:endParaRPr>
          </a:p>
        </p:txBody>
      </p:sp>
      <p:sp>
        <p:nvSpPr>
          <p:cNvPr id="362" name="Text 2"/>
          <p:cNvSpPr/>
          <p:nvPr/>
        </p:nvSpPr>
        <p:spPr>
          <a:xfrm>
            <a:off x="2514600" y="22129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41" strike="noStrike">
                <a:solidFill>
                  <a:srgbClr val="C2A04A"/>
                </a:solidFill>
                <a:effectLst/>
                <a:uFillTx/>
                <a:latin typeface="Calibri"/>
                <a:ea typeface="Calibri"/>
              </a:rPr>
              <a:t>CAPITOLI 5 · 6 · 7</a:t>
            </a:r>
            <a:endParaRPr lang="en-US" sz="1100" b="0" u="none" strike="noStrike">
              <a:solidFill>
                <a:srgbClr val="FFFFFF"/>
              </a:solidFill>
              <a:effectLst/>
              <a:uFillTx/>
              <a:latin typeface="Arial"/>
            </a:endParaRPr>
          </a:p>
        </p:txBody>
      </p:sp>
      <p:sp>
        <p:nvSpPr>
          <p:cNvPr id="363" name="Text 3"/>
          <p:cNvSpPr/>
          <p:nvPr/>
        </p:nvSpPr>
        <p:spPr>
          <a:xfrm>
            <a:off x="2487240" y="2505600"/>
            <a:ext cx="8868960" cy="913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FAF6EC"/>
                </a:solidFill>
                <a:effectLst/>
                <a:uFillTx/>
                <a:latin typeface="Cambria"/>
                <a:ea typeface="Cambria"/>
              </a:rPr>
              <a:t>Fattibilità strategica, realizzativa ed economica</a:t>
            </a:r>
            <a:endParaRPr lang="en-US" sz="3400" b="0" u="none" strike="noStrike">
              <a:solidFill>
                <a:srgbClr val="FFFFFF"/>
              </a:solidFill>
              <a:effectLst/>
              <a:uFillTx/>
              <a:latin typeface="Arial"/>
            </a:endParaRPr>
          </a:p>
        </p:txBody>
      </p:sp>
      <p:sp>
        <p:nvSpPr>
          <p:cNvPr id="364" name="Text 4"/>
          <p:cNvSpPr/>
          <p:nvPr/>
        </p:nvSpPr>
        <p:spPr>
          <a:xfrm>
            <a:off x="2523600" y="3547800"/>
            <a:ext cx="8777520" cy="822240"/>
          </a:xfrm>
          <a:prstGeom prst="rect">
            <a:avLst/>
          </a:prstGeom>
          <a:noFill/>
          <a:ln w="0">
            <a:noFill/>
          </a:ln>
        </p:spPr>
        <p:style>
          <a:lnRef idx="0"/>
          <a:fillRef idx="0"/>
          <a:effectRef idx="0"/>
          <a:fontRef idx="minor"/>
        </p:style>
        <p:txBody>
          <a:bodyPr lIns="0" tIns="0" rIns="0" bIns="0" anchor="ctr">
            <a:noAutofit/>
          </a:bodyPr>
          <a:p>
            <a:pPr defTabSz="914400">
              <a:lnSpc>
                <a:spcPts val="2100"/>
              </a:lnSpc>
              <a:tabLst>
                <a:tab pos="0" algn="l"/>
              </a:tabLst>
            </a:pPr>
            <a:r>
              <a:rPr lang="en-US" sz="1350" b="0" u="none" strike="noStrike">
                <a:solidFill>
                  <a:srgbClr val="A8BACB"/>
                </a:solidFill>
                <a:effectLst/>
                <a:uFillTx/>
                <a:latin typeface="Calibri"/>
                <a:ea typeface="Calibri"/>
              </a:rPr>
              <a:t>Analisi SWOT, Project Plan su sei anni e Business Plan con Break Even Point e ROI.</a:t>
            </a:r>
            <a:endParaRPr lang="en-US" sz="13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365"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5 · ANALISI SWOT</a:t>
            </a:r>
            <a:endParaRPr lang="en-US" sz="1050" b="0" u="none" strike="noStrike">
              <a:solidFill>
                <a:srgbClr val="000000"/>
              </a:solidFill>
              <a:effectLst/>
              <a:uFillTx/>
              <a:latin typeface="Arial"/>
            </a:endParaRPr>
          </a:p>
        </p:txBody>
      </p:sp>
      <p:sp>
        <p:nvSpPr>
          <p:cNvPr id="366"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Valutazione strategica dell'iniziativa</a:t>
            </a:r>
            <a:endParaRPr lang="en-US" sz="3100" b="0" u="none" strike="noStrike">
              <a:solidFill>
                <a:srgbClr val="000000"/>
              </a:solidFill>
              <a:effectLst/>
              <a:uFillTx/>
              <a:latin typeface="Arial"/>
            </a:endParaRPr>
          </a:p>
        </p:txBody>
      </p:sp>
      <p:sp>
        <p:nvSpPr>
          <p:cNvPr id="367"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19</a:t>
            </a:r>
            <a:endParaRPr lang="en-US" sz="1000" b="0" u="none" strike="noStrike">
              <a:solidFill>
                <a:srgbClr val="000000"/>
              </a:solidFill>
              <a:effectLst/>
              <a:uFillTx/>
              <a:latin typeface="Arial"/>
            </a:endParaRPr>
          </a:p>
        </p:txBody>
      </p:sp>
      <p:sp>
        <p:nvSpPr>
          <p:cNvPr id="368"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369" name="Shape 4"/>
          <p:cNvSpPr/>
          <p:nvPr/>
        </p:nvSpPr>
        <p:spPr>
          <a:xfrm>
            <a:off x="1313640" y="1371600"/>
            <a:ext cx="5162400" cy="3931200"/>
          </a:xfrm>
          <a:prstGeom prst="roundRect">
            <a:avLst>
              <a:gd name="adj" fmla="val 162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70" name="Image 0" descr="/home/claude/tl/img/swot.png"/>
          <p:cNvPicPr/>
          <p:nvPr/>
        </p:nvPicPr>
        <p:blipFill>
          <a:blip r:embed="rId1"/>
          <a:stretch/>
        </p:blipFill>
        <p:spPr>
          <a:xfrm>
            <a:off x="1414440" y="1472040"/>
            <a:ext cx="4961160" cy="3729960"/>
          </a:xfrm>
          <a:prstGeom prst="rect">
            <a:avLst/>
          </a:prstGeom>
          <a:noFill/>
          <a:ln w="0">
            <a:noFill/>
          </a:ln>
        </p:spPr>
      </p:pic>
      <p:sp>
        <p:nvSpPr>
          <p:cNvPr id="371" name="Shape 5"/>
          <p:cNvSpPr/>
          <p:nvPr/>
        </p:nvSpPr>
        <p:spPr>
          <a:xfrm>
            <a:off x="7406640" y="1389960"/>
            <a:ext cx="4168800" cy="913680"/>
          </a:xfrm>
          <a:prstGeom prst="roundRect">
            <a:avLst>
              <a:gd name="adj" fmla="val 700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2" name="Text 6"/>
          <p:cNvSpPr/>
          <p:nvPr/>
        </p:nvSpPr>
        <p:spPr>
          <a:xfrm>
            <a:off x="7626240" y="1481400"/>
            <a:ext cx="374832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Forza · Immutabilità</a:t>
            </a:r>
            <a:endParaRPr lang="en-US" sz="1300" b="0" u="none" strike="noStrike">
              <a:solidFill>
                <a:srgbClr val="000000"/>
              </a:solidFill>
              <a:effectLst/>
              <a:uFillTx/>
              <a:latin typeface="Arial"/>
            </a:endParaRPr>
          </a:p>
        </p:txBody>
      </p:sp>
      <p:sp>
        <p:nvSpPr>
          <p:cNvPr id="373" name="Text 7"/>
          <p:cNvSpPr/>
          <p:nvPr/>
        </p:nvSpPr>
        <p:spPr>
          <a:xfrm>
            <a:off x="7626240" y="1737360"/>
            <a:ext cx="3748320" cy="4932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050" b="0" u="none" strike="noStrike">
                <a:solidFill>
                  <a:srgbClr val="56687A"/>
                </a:solidFill>
                <a:effectLst/>
                <a:uFillTx/>
                <a:latin typeface="Calibri"/>
                <a:ea typeface="Calibri"/>
              </a:rPr>
              <a:t>L'ancoraggio degli hash azzera retrodatazioni e falsificazioni; l'architettura ibrida la rende sostenibile.</a:t>
            </a:r>
            <a:endParaRPr lang="en-US" sz="1050" b="0" u="none" strike="noStrike">
              <a:solidFill>
                <a:srgbClr val="000000"/>
              </a:solidFill>
              <a:effectLst/>
              <a:uFillTx/>
              <a:latin typeface="Arial"/>
            </a:endParaRPr>
          </a:p>
        </p:txBody>
      </p:sp>
      <p:sp>
        <p:nvSpPr>
          <p:cNvPr id="374" name="Shape 8"/>
          <p:cNvSpPr/>
          <p:nvPr/>
        </p:nvSpPr>
        <p:spPr>
          <a:xfrm>
            <a:off x="7406640" y="2395800"/>
            <a:ext cx="4168800" cy="913680"/>
          </a:xfrm>
          <a:prstGeom prst="roundRect">
            <a:avLst>
              <a:gd name="adj" fmla="val 700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5" name="Text 9"/>
          <p:cNvSpPr/>
          <p:nvPr/>
        </p:nvSpPr>
        <p:spPr>
          <a:xfrm>
            <a:off x="7626240" y="2487240"/>
            <a:ext cx="374832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Debolezza · Massa critica</a:t>
            </a:r>
            <a:endParaRPr lang="en-US" sz="1300" b="0" u="none" strike="noStrike">
              <a:solidFill>
                <a:srgbClr val="000000"/>
              </a:solidFill>
              <a:effectLst/>
              <a:uFillTx/>
              <a:latin typeface="Arial"/>
            </a:endParaRPr>
          </a:p>
        </p:txBody>
      </p:sp>
      <p:sp>
        <p:nvSpPr>
          <p:cNvPr id="376" name="Text 10"/>
          <p:cNvSpPr/>
          <p:nvPr/>
        </p:nvSpPr>
        <p:spPr>
          <a:xfrm>
            <a:off x="7626240" y="2743200"/>
            <a:ext cx="3748320" cy="4932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050" b="0" u="none" strike="noStrike">
                <a:solidFill>
                  <a:srgbClr val="56687A"/>
                </a:solidFill>
                <a:effectLst/>
                <a:uFillTx/>
                <a:latin typeface="Calibri"/>
                <a:ea typeface="Calibri"/>
              </a:rPr>
              <a:t>Il valore cresce col numero di aderenti: senza centri e concessionarie il DMVP resta incompleto.</a:t>
            </a:r>
            <a:endParaRPr lang="en-US" sz="1050" b="0" u="none" strike="noStrike">
              <a:solidFill>
                <a:srgbClr val="000000"/>
              </a:solidFill>
              <a:effectLst/>
              <a:uFillTx/>
              <a:latin typeface="Arial"/>
            </a:endParaRPr>
          </a:p>
        </p:txBody>
      </p:sp>
      <p:sp>
        <p:nvSpPr>
          <p:cNvPr id="377" name="Shape 11"/>
          <p:cNvSpPr/>
          <p:nvPr/>
        </p:nvSpPr>
        <p:spPr>
          <a:xfrm>
            <a:off x="7406640" y="3401640"/>
            <a:ext cx="4168800" cy="913680"/>
          </a:xfrm>
          <a:prstGeom prst="roundRect">
            <a:avLst>
              <a:gd name="adj" fmla="val 700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8" name="Text 12"/>
          <p:cNvSpPr/>
          <p:nvPr/>
        </p:nvSpPr>
        <p:spPr>
          <a:xfrm>
            <a:off x="7626240" y="3493080"/>
            <a:ext cx="374832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Opportunità · Trasparenza</a:t>
            </a:r>
            <a:endParaRPr lang="en-US" sz="1300" b="0" u="none" strike="noStrike">
              <a:solidFill>
                <a:srgbClr val="000000"/>
              </a:solidFill>
              <a:effectLst/>
              <a:uFillTx/>
              <a:latin typeface="Arial"/>
            </a:endParaRPr>
          </a:p>
        </p:txBody>
      </p:sp>
      <p:sp>
        <p:nvSpPr>
          <p:cNvPr id="379" name="Text 13"/>
          <p:cNvSpPr/>
          <p:nvPr/>
        </p:nvSpPr>
        <p:spPr>
          <a:xfrm>
            <a:off x="7626240" y="3749040"/>
            <a:ext cx="3748320" cy="4932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050" b="0" u="none" strike="noStrike">
                <a:solidFill>
                  <a:srgbClr val="56687A"/>
                </a:solidFill>
                <a:effectLst/>
                <a:uFillTx/>
                <a:latin typeface="Calibri"/>
                <a:ea typeface="Calibri"/>
              </a:rPr>
              <a:t>Acquirenti, assicurazioni e autorità chiedono garanzie crescenti; i passaporti digitali di prodotto spingono nella stessa direzione.</a:t>
            </a:r>
            <a:endParaRPr lang="en-US" sz="1050" b="0" u="none" strike="noStrike">
              <a:solidFill>
                <a:srgbClr val="000000"/>
              </a:solidFill>
              <a:effectLst/>
              <a:uFillTx/>
              <a:latin typeface="Arial"/>
            </a:endParaRPr>
          </a:p>
        </p:txBody>
      </p:sp>
      <p:sp>
        <p:nvSpPr>
          <p:cNvPr id="380" name="Shape 14"/>
          <p:cNvSpPr/>
          <p:nvPr/>
        </p:nvSpPr>
        <p:spPr>
          <a:xfrm>
            <a:off x="7406640" y="4407480"/>
            <a:ext cx="4168800" cy="913680"/>
          </a:xfrm>
          <a:prstGeom prst="roundRect">
            <a:avLst>
              <a:gd name="adj" fmla="val 700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1" name="Text 15"/>
          <p:cNvSpPr/>
          <p:nvPr/>
        </p:nvSpPr>
        <p:spPr>
          <a:xfrm>
            <a:off x="7626240" y="4498920"/>
            <a:ext cx="374832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Minaccia · Riconoscimento</a:t>
            </a:r>
            <a:endParaRPr lang="en-US" sz="1300" b="0" u="none" strike="noStrike">
              <a:solidFill>
                <a:srgbClr val="000000"/>
              </a:solidFill>
              <a:effectLst/>
              <a:uFillTx/>
              <a:latin typeface="Arial"/>
            </a:endParaRPr>
          </a:p>
        </p:txBody>
      </p:sp>
      <p:sp>
        <p:nvSpPr>
          <p:cNvPr id="382" name="Text 16"/>
          <p:cNvSpPr/>
          <p:nvPr/>
        </p:nvSpPr>
        <p:spPr>
          <a:xfrm>
            <a:off x="7626240" y="4754880"/>
            <a:ext cx="3748320" cy="49320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050" b="0" u="none" strike="noStrike">
                <a:solidFill>
                  <a:srgbClr val="56687A"/>
                </a:solidFill>
                <a:effectLst/>
                <a:uFillTx/>
                <a:latin typeface="Calibri"/>
                <a:ea typeface="Calibri"/>
              </a:rPr>
              <a:t>Senza valore formale dagli enti, il DMVP resta un adempimento in più e non sostituisce nulla.</a:t>
            </a:r>
            <a:endParaRPr lang="en-US" sz="1050" b="0" u="none" strike="noStrike">
              <a:solidFill>
                <a:srgbClr val="000000"/>
              </a:solidFill>
              <a:effectLst/>
              <a:uFillTx/>
              <a:latin typeface="Arial"/>
            </a:endParaRPr>
          </a:p>
        </p:txBody>
      </p:sp>
      <p:sp>
        <p:nvSpPr>
          <p:cNvPr id="383" name="Shape 17"/>
          <p:cNvSpPr/>
          <p:nvPr/>
        </p:nvSpPr>
        <p:spPr>
          <a:xfrm>
            <a:off x="603360" y="5440680"/>
            <a:ext cx="10972080" cy="749160"/>
          </a:xfrm>
          <a:prstGeom prst="roundRect">
            <a:avLst>
              <a:gd name="adj" fmla="val 8537"/>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4" name="Shape 18"/>
          <p:cNvSpPr/>
          <p:nvPr/>
        </p:nvSpPr>
        <p:spPr>
          <a:xfrm>
            <a:off x="841320" y="5605200"/>
            <a:ext cx="419760" cy="419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5" name="Text 19"/>
          <p:cNvSpPr/>
          <p:nvPr/>
        </p:nvSpPr>
        <p:spPr>
          <a:xfrm>
            <a:off x="841320" y="560520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304E"/>
                </a:solidFill>
                <a:effectLst/>
                <a:uFillTx/>
                <a:latin typeface="Cambria"/>
                <a:ea typeface="Cambria"/>
              </a:rPr>
              <a:t>✓</a:t>
            </a:r>
            <a:endParaRPr lang="en-US" sz="1200" b="0" u="none" strike="noStrike">
              <a:solidFill>
                <a:srgbClr val="000000"/>
              </a:solidFill>
              <a:effectLst/>
              <a:uFillTx/>
              <a:latin typeface="Arial"/>
            </a:endParaRPr>
          </a:p>
        </p:txBody>
      </p:sp>
      <p:sp>
        <p:nvSpPr>
          <p:cNvPr id="386" name="Text 20"/>
          <p:cNvSpPr/>
          <p:nvPr/>
        </p:nvSpPr>
        <p:spPr>
          <a:xfrm>
            <a:off x="1444680" y="5568840"/>
            <a:ext cx="9874800" cy="49320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250" b="0" u="none" strike="noStrike">
                <a:solidFill>
                  <a:srgbClr val="4A4124"/>
                </a:solidFill>
                <a:effectLst/>
                <a:uFillTx/>
                <a:latin typeface="Calibri"/>
                <a:ea typeface="Calibri"/>
              </a:rPr>
              <a:t>Valutazione positiva: conviene procedere. Due leve di mitigazione, e la seconda risolve insieme la debolezza e la minaccia — adozione progressiva con accesso graduale per le realtà piccole, e collaborazioni con Motorizzazione, associazioni di categoria e assicurazioni.</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387"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6 · PROJECT PLAN</a:t>
            </a:r>
            <a:endParaRPr lang="en-US" sz="1050" b="0" u="none" strike="noStrike">
              <a:solidFill>
                <a:srgbClr val="000000"/>
              </a:solidFill>
              <a:effectLst/>
              <a:uFillTx/>
              <a:latin typeface="Arial"/>
            </a:endParaRPr>
          </a:p>
        </p:txBody>
      </p:sp>
      <p:sp>
        <p:nvSpPr>
          <p:cNvPr id="388"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Sei anni, due fasi</a:t>
            </a:r>
            <a:endParaRPr lang="en-US" sz="3100" b="0" u="none" strike="noStrike">
              <a:solidFill>
                <a:srgbClr val="000000"/>
              </a:solidFill>
              <a:effectLst/>
              <a:uFillTx/>
              <a:latin typeface="Arial"/>
            </a:endParaRPr>
          </a:p>
        </p:txBody>
      </p:sp>
      <p:sp>
        <p:nvSpPr>
          <p:cNvPr id="389"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20</a:t>
            </a:r>
            <a:endParaRPr lang="en-US" sz="1000" b="0" u="none" strike="noStrike">
              <a:solidFill>
                <a:srgbClr val="000000"/>
              </a:solidFill>
              <a:effectLst/>
              <a:uFillTx/>
              <a:latin typeface="Arial"/>
            </a:endParaRPr>
          </a:p>
        </p:txBody>
      </p:sp>
      <p:sp>
        <p:nvSpPr>
          <p:cNvPr id="390"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391" name="Shape 4"/>
          <p:cNvSpPr/>
          <p:nvPr/>
        </p:nvSpPr>
        <p:spPr>
          <a:xfrm>
            <a:off x="603360" y="1389960"/>
            <a:ext cx="2577960" cy="137088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2" name="Text 5"/>
          <p:cNvSpPr/>
          <p:nvPr/>
        </p:nvSpPr>
        <p:spPr>
          <a:xfrm>
            <a:off x="731520" y="1609200"/>
            <a:ext cx="2322000" cy="51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500" b="1" u="none" strike="noStrike">
                <a:solidFill>
                  <a:srgbClr val="14304E"/>
                </a:solidFill>
                <a:effectLst/>
                <a:uFillTx/>
                <a:latin typeface="Cambria"/>
                <a:ea typeface="Cambria"/>
              </a:rPr>
              <a:t>6 anni</a:t>
            </a:r>
            <a:endParaRPr lang="en-US" sz="2500" b="0" u="none" strike="noStrike">
              <a:solidFill>
                <a:srgbClr val="000000"/>
              </a:solidFill>
              <a:effectLst/>
              <a:uFillTx/>
              <a:latin typeface="Arial"/>
            </a:endParaRPr>
          </a:p>
        </p:txBody>
      </p:sp>
      <p:sp>
        <p:nvSpPr>
          <p:cNvPr id="393" name="Text 6"/>
          <p:cNvSpPr/>
          <p:nvPr/>
        </p:nvSpPr>
        <p:spPr>
          <a:xfrm>
            <a:off x="731520" y="2139840"/>
            <a:ext cx="2322000" cy="4381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Dal 1° gennaio 2026</a:t>
            </a:r>
            <a:endParaRPr lang="en-US" sz="11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al 31 dicembre 2031</a:t>
            </a:r>
            <a:endParaRPr lang="en-US" sz="1100" b="0" u="none" strike="noStrike">
              <a:solidFill>
                <a:srgbClr val="000000"/>
              </a:solidFill>
              <a:effectLst/>
              <a:uFillTx/>
              <a:latin typeface="Arial"/>
            </a:endParaRPr>
          </a:p>
        </p:txBody>
      </p:sp>
      <p:sp>
        <p:nvSpPr>
          <p:cNvPr id="394" name="Shape 7"/>
          <p:cNvSpPr/>
          <p:nvPr/>
        </p:nvSpPr>
        <p:spPr>
          <a:xfrm>
            <a:off x="3401640" y="1389960"/>
            <a:ext cx="2577960" cy="137088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5" name="Text 8"/>
          <p:cNvSpPr/>
          <p:nvPr/>
        </p:nvSpPr>
        <p:spPr>
          <a:xfrm>
            <a:off x="3529440" y="1609200"/>
            <a:ext cx="2322000" cy="51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500" b="1" u="none" strike="noStrike">
                <a:solidFill>
                  <a:srgbClr val="14304E"/>
                </a:solidFill>
                <a:effectLst/>
                <a:uFillTx/>
                <a:latin typeface="Cambria"/>
                <a:ea typeface="Cambria"/>
              </a:rPr>
              <a:t>1 + 5</a:t>
            </a:r>
            <a:endParaRPr lang="en-US" sz="2500" b="0" u="none" strike="noStrike">
              <a:solidFill>
                <a:srgbClr val="000000"/>
              </a:solidFill>
              <a:effectLst/>
              <a:uFillTx/>
              <a:latin typeface="Arial"/>
            </a:endParaRPr>
          </a:p>
        </p:txBody>
      </p:sp>
      <p:sp>
        <p:nvSpPr>
          <p:cNvPr id="396" name="Text 9"/>
          <p:cNvSpPr/>
          <p:nvPr/>
        </p:nvSpPr>
        <p:spPr>
          <a:xfrm>
            <a:off x="3529440" y="2139840"/>
            <a:ext cx="2322000" cy="4381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Un anno di sviluppo,</a:t>
            </a:r>
            <a:endParaRPr lang="en-US" sz="11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cinque di esercizio</a:t>
            </a:r>
            <a:endParaRPr lang="en-US" sz="1100" b="0" u="none" strike="noStrike">
              <a:solidFill>
                <a:srgbClr val="000000"/>
              </a:solidFill>
              <a:effectLst/>
              <a:uFillTx/>
              <a:latin typeface="Arial"/>
            </a:endParaRPr>
          </a:p>
        </p:txBody>
      </p:sp>
      <p:sp>
        <p:nvSpPr>
          <p:cNvPr id="397" name="Shape 10"/>
          <p:cNvSpPr/>
          <p:nvPr/>
        </p:nvSpPr>
        <p:spPr>
          <a:xfrm>
            <a:off x="6199560" y="1389960"/>
            <a:ext cx="2577960" cy="1370880"/>
          </a:xfrm>
          <a:prstGeom prst="roundRect">
            <a:avLst>
              <a:gd name="adj" fmla="val 4667"/>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8" name="Text 11"/>
          <p:cNvSpPr/>
          <p:nvPr/>
        </p:nvSpPr>
        <p:spPr>
          <a:xfrm>
            <a:off x="6327720" y="1609200"/>
            <a:ext cx="2322000" cy="51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500" b="1" u="none" strike="noStrike">
                <a:solidFill>
                  <a:srgbClr val="14304E"/>
                </a:solidFill>
                <a:effectLst/>
                <a:uFillTx/>
                <a:latin typeface="Cambria"/>
                <a:ea typeface="Cambria"/>
              </a:rPr>
              <a:t>46,75</a:t>
            </a:r>
            <a:endParaRPr lang="en-US" sz="2500" b="0" u="none" strike="noStrike">
              <a:solidFill>
                <a:srgbClr val="000000"/>
              </a:solidFill>
              <a:effectLst/>
              <a:uFillTx/>
              <a:latin typeface="Arial"/>
            </a:endParaRPr>
          </a:p>
        </p:txBody>
      </p:sp>
      <p:sp>
        <p:nvSpPr>
          <p:cNvPr id="399" name="Text 12"/>
          <p:cNvSpPr/>
          <p:nvPr/>
        </p:nvSpPr>
        <p:spPr>
          <a:xfrm>
            <a:off x="6327720" y="2139840"/>
            <a:ext cx="2322000" cy="4381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Anni-Persona</a:t>
            </a:r>
            <a:endParaRPr lang="en-US" sz="11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complessivi</a:t>
            </a:r>
            <a:endParaRPr lang="en-US" sz="1100" b="0" u="none" strike="noStrike">
              <a:solidFill>
                <a:srgbClr val="000000"/>
              </a:solidFill>
              <a:effectLst/>
              <a:uFillTx/>
              <a:latin typeface="Arial"/>
            </a:endParaRPr>
          </a:p>
        </p:txBody>
      </p:sp>
      <p:sp>
        <p:nvSpPr>
          <p:cNvPr id="400" name="Shape 13"/>
          <p:cNvSpPr/>
          <p:nvPr/>
        </p:nvSpPr>
        <p:spPr>
          <a:xfrm>
            <a:off x="8997840" y="1389960"/>
            <a:ext cx="2577960" cy="1370880"/>
          </a:xfrm>
          <a:prstGeom prst="roundRect">
            <a:avLst>
              <a:gd name="adj" fmla="val 4667"/>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1" name="Text 14"/>
          <p:cNvSpPr/>
          <p:nvPr/>
        </p:nvSpPr>
        <p:spPr>
          <a:xfrm>
            <a:off x="9125640" y="1609200"/>
            <a:ext cx="2322000" cy="51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500" b="1" u="none" strike="noStrike">
                <a:solidFill>
                  <a:srgbClr val="14304E"/>
                </a:solidFill>
                <a:effectLst/>
                <a:uFillTx/>
                <a:latin typeface="Cambria"/>
                <a:ea typeface="Cambria"/>
              </a:rPr>
              <a:t>12 → 8</a:t>
            </a:r>
            <a:endParaRPr lang="en-US" sz="2500" b="0" u="none" strike="noStrike">
              <a:solidFill>
                <a:srgbClr val="000000"/>
              </a:solidFill>
              <a:effectLst/>
              <a:uFillTx/>
              <a:latin typeface="Arial"/>
            </a:endParaRPr>
          </a:p>
        </p:txBody>
      </p:sp>
      <p:sp>
        <p:nvSpPr>
          <p:cNvPr id="402" name="Text 15"/>
          <p:cNvSpPr/>
          <p:nvPr/>
        </p:nvSpPr>
        <p:spPr>
          <a:xfrm>
            <a:off x="9125640" y="2139840"/>
            <a:ext cx="2322000" cy="4381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Organico: sviluppo</a:t>
            </a:r>
            <a:endParaRPr lang="en-US" sz="11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ed esercizio</a:t>
            </a:r>
            <a:endParaRPr lang="en-US" sz="1100" b="0" u="none" strike="noStrike">
              <a:solidFill>
                <a:srgbClr val="000000"/>
              </a:solidFill>
              <a:effectLst/>
              <a:uFillTx/>
              <a:latin typeface="Arial"/>
            </a:endParaRPr>
          </a:p>
        </p:txBody>
      </p:sp>
      <p:sp>
        <p:nvSpPr>
          <p:cNvPr id="403" name="Shape 16"/>
          <p:cNvSpPr/>
          <p:nvPr/>
        </p:nvSpPr>
        <p:spPr>
          <a:xfrm>
            <a:off x="2836800" y="2926080"/>
            <a:ext cx="6505200" cy="1690920"/>
          </a:xfrm>
          <a:prstGeom prst="roundRect">
            <a:avLst>
              <a:gd name="adj" fmla="val 378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04" name="Image 0" descr="/home/claude/tl/img/gantt_complessivo.png"/>
          <p:cNvPicPr/>
          <p:nvPr/>
        </p:nvPicPr>
        <p:blipFill>
          <a:blip r:embed="rId1"/>
          <a:stretch/>
        </p:blipFill>
        <p:spPr>
          <a:xfrm>
            <a:off x="2937600" y="3026520"/>
            <a:ext cx="6303960" cy="1489680"/>
          </a:xfrm>
          <a:prstGeom prst="rect">
            <a:avLst/>
          </a:prstGeom>
          <a:noFill/>
          <a:ln w="0">
            <a:noFill/>
          </a:ln>
        </p:spPr>
      </p:pic>
      <p:sp>
        <p:nvSpPr>
          <p:cNvPr id="405" name="Text 17"/>
          <p:cNvSpPr/>
          <p:nvPr/>
        </p:nvSpPr>
        <p:spPr>
          <a:xfrm>
            <a:off x="603360" y="4663440"/>
            <a:ext cx="1097208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788593"/>
                </a:solidFill>
                <a:effectLst/>
                <a:uFillTx/>
                <a:latin typeface="Calibri"/>
                <a:ea typeface="Calibri"/>
              </a:rPr>
              <a:t>Diagramma di GANTT complessivo del progetto</a:t>
            </a:r>
            <a:endParaRPr lang="en-US" sz="1050" b="0" u="none" strike="noStrike">
              <a:solidFill>
                <a:srgbClr val="000000"/>
              </a:solidFill>
              <a:effectLst/>
              <a:uFillTx/>
              <a:latin typeface="Arial"/>
            </a:endParaRPr>
          </a:p>
        </p:txBody>
      </p:sp>
      <p:sp>
        <p:nvSpPr>
          <p:cNvPr id="406" name="Shape 18"/>
          <p:cNvSpPr/>
          <p:nvPr/>
        </p:nvSpPr>
        <p:spPr>
          <a:xfrm>
            <a:off x="603360" y="4892040"/>
            <a:ext cx="5348520" cy="1233720"/>
          </a:xfrm>
          <a:prstGeom prst="roundRect">
            <a:avLst>
              <a:gd name="adj" fmla="val 518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7" name="Text 19"/>
          <p:cNvSpPr/>
          <p:nvPr/>
        </p:nvSpPr>
        <p:spPr>
          <a:xfrm>
            <a:off x="859680" y="5056560"/>
            <a:ext cx="487296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14304E"/>
                </a:solidFill>
                <a:effectLst/>
                <a:uFillTx/>
                <a:latin typeface="Cambria"/>
                <a:ea typeface="Cambria"/>
              </a:rPr>
              <a:t>Fase 1 — Sviluppo (Anno 0)</a:t>
            </a:r>
            <a:endParaRPr lang="en-US" sz="1400" b="0" u="none" strike="noStrike">
              <a:solidFill>
                <a:srgbClr val="000000"/>
              </a:solidFill>
              <a:effectLst/>
              <a:uFillTx/>
              <a:latin typeface="Arial"/>
            </a:endParaRPr>
          </a:p>
        </p:txBody>
      </p:sp>
      <p:sp>
        <p:nvSpPr>
          <p:cNvPr id="408" name="Text 20"/>
          <p:cNvSpPr/>
          <p:nvPr/>
        </p:nvSpPr>
        <p:spPr>
          <a:xfrm>
            <a:off x="859680" y="5440680"/>
            <a:ext cx="4872960" cy="5569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Sistema completo: infrastruttura blockchain, micro-servizi e interfacce. Sette task, quattro gruppi, 48 settimane.</a:t>
            </a:r>
            <a:endParaRPr lang="en-US" sz="1150" b="0" u="none" strike="noStrike">
              <a:solidFill>
                <a:srgbClr val="000000"/>
              </a:solidFill>
              <a:effectLst/>
              <a:uFillTx/>
              <a:latin typeface="Arial"/>
            </a:endParaRPr>
          </a:p>
        </p:txBody>
      </p:sp>
      <p:sp>
        <p:nvSpPr>
          <p:cNvPr id="409" name="Shape 21"/>
          <p:cNvSpPr/>
          <p:nvPr/>
        </p:nvSpPr>
        <p:spPr>
          <a:xfrm>
            <a:off x="6226920" y="4892040"/>
            <a:ext cx="5348520" cy="1233720"/>
          </a:xfrm>
          <a:prstGeom prst="roundRect">
            <a:avLst>
              <a:gd name="adj" fmla="val 518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0" name="Text 22"/>
          <p:cNvSpPr/>
          <p:nvPr/>
        </p:nvSpPr>
        <p:spPr>
          <a:xfrm>
            <a:off x="6483240" y="5056560"/>
            <a:ext cx="487296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14304E"/>
                </a:solidFill>
                <a:effectLst/>
                <a:uFillTx/>
                <a:latin typeface="Cambria"/>
                <a:ea typeface="Cambria"/>
              </a:rPr>
              <a:t>Fase 2 — Esercizio (Anni 1–5)</a:t>
            </a:r>
            <a:endParaRPr lang="en-US" sz="1400" b="0" u="none" strike="noStrike">
              <a:solidFill>
                <a:srgbClr val="000000"/>
              </a:solidFill>
              <a:effectLst/>
              <a:uFillTx/>
              <a:latin typeface="Arial"/>
            </a:endParaRPr>
          </a:p>
        </p:txBody>
      </p:sp>
      <p:sp>
        <p:nvSpPr>
          <p:cNvPr id="411" name="Text 23"/>
          <p:cNvSpPr/>
          <p:nvPr/>
        </p:nvSpPr>
        <p:spPr>
          <a:xfrm>
            <a:off x="6483240" y="5440680"/>
            <a:ext cx="4872960" cy="5569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150" b="0" u="none" strike="noStrike">
                <a:solidFill>
                  <a:srgbClr val="56687A"/>
                </a:solidFill>
                <a:effectLst/>
                <a:uFillTx/>
                <a:latin typeface="Calibri"/>
                <a:ea typeface="Calibri"/>
              </a:rPr>
              <a:t>Promozione, supporto tecnico, onboarding degli attori, analisi dei dati e adeguamento normativo.</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412"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6 · ARCHITETTURA</a:t>
            </a:r>
            <a:endParaRPr lang="en-US" sz="1050" b="0" u="none" strike="noStrike">
              <a:solidFill>
                <a:srgbClr val="000000"/>
              </a:solidFill>
              <a:effectLst/>
              <a:uFillTx/>
              <a:latin typeface="Arial"/>
            </a:endParaRPr>
          </a:p>
        </p:txBody>
      </p:sp>
      <p:sp>
        <p:nvSpPr>
          <p:cNvPr id="413"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Architettura a micro-servizi</a:t>
            </a:r>
            <a:endParaRPr lang="en-US" sz="3100" b="0" u="none" strike="noStrike">
              <a:solidFill>
                <a:srgbClr val="000000"/>
              </a:solidFill>
              <a:effectLst/>
              <a:uFillTx/>
              <a:latin typeface="Arial"/>
            </a:endParaRPr>
          </a:p>
        </p:txBody>
      </p:sp>
      <p:sp>
        <p:nvSpPr>
          <p:cNvPr id="414"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21</a:t>
            </a:r>
            <a:endParaRPr lang="en-US" sz="1000" b="0" u="none" strike="noStrike">
              <a:solidFill>
                <a:srgbClr val="000000"/>
              </a:solidFill>
              <a:effectLst/>
              <a:uFillTx/>
              <a:latin typeface="Arial"/>
            </a:endParaRPr>
          </a:p>
        </p:txBody>
      </p:sp>
      <p:sp>
        <p:nvSpPr>
          <p:cNvPr id="415"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416" name="Shape 4"/>
          <p:cNvSpPr/>
          <p:nvPr/>
        </p:nvSpPr>
        <p:spPr>
          <a:xfrm>
            <a:off x="727560" y="1371600"/>
            <a:ext cx="6060960" cy="4708440"/>
          </a:xfrm>
          <a:prstGeom prst="roundRect">
            <a:avLst>
              <a:gd name="adj" fmla="val 1359"/>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17" name="Image 0" descr="/home/claude/tl/img/01_architettura_generale.png"/>
          <p:cNvPicPr/>
          <p:nvPr/>
        </p:nvPicPr>
        <p:blipFill>
          <a:blip r:embed="rId1"/>
          <a:stretch/>
        </p:blipFill>
        <p:spPr>
          <a:xfrm>
            <a:off x="828000" y="1472040"/>
            <a:ext cx="5859720" cy="4507200"/>
          </a:xfrm>
          <a:prstGeom prst="rect">
            <a:avLst/>
          </a:prstGeom>
          <a:noFill/>
          <a:ln w="0">
            <a:noFill/>
          </a:ln>
        </p:spPr>
      </p:pic>
      <p:sp>
        <p:nvSpPr>
          <p:cNvPr id="418" name="Text 5"/>
          <p:cNvSpPr/>
          <p:nvPr/>
        </p:nvSpPr>
        <p:spPr>
          <a:xfrm>
            <a:off x="7113960" y="1408320"/>
            <a:ext cx="44798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F7026"/>
                </a:solidFill>
                <a:effectLst/>
                <a:uFillTx/>
                <a:latin typeface="Calibri"/>
                <a:ea typeface="Calibri"/>
              </a:rPr>
              <a:t>Cinque sottosistemi applicativi</a:t>
            </a:r>
            <a:endParaRPr lang="en-US" sz="1150" b="0" u="none" strike="noStrike">
              <a:solidFill>
                <a:srgbClr val="000000"/>
              </a:solidFill>
              <a:effectLst/>
              <a:uFillTx/>
              <a:latin typeface="Arial"/>
            </a:endParaRPr>
          </a:p>
        </p:txBody>
      </p:sp>
      <p:sp>
        <p:nvSpPr>
          <p:cNvPr id="419" name="Shape 6"/>
          <p:cNvSpPr/>
          <p:nvPr/>
        </p:nvSpPr>
        <p:spPr>
          <a:xfrm>
            <a:off x="7113960" y="1737360"/>
            <a:ext cx="4461480" cy="803880"/>
          </a:xfrm>
          <a:prstGeom prst="roundRect">
            <a:avLst>
              <a:gd name="adj" fmla="val 7955"/>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0" name="Shape 7"/>
          <p:cNvSpPr/>
          <p:nvPr/>
        </p:nvSpPr>
        <p:spPr>
          <a:xfrm>
            <a:off x="7278480" y="1929240"/>
            <a:ext cx="365040" cy="36504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1" name="Text 8"/>
          <p:cNvSpPr/>
          <p:nvPr/>
        </p:nvSpPr>
        <p:spPr>
          <a:xfrm>
            <a:off x="7278480" y="1929240"/>
            <a:ext cx="36504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14304E"/>
                </a:solidFill>
                <a:effectLst/>
                <a:uFillTx/>
                <a:latin typeface="Cambria"/>
                <a:ea typeface="Cambria"/>
              </a:rPr>
              <a:t>1</a:t>
            </a:r>
            <a:endParaRPr lang="en-US" sz="1150" b="0" u="none" strike="noStrike">
              <a:solidFill>
                <a:srgbClr val="000000"/>
              </a:solidFill>
              <a:effectLst/>
              <a:uFillTx/>
              <a:latin typeface="Arial"/>
            </a:endParaRPr>
          </a:p>
        </p:txBody>
      </p:sp>
      <p:sp>
        <p:nvSpPr>
          <p:cNvPr id="422" name="Text 9"/>
          <p:cNvSpPr/>
          <p:nvPr/>
        </p:nvSpPr>
        <p:spPr>
          <a:xfrm>
            <a:off x="7754040" y="1847160"/>
            <a:ext cx="3656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Back-Office</a:t>
            </a:r>
            <a:endParaRPr lang="en-US" sz="1250" b="0" u="none" strike="noStrike">
              <a:solidFill>
                <a:srgbClr val="000000"/>
              </a:solidFill>
              <a:effectLst/>
              <a:uFillTx/>
              <a:latin typeface="Arial"/>
            </a:endParaRPr>
          </a:p>
        </p:txBody>
      </p:sp>
      <p:sp>
        <p:nvSpPr>
          <p:cNvPr id="423" name="Text 10"/>
          <p:cNvSpPr/>
          <p:nvPr/>
        </p:nvSpPr>
        <p:spPr>
          <a:xfrm>
            <a:off x="7754040" y="2103120"/>
            <a:ext cx="3656880" cy="383400"/>
          </a:xfrm>
          <a:prstGeom prst="rect">
            <a:avLst/>
          </a:prstGeom>
          <a:noFill/>
          <a:ln w="0">
            <a:noFill/>
          </a:ln>
        </p:spPr>
        <p:style>
          <a:lnRef idx="0"/>
          <a:fillRef idx="0"/>
          <a:effectRef idx="0"/>
          <a:fontRef idx="minor"/>
        </p:style>
        <p:txBody>
          <a:bodyPr lIns="0" tIns="0" rIns="0" bIns="0" anchor="t">
            <a:noAutofit/>
          </a:bodyPr>
          <a:p>
            <a:pPr defTabSz="914400">
              <a:lnSpc>
                <a:spcPts val="1301"/>
              </a:lnSpc>
              <a:tabLst>
                <a:tab pos="0" algn="l"/>
              </a:tabLst>
            </a:pPr>
            <a:r>
              <a:rPr lang="en-US" sz="1000" b="0" u="none" strike="noStrike">
                <a:solidFill>
                  <a:srgbClr val="56687A"/>
                </a:solidFill>
                <a:effectLst/>
                <a:uFillTx/>
                <a:latin typeface="Calibri"/>
                <a:ea typeface="Calibri"/>
              </a:rPr>
              <a:t>Orchestra i flussi, gestisce la persistenza e invoca il chaincode. Unico livello che scrive sulla catena.</a:t>
            </a:r>
            <a:endParaRPr lang="en-US" sz="1000" b="0" u="none" strike="noStrike">
              <a:solidFill>
                <a:srgbClr val="000000"/>
              </a:solidFill>
              <a:effectLst/>
              <a:uFillTx/>
              <a:latin typeface="Arial"/>
            </a:endParaRPr>
          </a:p>
        </p:txBody>
      </p:sp>
      <p:sp>
        <p:nvSpPr>
          <p:cNvPr id="424" name="Shape 11"/>
          <p:cNvSpPr/>
          <p:nvPr/>
        </p:nvSpPr>
        <p:spPr>
          <a:xfrm>
            <a:off x="7113960" y="2615040"/>
            <a:ext cx="4461480" cy="803880"/>
          </a:xfrm>
          <a:prstGeom prst="roundRect">
            <a:avLst>
              <a:gd name="adj" fmla="val 7955"/>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5" name="Shape 12"/>
          <p:cNvSpPr/>
          <p:nvPr/>
        </p:nvSpPr>
        <p:spPr>
          <a:xfrm>
            <a:off x="7278480" y="2807280"/>
            <a:ext cx="365040" cy="36504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6" name="Text 13"/>
          <p:cNvSpPr/>
          <p:nvPr/>
        </p:nvSpPr>
        <p:spPr>
          <a:xfrm>
            <a:off x="7278480" y="2807280"/>
            <a:ext cx="36504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14304E"/>
                </a:solidFill>
                <a:effectLst/>
                <a:uFillTx/>
                <a:latin typeface="Cambria"/>
                <a:ea typeface="Cambria"/>
              </a:rPr>
              <a:t>2</a:t>
            </a:r>
            <a:endParaRPr lang="en-US" sz="1150" b="0" u="none" strike="noStrike">
              <a:solidFill>
                <a:srgbClr val="000000"/>
              </a:solidFill>
              <a:effectLst/>
              <a:uFillTx/>
              <a:latin typeface="Arial"/>
            </a:endParaRPr>
          </a:p>
        </p:txBody>
      </p:sp>
      <p:sp>
        <p:nvSpPr>
          <p:cNvPr id="427" name="Text 14"/>
          <p:cNvSpPr/>
          <p:nvPr/>
        </p:nvSpPr>
        <p:spPr>
          <a:xfrm>
            <a:off x="7754040" y="2724840"/>
            <a:ext cx="3656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Concessionaria</a:t>
            </a:r>
            <a:endParaRPr lang="en-US" sz="1250" b="0" u="none" strike="noStrike">
              <a:solidFill>
                <a:srgbClr val="000000"/>
              </a:solidFill>
              <a:effectLst/>
              <a:uFillTx/>
              <a:latin typeface="Arial"/>
            </a:endParaRPr>
          </a:p>
        </p:txBody>
      </p:sp>
      <p:sp>
        <p:nvSpPr>
          <p:cNvPr id="428" name="Text 15"/>
          <p:cNvSpPr/>
          <p:nvPr/>
        </p:nvSpPr>
        <p:spPr>
          <a:xfrm>
            <a:off x="7754040" y="2980800"/>
            <a:ext cx="3656880" cy="383400"/>
          </a:xfrm>
          <a:prstGeom prst="rect">
            <a:avLst/>
          </a:prstGeom>
          <a:noFill/>
          <a:ln w="0">
            <a:noFill/>
          </a:ln>
        </p:spPr>
        <p:style>
          <a:lnRef idx="0"/>
          <a:fillRef idx="0"/>
          <a:effectRef idx="0"/>
          <a:fontRef idx="minor"/>
        </p:style>
        <p:txBody>
          <a:bodyPr lIns="0" tIns="0" rIns="0" bIns="0" anchor="t">
            <a:noAutofit/>
          </a:bodyPr>
          <a:p>
            <a:pPr defTabSz="914400">
              <a:lnSpc>
                <a:spcPts val="1301"/>
              </a:lnSpc>
              <a:tabLst>
                <a:tab pos="0" algn="l"/>
              </a:tabLst>
            </a:pPr>
            <a:r>
              <a:rPr lang="en-US" sz="1000" b="0" u="none" strike="noStrike">
                <a:solidFill>
                  <a:srgbClr val="56687A"/>
                </a:solidFill>
                <a:effectLst/>
                <a:uFillTx/>
                <a:latin typeface="Calibri"/>
                <a:ea typeface="Calibri"/>
              </a:rPr>
              <a:t>Dati del veicolo base, creazione del DMVP, consegna e trasferimento.</a:t>
            </a:r>
            <a:endParaRPr lang="en-US" sz="1000" b="0" u="none" strike="noStrike">
              <a:solidFill>
                <a:srgbClr val="000000"/>
              </a:solidFill>
              <a:effectLst/>
              <a:uFillTx/>
              <a:latin typeface="Arial"/>
            </a:endParaRPr>
          </a:p>
        </p:txBody>
      </p:sp>
      <p:sp>
        <p:nvSpPr>
          <p:cNvPr id="429" name="Shape 16"/>
          <p:cNvSpPr/>
          <p:nvPr/>
        </p:nvSpPr>
        <p:spPr>
          <a:xfrm>
            <a:off x="7113960" y="3493080"/>
            <a:ext cx="4461480" cy="803880"/>
          </a:xfrm>
          <a:prstGeom prst="roundRect">
            <a:avLst>
              <a:gd name="adj" fmla="val 7955"/>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0" name="Shape 17"/>
          <p:cNvSpPr/>
          <p:nvPr/>
        </p:nvSpPr>
        <p:spPr>
          <a:xfrm>
            <a:off x="7278480" y="3684960"/>
            <a:ext cx="365040" cy="36504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1" name="Text 18"/>
          <p:cNvSpPr/>
          <p:nvPr/>
        </p:nvSpPr>
        <p:spPr>
          <a:xfrm>
            <a:off x="7278480" y="3684960"/>
            <a:ext cx="36504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14304E"/>
                </a:solidFill>
                <a:effectLst/>
                <a:uFillTx/>
                <a:latin typeface="Cambria"/>
                <a:ea typeface="Cambria"/>
              </a:rPr>
              <a:t>3</a:t>
            </a:r>
            <a:endParaRPr lang="en-US" sz="1150" b="0" u="none" strike="noStrike">
              <a:solidFill>
                <a:srgbClr val="000000"/>
              </a:solidFill>
              <a:effectLst/>
              <a:uFillTx/>
              <a:latin typeface="Arial"/>
            </a:endParaRPr>
          </a:p>
        </p:txBody>
      </p:sp>
      <p:sp>
        <p:nvSpPr>
          <p:cNvPr id="432" name="Text 19"/>
          <p:cNvSpPr/>
          <p:nvPr/>
        </p:nvSpPr>
        <p:spPr>
          <a:xfrm>
            <a:off x="7754040" y="3602880"/>
            <a:ext cx="3656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Azienda di Tuning</a:t>
            </a:r>
            <a:endParaRPr lang="en-US" sz="1250" b="0" u="none" strike="noStrike">
              <a:solidFill>
                <a:srgbClr val="000000"/>
              </a:solidFill>
              <a:effectLst/>
              <a:uFillTx/>
              <a:latin typeface="Arial"/>
            </a:endParaRPr>
          </a:p>
        </p:txBody>
      </p:sp>
      <p:sp>
        <p:nvSpPr>
          <p:cNvPr id="433" name="Text 20"/>
          <p:cNvSpPr/>
          <p:nvPr/>
        </p:nvSpPr>
        <p:spPr>
          <a:xfrm>
            <a:off x="7754040" y="3858840"/>
            <a:ext cx="3656880" cy="383400"/>
          </a:xfrm>
          <a:prstGeom prst="rect">
            <a:avLst/>
          </a:prstGeom>
          <a:noFill/>
          <a:ln w="0">
            <a:noFill/>
          </a:ln>
        </p:spPr>
        <p:style>
          <a:lnRef idx="0"/>
          <a:fillRef idx="0"/>
          <a:effectRef idx="0"/>
          <a:fontRef idx="minor"/>
        </p:style>
        <p:txBody>
          <a:bodyPr lIns="0" tIns="0" rIns="0" bIns="0" anchor="t">
            <a:noAutofit/>
          </a:bodyPr>
          <a:p>
            <a:pPr defTabSz="914400">
              <a:lnSpc>
                <a:spcPts val="1301"/>
              </a:lnSpc>
              <a:tabLst>
                <a:tab pos="0" algn="l"/>
              </a:tabLst>
            </a:pPr>
            <a:r>
              <a:rPr lang="en-US" sz="1000" b="0" u="none" strike="noStrike">
                <a:solidFill>
                  <a:srgbClr val="56687A"/>
                </a:solidFill>
                <a:effectLst/>
                <a:uFillTx/>
                <a:latin typeface="Calibri"/>
                <a:ea typeface="Calibri"/>
              </a:rPr>
              <a:t>Presa in carico della commessa, specifiche, seriali e prove multimediali.</a:t>
            </a:r>
            <a:endParaRPr lang="en-US" sz="1000" b="0" u="none" strike="noStrike">
              <a:solidFill>
                <a:srgbClr val="000000"/>
              </a:solidFill>
              <a:effectLst/>
              <a:uFillTx/>
              <a:latin typeface="Arial"/>
            </a:endParaRPr>
          </a:p>
        </p:txBody>
      </p:sp>
      <p:sp>
        <p:nvSpPr>
          <p:cNvPr id="434" name="Shape 21"/>
          <p:cNvSpPr/>
          <p:nvPr/>
        </p:nvSpPr>
        <p:spPr>
          <a:xfrm>
            <a:off x="7113960" y="4370760"/>
            <a:ext cx="4461480" cy="803880"/>
          </a:xfrm>
          <a:prstGeom prst="roundRect">
            <a:avLst>
              <a:gd name="adj" fmla="val 7955"/>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5" name="Shape 22"/>
          <p:cNvSpPr/>
          <p:nvPr/>
        </p:nvSpPr>
        <p:spPr>
          <a:xfrm>
            <a:off x="7278480" y="4563000"/>
            <a:ext cx="365040" cy="36504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6" name="Text 23"/>
          <p:cNvSpPr/>
          <p:nvPr/>
        </p:nvSpPr>
        <p:spPr>
          <a:xfrm>
            <a:off x="7278480" y="4563000"/>
            <a:ext cx="36504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14304E"/>
                </a:solidFill>
                <a:effectLst/>
                <a:uFillTx/>
                <a:latin typeface="Cambria"/>
                <a:ea typeface="Cambria"/>
              </a:rPr>
              <a:t>4</a:t>
            </a:r>
            <a:endParaRPr lang="en-US" sz="1150" b="0" u="none" strike="noStrike">
              <a:solidFill>
                <a:srgbClr val="000000"/>
              </a:solidFill>
              <a:effectLst/>
              <a:uFillTx/>
              <a:latin typeface="Arial"/>
            </a:endParaRPr>
          </a:p>
        </p:txBody>
      </p:sp>
      <p:sp>
        <p:nvSpPr>
          <p:cNvPr id="437" name="Text 24"/>
          <p:cNvSpPr/>
          <p:nvPr/>
        </p:nvSpPr>
        <p:spPr>
          <a:xfrm>
            <a:off x="7754040" y="4480560"/>
            <a:ext cx="3656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Centro di Certificazione</a:t>
            </a:r>
            <a:endParaRPr lang="en-US" sz="1250" b="0" u="none" strike="noStrike">
              <a:solidFill>
                <a:srgbClr val="000000"/>
              </a:solidFill>
              <a:effectLst/>
              <a:uFillTx/>
              <a:latin typeface="Arial"/>
            </a:endParaRPr>
          </a:p>
        </p:txBody>
      </p:sp>
      <p:sp>
        <p:nvSpPr>
          <p:cNvPr id="438" name="Text 25"/>
          <p:cNvSpPr/>
          <p:nvPr/>
        </p:nvSpPr>
        <p:spPr>
          <a:xfrm>
            <a:off x="7754040" y="4736520"/>
            <a:ext cx="3656880" cy="383400"/>
          </a:xfrm>
          <a:prstGeom prst="rect">
            <a:avLst/>
          </a:prstGeom>
          <a:noFill/>
          <a:ln w="0">
            <a:noFill/>
          </a:ln>
        </p:spPr>
        <p:style>
          <a:lnRef idx="0"/>
          <a:fillRef idx="0"/>
          <a:effectRef idx="0"/>
          <a:fontRef idx="minor"/>
        </p:style>
        <p:txBody>
          <a:bodyPr lIns="0" tIns="0" rIns="0" bIns="0" anchor="t">
            <a:noAutofit/>
          </a:bodyPr>
          <a:p>
            <a:pPr defTabSz="914400">
              <a:lnSpc>
                <a:spcPts val="1301"/>
              </a:lnSpc>
              <a:tabLst>
                <a:tab pos="0" algn="l"/>
              </a:tabLst>
            </a:pPr>
            <a:r>
              <a:rPr lang="en-US" sz="1000" b="0" u="none" strike="noStrike">
                <a:solidFill>
                  <a:srgbClr val="56687A"/>
                </a:solidFill>
                <a:effectLst/>
                <a:uFillTx/>
                <a:latin typeface="Calibri"/>
                <a:ea typeface="Calibri"/>
              </a:rPr>
              <a:t>Storico, checklist normativa, certificato firmato e report di anomalia.</a:t>
            </a:r>
            <a:endParaRPr lang="en-US" sz="1000" b="0" u="none" strike="noStrike">
              <a:solidFill>
                <a:srgbClr val="000000"/>
              </a:solidFill>
              <a:effectLst/>
              <a:uFillTx/>
              <a:latin typeface="Arial"/>
            </a:endParaRPr>
          </a:p>
        </p:txBody>
      </p:sp>
      <p:sp>
        <p:nvSpPr>
          <p:cNvPr id="439" name="Shape 26"/>
          <p:cNvSpPr/>
          <p:nvPr/>
        </p:nvSpPr>
        <p:spPr>
          <a:xfrm>
            <a:off x="7113960" y="5248800"/>
            <a:ext cx="4461480" cy="803880"/>
          </a:xfrm>
          <a:prstGeom prst="roundRect">
            <a:avLst>
              <a:gd name="adj" fmla="val 7955"/>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0" name="Shape 27"/>
          <p:cNvSpPr/>
          <p:nvPr/>
        </p:nvSpPr>
        <p:spPr>
          <a:xfrm>
            <a:off x="7278480" y="5440680"/>
            <a:ext cx="365040" cy="36504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1" name="Text 28"/>
          <p:cNvSpPr/>
          <p:nvPr/>
        </p:nvSpPr>
        <p:spPr>
          <a:xfrm>
            <a:off x="7278480" y="5440680"/>
            <a:ext cx="36504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14304E"/>
                </a:solidFill>
                <a:effectLst/>
                <a:uFillTx/>
                <a:latin typeface="Cambria"/>
                <a:ea typeface="Cambria"/>
              </a:rPr>
              <a:t>5</a:t>
            </a:r>
            <a:endParaRPr lang="en-US" sz="1150" b="0" u="none" strike="noStrike">
              <a:solidFill>
                <a:srgbClr val="000000"/>
              </a:solidFill>
              <a:effectLst/>
              <a:uFillTx/>
              <a:latin typeface="Arial"/>
            </a:endParaRPr>
          </a:p>
        </p:txBody>
      </p:sp>
      <p:sp>
        <p:nvSpPr>
          <p:cNvPr id="442" name="Text 29"/>
          <p:cNvSpPr/>
          <p:nvPr/>
        </p:nvSpPr>
        <p:spPr>
          <a:xfrm>
            <a:off x="7754040" y="5358240"/>
            <a:ext cx="36568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4304E"/>
                </a:solidFill>
                <a:effectLst/>
                <a:uFillTx/>
                <a:latin typeface="Cambria"/>
                <a:ea typeface="Cambria"/>
              </a:rPr>
              <a:t>Front-End Unificato</a:t>
            </a:r>
            <a:endParaRPr lang="en-US" sz="1250" b="0" u="none" strike="noStrike">
              <a:solidFill>
                <a:srgbClr val="000000"/>
              </a:solidFill>
              <a:effectLst/>
              <a:uFillTx/>
              <a:latin typeface="Arial"/>
            </a:endParaRPr>
          </a:p>
        </p:txBody>
      </p:sp>
      <p:sp>
        <p:nvSpPr>
          <p:cNvPr id="443" name="Text 30"/>
          <p:cNvSpPr/>
          <p:nvPr/>
        </p:nvSpPr>
        <p:spPr>
          <a:xfrm>
            <a:off x="7754040" y="5614560"/>
            <a:ext cx="3656880" cy="383400"/>
          </a:xfrm>
          <a:prstGeom prst="rect">
            <a:avLst/>
          </a:prstGeom>
          <a:noFill/>
          <a:ln w="0">
            <a:noFill/>
          </a:ln>
        </p:spPr>
        <p:style>
          <a:lnRef idx="0"/>
          <a:fillRef idx="0"/>
          <a:effectRef idx="0"/>
          <a:fontRef idx="minor"/>
        </p:style>
        <p:txBody>
          <a:bodyPr lIns="0" tIns="0" rIns="0" bIns="0" anchor="t">
            <a:noAutofit/>
          </a:bodyPr>
          <a:p>
            <a:pPr defTabSz="914400">
              <a:lnSpc>
                <a:spcPts val="1301"/>
              </a:lnSpc>
              <a:tabLst>
                <a:tab pos="0" algn="l"/>
              </a:tabLst>
            </a:pPr>
            <a:r>
              <a:rPr lang="en-US" sz="1000" b="0" u="none" strike="noStrike">
                <a:solidFill>
                  <a:srgbClr val="56687A"/>
                </a:solidFill>
                <a:effectLst/>
                <a:uFillTx/>
                <a:latin typeface="Calibri"/>
                <a:ea typeface="Calibri"/>
              </a:rPr>
              <a:t>Portale web B2B, app mobile B2C, console di governance e API Gateway.</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444"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6 · ARCHITETTURA</a:t>
            </a:r>
            <a:endParaRPr lang="en-US" sz="1050" b="0" u="none" strike="noStrike">
              <a:solidFill>
                <a:srgbClr val="000000"/>
              </a:solidFill>
              <a:effectLst/>
              <a:uFillTx/>
              <a:latin typeface="Arial"/>
            </a:endParaRPr>
          </a:p>
        </p:txBody>
      </p:sp>
      <p:sp>
        <p:nvSpPr>
          <p:cNvPr id="445"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Distribuzione e tecnologie</a:t>
            </a:r>
            <a:endParaRPr lang="en-US" sz="3100" b="0" u="none" strike="noStrike">
              <a:solidFill>
                <a:srgbClr val="000000"/>
              </a:solidFill>
              <a:effectLst/>
              <a:uFillTx/>
              <a:latin typeface="Arial"/>
            </a:endParaRPr>
          </a:p>
        </p:txBody>
      </p:sp>
      <p:sp>
        <p:nvSpPr>
          <p:cNvPr id="446"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22</a:t>
            </a:r>
            <a:endParaRPr lang="en-US" sz="1000" b="0" u="none" strike="noStrike">
              <a:solidFill>
                <a:srgbClr val="000000"/>
              </a:solidFill>
              <a:effectLst/>
              <a:uFillTx/>
              <a:latin typeface="Arial"/>
            </a:endParaRPr>
          </a:p>
        </p:txBody>
      </p:sp>
      <p:sp>
        <p:nvSpPr>
          <p:cNvPr id="447"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448" name="Shape 4"/>
          <p:cNvSpPr/>
          <p:nvPr/>
        </p:nvSpPr>
        <p:spPr>
          <a:xfrm>
            <a:off x="1326240" y="1371600"/>
            <a:ext cx="5411880" cy="3976920"/>
          </a:xfrm>
          <a:prstGeom prst="roundRect">
            <a:avLst>
              <a:gd name="adj" fmla="val 1609"/>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49" name="Image 0" descr="/home/claude/tl/img/07_deployment_diagram.png"/>
          <p:cNvPicPr/>
          <p:nvPr/>
        </p:nvPicPr>
        <p:blipFill>
          <a:blip r:embed="rId1"/>
          <a:stretch/>
        </p:blipFill>
        <p:spPr>
          <a:xfrm>
            <a:off x="1426680" y="1472040"/>
            <a:ext cx="5210640" cy="3775680"/>
          </a:xfrm>
          <a:prstGeom prst="rect">
            <a:avLst/>
          </a:prstGeom>
          <a:noFill/>
          <a:ln w="0">
            <a:noFill/>
          </a:ln>
        </p:spPr>
      </p:pic>
      <p:sp>
        <p:nvSpPr>
          <p:cNvPr id="450" name="Shape 5"/>
          <p:cNvSpPr/>
          <p:nvPr/>
        </p:nvSpPr>
        <p:spPr>
          <a:xfrm>
            <a:off x="7772400" y="1408320"/>
            <a:ext cx="3803040" cy="1224720"/>
          </a:xfrm>
          <a:prstGeom prst="roundRect">
            <a:avLst>
              <a:gd name="adj" fmla="val 522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1" name="Text 6"/>
          <p:cNvSpPr/>
          <p:nvPr/>
        </p:nvSpPr>
        <p:spPr>
          <a:xfrm>
            <a:off x="8010000" y="1554480"/>
            <a:ext cx="3382560" cy="273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Cluster su cloud</a:t>
            </a:r>
            <a:endParaRPr lang="en-US" sz="1350" b="0" u="none" strike="noStrike">
              <a:solidFill>
                <a:srgbClr val="000000"/>
              </a:solidFill>
              <a:effectLst/>
              <a:uFillTx/>
              <a:latin typeface="Arial"/>
            </a:endParaRPr>
          </a:p>
        </p:txBody>
      </p:sp>
      <p:sp>
        <p:nvSpPr>
          <p:cNvPr id="452" name="Text 7"/>
          <p:cNvSpPr/>
          <p:nvPr/>
        </p:nvSpPr>
        <p:spPr>
          <a:xfrm>
            <a:off x="8010000" y="1865520"/>
            <a:ext cx="3382560" cy="65772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050" b="0" u="none" strike="noStrike">
                <a:solidFill>
                  <a:srgbClr val="56687A"/>
                </a:solidFill>
                <a:effectLst/>
                <a:uFillTx/>
                <a:latin typeface="Calibri"/>
                <a:ea typeface="Calibri"/>
              </a:rPr>
              <a:t>Cluster applicativo e nodi della rete permissioned su infrastruttura cloud, con scalabilità orizzontale dei micro-servizi.</a:t>
            </a:r>
            <a:endParaRPr lang="en-US" sz="1050" b="0" u="none" strike="noStrike">
              <a:solidFill>
                <a:srgbClr val="000000"/>
              </a:solidFill>
              <a:effectLst/>
              <a:uFillTx/>
              <a:latin typeface="Arial"/>
            </a:endParaRPr>
          </a:p>
        </p:txBody>
      </p:sp>
      <p:sp>
        <p:nvSpPr>
          <p:cNvPr id="453" name="Shape 8"/>
          <p:cNvSpPr/>
          <p:nvPr/>
        </p:nvSpPr>
        <p:spPr>
          <a:xfrm>
            <a:off x="7772400" y="2761560"/>
            <a:ext cx="3803040" cy="1224720"/>
          </a:xfrm>
          <a:prstGeom prst="roundRect">
            <a:avLst>
              <a:gd name="adj" fmla="val 522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4" name="Text 9"/>
          <p:cNvSpPr/>
          <p:nvPr/>
        </p:nvSpPr>
        <p:spPr>
          <a:xfrm>
            <a:off x="8010000" y="2907720"/>
            <a:ext cx="3382560" cy="273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Un peer per organizzazione</a:t>
            </a:r>
            <a:endParaRPr lang="en-US" sz="1350" b="0" u="none" strike="noStrike">
              <a:solidFill>
                <a:srgbClr val="000000"/>
              </a:solidFill>
              <a:effectLst/>
              <a:uFillTx/>
              <a:latin typeface="Arial"/>
            </a:endParaRPr>
          </a:p>
        </p:txBody>
      </p:sp>
      <p:sp>
        <p:nvSpPr>
          <p:cNvPr id="455" name="Text 10"/>
          <p:cNvSpPr/>
          <p:nvPr/>
        </p:nvSpPr>
        <p:spPr>
          <a:xfrm>
            <a:off x="8010000" y="3218760"/>
            <a:ext cx="3382560" cy="65772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050" b="0" u="none" strike="noStrike">
                <a:solidFill>
                  <a:srgbClr val="56687A"/>
                </a:solidFill>
                <a:effectLst/>
                <a:uFillTx/>
                <a:latin typeface="Calibri"/>
                <a:ea typeface="Calibri"/>
              </a:rPr>
              <a:t>Ogni partecipante tiene il proprio peer con copia del ledger: nessuno può alterare da solo i dati registrati.</a:t>
            </a:r>
            <a:endParaRPr lang="en-US" sz="1050" b="0" u="none" strike="noStrike">
              <a:solidFill>
                <a:srgbClr val="000000"/>
              </a:solidFill>
              <a:effectLst/>
              <a:uFillTx/>
              <a:latin typeface="Arial"/>
            </a:endParaRPr>
          </a:p>
        </p:txBody>
      </p:sp>
      <p:sp>
        <p:nvSpPr>
          <p:cNvPr id="456" name="Shape 11"/>
          <p:cNvSpPr/>
          <p:nvPr/>
        </p:nvSpPr>
        <p:spPr>
          <a:xfrm>
            <a:off x="7772400" y="4114800"/>
            <a:ext cx="3803040" cy="1224720"/>
          </a:xfrm>
          <a:prstGeom prst="roundRect">
            <a:avLst>
              <a:gd name="adj" fmla="val 5224"/>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7" name="Text 12"/>
          <p:cNvSpPr/>
          <p:nvPr/>
        </p:nvSpPr>
        <p:spPr>
          <a:xfrm>
            <a:off x="8010000" y="4260960"/>
            <a:ext cx="3382560" cy="273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Object storage off-chain</a:t>
            </a:r>
            <a:endParaRPr lang="en-US" sz="1350" b="0" u="none" strike="noStrike">
              <a:solidFill>
                <a:srgbClr val="000000"/>
              </a:solidFill>
              <a:effectLst/>
              <a:uFillTx/>
              <a:latin typeface="Arial"/>
            </a:endParaRPr>
          </a:p>
        </p:txBody>
      </p:sp>
      <p:sp>
        <p:nvSpPr>
          <p:cNvPr id="458" name="Text 13"/>
          <p:cNvSpPr/>
          <p:nvPr/>
        </p:nvSpPr>
        <p:spPr>
          <a:xfrm>
            <a:off x="8010000" y="4572000"/>
            <a:ext cx="3382560" cy="65772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050" b="0" u="none" strike="noStrike">
                <a:solidFill>
                  <a:srgbClr val="56687A"/>
                </a:solidFill>
                <a:effectLst/>
                <a:uFillTx/>
                <a:latin typeface="Calibri"/>
                <a:ea typeface="Calibri"/>
              </a:rPr>
              <a:t>Documenti e prove multimediali restano nell'object storage; sulla catena finisce solo l'hash.</a:t>
            </a:r>
            <a:endParaRPr lang="en-US" sz="1050" b="0" u="none" strike="noStrike">
              <a:solidFill>
                <a:srgbClr val="000000"/>
              </a:solidFill>
              <a:effectLst/>
              <a:uFillTx/>
              <a:latin typeface="Arial"/>
            </a:endParaRPr>
          </a:p>
        </p:txBody>
      </p:sp>
      <p:sp>
        <p:nvSpPr>
          <p:cNvPr id="459" name="Shape 14"/>
          <p:cNvSpPr/>
          <p:nvPr/>
        </p:nvSpPr>
        <p:spPr>
          <a:xfrm>
            <a:off x="603360" y="5486400"/>
            <a:ext cx="10972080" cy="657720"/>
          </a:xfrm>
          <a:prstGeom prst="roundRect">
            <a:avLst>
              <a:gd name="adj" fmla="val 9722"/>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0" name="Text 15"/>
          <p:cNvSpPr/>
          <p:nvPr/>
        </p:nvSpPr>
        <p:spPr>
          <a:xfrm>
            <a:off x="896040" y="5614560"/>
            <a:ext cx="10386720" cy="40176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250" b="0" u="none" strike="noStrike">
                <a:solidFill>
                  <a:srgbClr val="4A4124"/>
                </a:solidFill>
                <a:effectLst/>
                <a:uFillTx/>
                <a:latin typeface="Calibri"/>
                <a:ea typeface="Calibri"/>
              </a:rPr>
              <a:t>Stack di sviluppo:  Hyperledger Fabric (chaincode)  ·  Node.js + Express  ·  database off-chain e object storage  ·  Flutter per web e mobile  ·  Docker e Kubernetes  ·  VS Code e GitHub</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461"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6 · PIANIFICAZIONE</a:t>
            </a:r>
            <a:endParaRPr lang="en-US" sz="1050" b="0" u="none" strike="noStrike">
              <a:solidFill>
                <a:srgbClr val="000000"/>
              </a:solidFill>
              <a:effectLst/>
              <a:uFillTx/>
              <a:latin typeface="Arial"/>
            </a:endParaRPr>
          </a:p>
        </p:txBody>
      </p:sp>
      <p:sp>
        <p:nvSpPr>
          <p:cNvPr id="462"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Fase 1 — Sviluppo della piattaforma</a:t>
            </a:r>
            <a:endParaRPr lang="en-US" sz="3100" b="0" u="none" strike="noStrike">
              <a:solidFill>
                <a:srgbClr val="000000"/>
              </a:solidFill>
              <a:effectLst/>
              <a:uFillTx/>
              <a:latin typeface="Arial"/>
            </a:endParaRPr>
          </a:p>
        </p:txBody>
      </p:sp>
      <p:sp>
        <p:nvSpPr>
          <p:cNvPr id="463"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23</a:t>
            </a:r>
            <a:endParaRPr lang="en-US" sz="1000" b="0" u="none" strike="noStrike">
              <a:solidFill>
                <a:srgbClr val="000000"/>
              </a:solidFill>
              <a:effectLst/>
              <a:uFillTx/>
              <a:latin typeface="Arial"/>
            </a:endParaRPr>
          </a:p>
        </p:txBody>
      </p:sp>
      <p:sp>
        <p:nvSpPr>
          <p:cNvPr id="464"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465" name="Shape 4"/>
          <p:cNvSpPr/>
          <p:nvPr/>
        </p:nvSpPr>
        <p:spPr>
          <a:xfrm>
            <a:off x="603360" y="1740960"/>
            <a:ext cx="7223040" cy="3009600"/>
          </a:xfrm>
          <a:prstGeom prst="roundRect">
            <a:avLst>
              <a:gd name="adj" fmla="val 212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66" name="Image 0" descr="/home/claude/tl/img/gantt_fase1.png"/>
          <p:cNvPicPr/>
          <p:nvPr/>
        </p:nvPicPr>
        <p:blipFill>
          <a:blip r:embed="rId1"/>
          <a:stretch/>
        </p:blipFill>
        <p:spPr>
          <a:xfrm>
            <a:off x="704160" y="1841760"/>
            <a:ext cx="7021800" cy="2808360"/>
          </a:xfrm>
          <a:prstGeom prst="rect">
            <a:avLst/>
          </a:prstGeom>
          <a:noFill/>
          <a:ln w="0">
            <a:noFill/>
          </a:ln>
        </p:spPr>
      </p:pic>
      <p:sp>
        <p:nvSpPr>
          <p:cNvPr id="467" name="Text 5"/>
          <p:cNvSpPr/>
          <p:nvPr/>
        </p:nvSpPr>
        <p:spPr>
          <a:xfrm>
            <a:off x="603360" y="4797000"/>
            <a:ext cx="72230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788593"/>
                </a:solidFill>
                <a:effectLst/>
                <a:uFillTx/>
                <a:latin typeface="Calibri"/>
                <a:ea typeface="Calibri"/>
              </a:rPr>
              <a:t>GANTT della Fase 1, sulle 48 settimane dell'Anno 0</a:t>
            </a:r>
            <a:endParaRPr lang="en-US" sz="1050" b="0" u="none" strike="noStrike">
              <a:solidFill>
                <a:srgbClr val="000000"/>
              </a:solidFill>
              <a:effectLst/>
              <a:uFillTx/>
              <a:latin typeface="Arial"/>
            </a:endParaRPr>
          </a:p>
        </p:txBody>
      </p:sp>
      <p:sp>
        <p:nvSpPr>
          <p:cNvPr id="468" name="Shape 6"/>
          <p:cNvSpPr/>
          <p:nvPr/>
        </p:nvSpPr>
        <p:spPr>
          <a:xfrm>
            <a:off x="8119800" y="1426320"/>
            <a:ext cx="1663560" cy="1188000"/>
          </a:xfrm>
          <a:prstGeom prst="roundRect">
            <a:avLst>
              <a:gd name="adj" fmla="val 538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9" name="Text 7"/>
          <p:cNvSpPr/>
          <p:nvPr/>
        </p:nvSpPr>
        <p:spPr>
          <a:xfrm>
            <a:off x="8247960" y="1645920"/>
            <a:ext cx="14076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4304E"/>
                </a:solidFill>
                <a:effectLst/>
                <a:uFillTx/>
                <a:latin typeface="Cambria"/>
                <a:ea typeface="Cambria"/>
              </a:rPr>
              <a:t>7</a:t>
            </a:r>
            <a:endParaRPr lang="en-US" sz="2000" b="0" u="none" strike="noStrike">
              <a:solidFill>
                <a:srgbClr val="000000"/>
              </a:solidFill>
              <a:effectLst/>
              <a:uFillTx/>
              <a:latin typeface="Arial"/>
            </a:endParaRPr>
          </a:p>
        </p:txBody>
      </p:sp>
      <p:sp>
        <p:nvSpPr>
          <p:cNvPr id="470" name="Text 8"/>
          <p:cNvSpPr/>
          <p:nvPr/>
        </p:nvSpPr>
        <p:spPr>
          <a:xfrm>
            <a:off x="8247960" y="2121480"/>
            <a:ext cx="1407600" cy="3103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000" b="0" u="none" strike="noStrike">
                <a:solidFill>
                  <a:srgbClr val="56687A"/>
                </a:solidFill>
                <a:effectLst/>
                <a:uFillTx/>
                <a:latin typeface="Calibri"/>
                <a:ea typeface="Calibri"/>
              </a:rPr>
              <a:t>Task principali</a:t>
            </a:r>
            <a:endParaRPr lang="en-US" sz="1000" b="0" u="none" strike="noStrike">
              <a:solidFill>
                <a:srgbClr val="000000"/>
              </a:solidFill>
              <a:effectLst/>
              <a:uFillTx/>
              <a:latin typeface="Arial"/>
            </a:endParaRPr>
          </a:p>
          <a:p>
            <a:pPr algn="ctr" defTabSz="914400">
              <a:lnSpc>
                <a:spcPts val="1599"/>
              </a:lnSpc>
              <a:tabLst>
                <a:tab pos="0" algn="l"/>
              </a:tabLst>
            </a:pPr>
            <a:r>
              <a:rPr lang="en-US" sz="1000" b="0" u="none" strike="noStrike">
                <a:solidFill>
                  <a:srgbClr val="56687A"/>
                </a:solidFill>
                <a:effectLst/>
                <a:uFillTx/>
                <a:latin typeface="Calibri"/>
                <a:ea typeface="Calibri"/>
              </a:rPr>
              <a:t>(A–G)</a:t>
            </a:r>
            <a:endParaRPr lang="en-US" sz="1000" b="0" u="none" strike="noStrike">
              <a:solidFill>
                <a:srgbClr val="000000"/>
              </a:solidFill>
              <a:effectLst/>
              <a:uFillTx/>
              <a:latin typeface="Arial"/>
            </a:endParaRPr>
          </a:p>
        </p:txBody>
      </p:sp>
      <p:sp>
        <p:nvSpPr>
          <p:cNvPr id="471" name="Shape 9"/>
          <p:cNvSpPr/>
          <p:nvPr/>
        </p:nvSpPr>
        <p:spPr>
          <a:xfrm>
            <a:off x="9912240" y="1426320"/>
            <a:ext cx="1663560" cy="1188000"/>
          </a:xfrm>
          <a:prstGeom prst="roundRect">
            <a:avLst>
              <a:gd name="adj" fmla="val 538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2" name="Text 10"/>
          <p:cNvSpPr/>
          <p:nvPr/>
        </p:nvSpPr>
        <p:spPr>
          <a:xfrm>
            <a:off x="10040040" y="1645920"/>
            <a:ext cx="14076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4304E"/>
                </a:solidFill>
                <a:effectLst/>
                <a:uFillTx/>
                <a:latin typeface="Cambria"/>
                <a:ea typeface="Cambria"/>
              </a:rPr>
              <a:t>4</a:t>
            </a:r>
            <a:endParaRPr lang="en-US" sz="2000" b="0" u="none" strike="noStrike">
              <a:solidFill>
                <a:srgbClr val="000000"/>
              </a:solidFill>
              <a:effectLst/>
              <a:uFillTx/>
              <a:latin typeface="Arial"/>
            </a:endParaRPr>
          </a:p>
        </p:txBody>
      </p:sp>
      <p:sp>
        <p:nvSpPr>
          <p:cNvPr id="473" name="Text 11"/>
          <p:cNvSpPr/>
          <p:nvPr/>
        </p:nvSpPr>
        <p:spPr>
          <a:xfrm>
            <a:off x="10040040" y="2121480"/>
            <a:ext cx="1407600" cy="3103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000" b="0" u="none" strike="noStrike">
                <a:solidFill>
                  <a:srgbClr val="56687A"/>
                </a:solidFill>
                <a:effectLst/>
                <a:uFillTx/>
                <a:latin typeface="Calibri"/>
                <a:ea typeface="Calibri"/>
              </a:rPr>
              <a:t>Gruppi</a:t>
            </a:r>
            <a:endParaRPr lang="en-US" sz="1000" b="0" u="none" strike="noStrike">
              <a:solidFill>
                <a:srgbClr val="000000"/>
              </a:solidFill>
              <a:effectLst/>
              <a:uFillTx/>
              <a:latin typeface="Arial"/>
            </a:endParaRPr>
          </a:p>
          <a:p>
            <a:pPr algn="ctr" defTabSz="914400">
              <a:lnSpc>
                <a:spcPts val="1599"/>
              </a:lnSpc>
              <a:tabLst>
                <a:tab pos="0" algn="l"/>
              </a:tabLst>
            </a:pPr>
            <a:r>
              <a:rPr lang="en-US" sz="1000" b="0" u="none" strike="noStrike">
                <a:solidFill>
                  <a:srgbClr val="56687A"/>
                </a:solidFill>
                <a:effectLst/>
                <a:uFillTx/>
                <a:latin typeface="Calibri"/>
                <a:ea typeface="Calibri"/>
              </a:rPr>
              <a:t>di lavoro</a:t>
            </a:r>
            <a:endParaRPr lang="en-US" sz="1000" b="0" u="none" strike="noStrike">
              <a:solidFill>
                <a:srgbClr val="000000"/>
              </a:solidFill>
              <a:effectLst/>
              <a:uFillTx/>
              <a:latin typeface="Arial"/>
            </a:endParaRPr>
          </a:p>
        </p:txBody>
      </p:sp>
      <p:sp>
        <p:nvSpPr>
          <p:cNvPr id="474" name="Shape 12"/>
          <p:cNvSpPr/>
          <p:nvPr/>
        </p:nvSpPr>
        <p:spPr>
          <a:xfrm>
            <a:off x="8119800" y="2743200"/>
            <a:ext cx="1663560" cy="1188000"/>
          </a:xfrm>
          <a:prstGeom prst="roundRect">
            <a:avLst>
              <a:gd name="adj" fmla="val 538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5" name="Text 13"/>
          <p:cNvSpPr/>
          <p:nvPr/>
        </p:nvSpPr>
        <p:spPr>
          <a:xfrm>
            <a:off x="8247960" y="2962800"/>
            <a:ext cx="14076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4304E"/>
                </a:solidFill>
                <a:effectLst/>
                <a:uFillTx/>
                <a:latin typeface="Cambria"/>
                <a:ea typeface="Cambria"/>
              </a:rPr>
              <a:t>12</a:t>
            </a:r>
            <a:endParaRPr lang="en-US" sz="2000" b="0" u="none" strike="noStrike">
              <a:solidFill>
                <a:srgbClr val="000000"/>
              </a:solidFill>
              <a:effectLst/>
              <a:uFillTx/>
              <a:latin typeface="Arial"/>
            </a:endParaRPr>
          </a:p>
        </p:txBody>
      </p:sp>
      <p:sp>
        <p:nvSpPr>
          <p:cNvPr id="476" name="Text 14"/>
          <p:cNvSpPr/>
          <p:nvPr/>
        </p:nvSpPr>
        <p:spPr>
          <a:xfrm>
            <a:off x="8247960" y="3438000"/>
            <a:ext cx="1407600" cy="3103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000" b="0" u="none" strike="noStrike">
                <a:solidFill>
                  <a:srgbClr val="56687A"/>
                </a:solidFill>
                <a:effectLst/>
                <a:uFillTx/>
                <a:latin typeface="Calibri"/>
                <a:ea typeface="Calibri"/>
              </a:rPr>
              <a:t>Persone</a:t>
            </a:r>
            <a:endParaRPr lang="en-US" sz="1000" b="0" u="none" strike="noStrike">
              <a:solidFill>
                <a:srgbClr val="000000"/>
              </a:solidFill>
              <a:effectLst/>
              <a:uFillTx/>
              <a:latin typeface="Arial"/>
            </a:endParaRPr>
          </a:p>
          <a:p>
            <a:pPr algn="ctr" defTabSz="914400">
              <a:lnSpc>
                <a:spcPts val="1599"/>
              </a:lnSpc>
              <a:tabLst>
                <a:tab pos="0" algn="l"/>
              </a:tabLst>
            </a:pPr>
            <a:r>
              <a:rPr lang="en-US" sz="1000" b="0" u="none" strike="noStrike">
                <a:solidFill>
                  <a:srgbClr val="56687A"/>
                </a:solidFill>
                <a:effectLst/>
                <a:uFillTx/>
                <a:latin typeface="Calibri"/>
                <a:ea typeface="Calibri"/>
              </a:rPr>
              <a:t>in organico</a:t>
            </a:r>
            <a:endParaRPr lang="en-US" sz="1000" b="0" u="none" strike="noStrike">
              <a:solidFill>
                <a:srgbClr val="000000"/>
              </a:solidFill>
              <a:effectLst/>
              <a:uFillTx/>
              <a:latin typeface="Arial"/>
            </a:endParaRPr>
          </a:p>
        </p:txBody>
      </p:sp>
      <p:sp>
        <p:nvSpPr>
          <p:cNvPr id="477" name="Shape 15"/>
          <p:cNvSpPr/>
          <p:nvPr/>
        </p:nvSpPr>
        <p:spPr>
          <a:xfrm>
            <a:off x="9912240" y="2743200"/>
            <a:ext cx="1663560" cy="1188000"/>
          </a:xfrm>
          <a:prstGeom prst="roundRect">
            <a:avLst>
              <a:gd name="adj" fmla="val 5385"/>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8" name="Text 16"/>
          <p:cNvSpPr/>
          <p:nvPr/>
        </p:nvSpPr>
        <p:spPr>
          <a:xfrm>
            <a:off x="10040040" y="2962800"/>
            <a:ext cx="14076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4304E"/>
                </a:solidFill>
                <a:effectLst/>
                <a:uFillTx/>
                <a:latin typeface="Cambria"/>
                <a:ea typeface="Cambria"/>
              </a:rPr>
              <a:t>20.586</a:t>
            </a:r>
            <a:endParaRPr lang="en-US" sz="2000" b="0" u="none" strike="noStrike">
              <a:solidFill>
                <a:srgbClr val="000000"/>
              </a:solidFill>
              <a:effectLst/>
              <a:uFillTx/>
              <a:latin typeface="Arial"/>
            </a:endParaRPr>
          </a:p>
        </p:txBody>
      </p:sp>
      <p:sp>
        <p:nvSpPr>
          <p:cNvPr id="479" name="Text 17"/>
          <p:cNvSpPr/>
          <p:nvPr/>
        </p:nvSpPr>
        <p:spPr>
          <a:xfrm>
            <a:off x="10040040" y="3438000"/>
            <a:ext cx="1407600" cy="3103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000" b="0" u="none" strike="noStrike">
                <a:solidFill>
                  <a:srgbClr val="56687A"/>
                </a:solidFill>
                <a:effectLst/>
                <a:uFillTx/>
                <a:latin typeface="Calibri"/>
                <a:ea typeface="Calibri"/>
              </a:rPr>
              <a:t>Ore-Persona</a:t>
            </a:r>
            <a:endParaRPr lang="en-US" sz="1000" b="0" u="none" strike="noStrike">
              <a:solidFill>
                <a:srgbClr val="000000"/>
              </a:solidFill>
              <a:effectLst/>
              <a:uFillTx/>
              <a:latin typeface="Arial"/>
            </a:endParaRPr>
          </a:p>
          <a:p>
            <a:pPr algn="ctr" defTabSz="914400">
              <a:lnSpc>
                <a:spcPts val="1599"/>
              </a:lnSpc>
              <a:tabLst>
                <a:tab pos="0" algn="l"/>
              </a:tabLst>
            </a:pPr>
            <a:r>
              <a:rPr lang="en-US" sz="1000" b="0" u="none" strike="noStrike">
                <a:solidFill>
                  <a:srgbClr val="56687A"/>
                </a:solidFill>
                <a:effectLst/>
                <a:uFillTx/>
                <a:latin typeface="Calibri"/>
                <a:ea typeface="Calibri"/>
              </a:rPr>
              <a:t>= 11,75 A/P</a:t>
            </a:r>
            <a:endParaRPr lang="en-US" sz="1000" b="0" u="none" strike="noStrike">
              <a:solidFill>
                <a:srgbClr val="000000"/>
              </a:solidFill>
              <a:effectLst/>
              <a:uFillTx/>
              <a:latin typeface="Arial"/>
            </a:endParaRPr>
          </a:p>
        </p:txBody>
      </p:sp>
      <p:sp>
        <p:nvSpPr>
          <p:cNvPr id="480" name="Shape 18"/>
          <p:cNvSpPr/>
          <p:nvPr/>
        </p:nvSpPr>
        <p:spPr>
          <a:xfrm>
            <a:off x="8119800" y="4114800"/>
            <a:ext cx="3455640" cy="1005120"/>
          </a:xfrm>
          <a:prstGeom prst="roundRect">
            <a:avLst>
              <a:gd name="adj" fmla="val 6364"/>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1" name="Text 19"/>
          <p:cNvSpPr/>
          <p:nvPr/>
        </p:nvSpPr>
        <p:spPr>
          <a:xfrm>
            <a:off x="8339400" y="4224600"/>
            <a:ext cx="30168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Metodologia Agile · Scrum</a:t>
            </a:r>
            <a:endParaRPr lang="en-US" sz="1300" b="0" u="none" strike="noStrike">
              <a:solidFill>
                <a:srgbClr val="000000"/>
              </a:solidFill>
              <a:effectLst/>
              <a:uFillTx/>
              <a:latin typeface="Arial"/>
            </a:endParaRPr>
          </a:p>
        </p:txBody>
      </p:sp>
      <p:sp>
        <p:nvSpPr>
          <p:cNvPr id="482" name="Text 20"/>
          <p:cNvSpPr/>
          <p:nvPr/>
        </p:nvSpPr>
        <p:spPr>
          <a:xfrm>
            <a:off x="8339400" y="4498920"/>
            <a:ext cx="3016800" cy="54792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n-US" sz="1050" b="0" u="none" strike="noStrike">
                <a:solidFill>
                  <a:srgbClr val="56687A"/>
                </a:solidFill>
                <a:effectLst/>
                <a:uFillTx/>
                <a:latin typeface="Calibri"/>
                <a:ea typeface="Calibri"/>
              </a:rPr>
              <a:t>Sprint di due settimane (73 O/P). Il PM è Product Owner, il Software Architect è Scrum Master.</a:t>
            </a:r>
            <a:endParaRPr lang="en-US" sz="1050" b="0" u="none" strike="noStrike">
              <a:solidFill>
                <a:srgbClr val="000000"/>
              </a:solidFill>
              <a:effectLst/>
              <a:uFillTx/>
              <a:latin typeface="Arial"/>
            </a:endParaRPr>
          </a:p>
        </p:txBody>
      </p:sp>
      <p:sp>
        <p:nvSpPr>
          <p:cNvPr id="483" name="Text 21"/>
          <p:cNvSpPr/>
          <p:nvPr/>
        </p:nvSpPr>
        <p:spPr>
          <a:xfrm>
            <a:off x="658440" y="5285160"/>
            <a:ext cx="10834920" cy="913680"/>
          </a:xfrm>
          <a:prstGeom prst="rect">
            <a:avLst/>
          </a:prstGeom>
          <a:noFill/>
          <a:ln w="0">
            <a:noFill/>
          </a:ln>
        </p:spPr>
        <p:style>
          <a:lnRef idx="0"/>
          <a:fillRef idx="0"/>
          <a:effectRef idx="0"/>
          <a:fontRef idx="minor"/>
        </p:style>
        <p:txBody>
          <a:bodyPr lIns="0" tIns="0" rIns="0" bIns="0" anchor="t">
            <a:noAutofit/>
          </a:bodyPr>
          <a:p>
            <a:pPr marL="177840" indent="-177840" defTabSz="914400">
              <a:lnSpc>
                <a:spcPts val="1599"/>
              </a:lnSpc>
              <a:spcAft>
                <a:spcPts val="400"/>
              </a:spcAft>
              <a:buClr>
                <a:srgbClr val="222F3B"/>
              </a:buClr>
              <a:buFont typeface="Symbol" charset="2"/>
              <a:buChar char=""/>
            </a:pPr>
            <a:r>
              <a:rPr lang="en-US" sz="1150" b="0" u="none" strike="noStrike">
                <a:solidFill>
                  <a:srgbClr val="222F3B"/>
                </a:solidFill>
                <a:effectLst/>
                <a:uFillTx/>
                <a:latin typeface="Calibri"/>
                <a:ea typeface="Calibri"/>
              </a:rPr>
              <a:t>Gruppo 0 (12 persone) — organizzazione iniziale e, a chiusura, integrazione, testing e deployment</a:t>
            </a:r>
            <a:endParaRPr lang="en-US" sz="1150" b="0" u="none" strike="noStrike">
              <a:solidFill>
                <a:srgbClr val="000000"/>
              </a:solidFill>
              <a:effectLst/>
              <a:uFillTx/>
              <a:latin typeface="Arial"/>
            </a:endParaRPr>
          </a:p>
          <a:p>
            <a:pPr marL="177840" indent="-177840" defTabSz="914400">
              <a:lnSpc>
                <a:spcPts val="1599"/>
              </a:lnSpc>
              <a:spcAft>
                <a:spcPts val="400"/>
              </a:spcAft>
              <a:buClr>
                <a:srgbClr val="222F3B"/>
              </a:buClr>
              <a:buFont typeface="Symbol" charset="2"/>
              <a:buChar char=""/>
            </a:pPr>
            <a:r>
              <a:rPr lang="en-US" sz="1150" b="0" u="none" strike="noStrike">
                <a:solidFill>
                  <a:srgbClr val="222F3B"/>
                </a:solidFill>
                <a:effectLst/>
                <a:uFillTx/>
                <a:latin typeface="Calibri"/>
                <a:ea typeface="Calibri"/>
              </a:rPr>
              <a:t>Gruppo 1 (4,90) — Back-Office, il task più oneroso con 5.636 O/P · Gruppo 2 (3,56) — Concessionaria e Tuning · Gruppo 3 (3,56) — Certificazione e Front-End</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484"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6 · PIANIFICAZIONE</a:t>
            </a:r>
            <a:endParaRPr lang="en-US" sz="1050" b="0" u="none" strike="noStrike">
              <a:solidFill>
                <a:srgbClr val="000000"/>
              </a:solidFill>
              <a:effectLst/>
              <a:uFillTx/>
              <a:latin typeface="Arial"/>
            </a:endParaRPr>
          </a:p>
        </p:txBody>
      </p:sp>
      <p:sp>
        <p:nvSpPr>
          <p:cNvPr id="485"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Fase 2 — Esercizio e mantenimento</a:t>
            </a:r>
            <a:endParaRPr lang="en-US" sz="3100" b="0" u="none" strike="noStrike">
              <a:solidFill>
                <a:srgbClr val="000000"/>
              </a:solidFill>
              <a:effectLst/>
              <a:uFillTx/>
              <a:latin typeface="Arial"/>
            </a:endParaRPr>
          </a:p>
        </p:txBody>
      </p:sp>
      <p:sp>
        <p:nvSpPr>
          <p:cNvPr id="486"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24</a:t>
            </a:r>
            <a:endParaRPr lang="en-US" sz="1000" b="0" u="none" strike="noStrike">
              <a:solidFill>
                <a:srgbClr val="000000"/>
              </a:solidFill>
              <a:effectLst/>
              <a:uFillTx/>
              <a:latin typeface="Arial"/>
            </a:endParaRPr>
          </a:p>
        </p:txBody>
      </p:sp>
      <p:sp>
        <p:nvSpPr>
          <p:cNvPr id="487"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488" name="Shape 4"/>
          <p:cNvSpPr/>
          <p:nvPr/>
        </p:nvSpPr>
        <p:spPr>
          <a:xfrm>
            <a:off x="644400" y="1371600"/>
            <a:ext cx="10890360" cy="1416600"/>
          </a:xfrm>
          <a:prstGeom prst="roundRect">
            <a:avLst>
              <a:gd name="adj" fmla="val 451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89" name="Image 0" descr="/home/claude/tl/img/gantt_fase2.png"/>
          <p:cNvPicPr/>
          <p:nvPr/>
        </p:nvPicPr>
        <p:blipFill>
          <a:blip r:embed="rId1"/>
          <a:stretch/>
        </p:blipFill>
        <p:spPr>
          <a:xfrm>
            <a:off x="744840" y="1472040"/>
            <a:ext cx="10689120" cy="1215360"/>
          </a:xfrm>
          <a:prstGeom prst="rect">
            <a:avLst/>
          </a:prstGeom>
          <a:noFill/>
          <a:ln w="0">
            <a:noFill/>
          </a:ln>
        </p:spPr>
      </p:pic>
      <p:sp>
        <p:nvSpPr>
          <p:cNvPr id="490" name="Text 5"/>
          <p:cNvSpPr/>
          <p:nvPr/>
        </p:nvSpPr>
        <p:spPr>
          <a:xfrm>
            <a:off x="603360" y="2834640"/>
            <a:ext cx="1097208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i="1" u="none" strike="noStrike">
                <a:solidFill>
                  <a:srgbClr val="788593"/>
                </a:solidFill>
                <a:effectLst/>
                <a:uFillTx/>
                <a:latin typeface="Calibri"/>
                <a:ea typeface="Calibri"/>
              </a:rPr>
              <a:t>GANTT della Fase 2, sui venti trimestri del quinquennio</a:t>
            </a:r>
            <a:endParaRPr lang="en-US" sz="1050" b="0" u="none" strike="noStrike">
              <a:solidFill>
                <a:srgbClr val="000000"/>
              </a:solidFill>
              <a:effectLst/>
              <a:uFillTx/>
              <a:latin typeface="Arial"/>
            </a:endParaRPr>
          </a:p>
        </p:txBody>
      </p:sp>
      <p:sp>
        <p:nvSpPr>
          <p:cNvPr id="491" name="Shape 6"/>
          <p:cNvSpPr/>
          <p:nvPr/>
        </p:nvSpPr>
        <p:spPr>
          <a:xfrm>
            <a:off x="603360" y="3090600"/>
            <a:ext cx="2047680" cy="1919520"/>
          </a:xfrm>
          <a:prstGeom prst="roundRect">
            <a:avLst>
              <a:gd name="adj" fmla="val 333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2" name="Text 7"/>
          <p:cNvSpPr/>
          <p:nvPr/>
        </p:nvSpPr>
        <p:spPr>
          <a:xfrm>
            <a:off x="859680" y="3255120"/>
            <a:ext cx="157212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rgbClr val="14304E"/>
                </a:solidFill>
                <a:effectLst/>
                <a:uFillTx/>
                <a:latin typeface="Cambria"/>
                <a:ea typeface="Cambria"/>
              </a:rPr>
              <a:t>A · Promozione e assistenza commerciale</a:t>
            </a:r>
            <a:endParaRPr lang="en-US" sz="1150" b="0" u="none" strike="noStrike">
              <a:solidFill>
                <a:srgbClr val="000000"/>
              </a:solidFill>
              <a:effectLst/>
              <a:uFillTx/>
              <a:latin typeface="Arial"/>
            </a:endParaRPr>
          </a:p>
        </p:txBody>
      </p:sp>
      <p:sp>
        <p:nvSpPr>
          <p:cNvPr id="493" name="Text 8"/>
          <p:cNvSpPr/>
          <p:nvPr/>
        </p:nvSpPr>
        <p:spPr>
          <a:xfrm>
            <a:off x="859680" y="3886200"/>
            <a:ext cx="1572120" cy="995760"/>
          </a:xfrm>
          <a:prstGeom prst="rect">
            <a:avLst/>
          </a:prstGeom>
          <a:noFill/>
          <a:ln w="0">
            <a:noFill/>
          </a:ln>
        </p:spPr>
        <p:style>
          <a:lnRef idx="0"/>
          <a:fillRef idx="0"/>
          <a:effectRef idx="0"/>
          <a:fontRef idx="minor"/>
        </p:style>
        <p:txBody>
          <a:bodyPr lIns="0" tIns="0" rIns="0" bIns="0" anchor="t">
            <a:noAutofit/>
          </a:bodyPr>
          <a:p>
            <a:pPr defTabSz="914400">
              <a:lnSpc>
                <a:spcPts val="1400"/>
              </a:lnSpc>
              <a:tabLst>
                <a:tab pos="0" algn="l"/>
              </a:tabLst>
            </a:pPr>
            <a:r>
              <a:rPr lang="en-US" sz="950" b="0" u="none" strike="noStrike">
                <a:solidFill>
                  <a:srgbClr val="56687A"/>
                </a:solidFill>
                <a:effectLst/>
                <a:uFillTx/>
                <a:latin typeface="Calibri"/>
                <a:ea typeface="Calibri"/>
              </a:rPr>
              <a:t>Campagne, presentazioni, trattative e personalizzazione dell'offerta.</a:t>
            </a:r>
            <a:endParaRPr lang="en-US" sz="950" b="0" u="none" strike="noStrike">
              <a:solidFill>
                <a:srgbClr val="000000"/>
              </a:solidFill>
              <a:effectLst/>
              <a:uFillTx/>
              <a:latin typeface="Arial"/>
            </a:endParaRPr>
          </a:p>
          <a:p>
            <a:pPr defTabSz="914400">
              <a:lnSpc>
                <a:spcPts val="1400"/>
              </a:lnSpc>
              <a:tabLst>
                <a:tab pos="0" algn="l"/>
              </a:tabLst>
            </a:pPr>
            <a:r>
              <a:rPr lang="en-US" sz="950" b="0" u="none" strike="noStrike">
                <a:solidFill>
                  <a:srgbClr val="56687A"/>
                </a:solidFill>
                <a:effectLst/>
                <a:uFillTx/>
                <a:latin typeface="Calibri"/>
                <a:ea typeface="Calibri"/>
              </a:rPr>
              <a:t>4.204,8 O/P</a:t>
            </a:r>
            <a:endParaRPr lang="en-US" sz="950" b="0" u="none" strike="noStrike">
              <a:solidFill>
                <a:srgbClr val="000000"/>
              </a:solidFill>
              <a:effectLst/>
              <a:uFillTx/>
              <a:latin typeface="Arial"/>
            </a:endParaRPr>
          </a:p>
        </p:txBody>
      </p:sp>
      <p:sp>
        <p:nvSpPr>
          <p:cNvPr id="494" name="Shape 9"/>
          <p:cNvSpPr/>
          <p:nvPr/>
        </p:nvSpPr>
        <p:spPr>
          <a:xfrm>
            <a:off x="2834640" y="3090600"/>
            <a:ext cx="2047680" cy="1919520"/>
          </a:xfrm>
          <a:prstGeom prst="roundRect">
            <a:avLst>
              <a:gd name="adj" fmla="val 333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5" name="Text 10"/>
          <p:cNvSpPr/>
          <p:nvPr/>
        </p:nvSpPr>
        <p:spPr>
          <a:xfrm>
            <a:off x="3090600" y="3255120"/>
            <a:ext cx="157212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rgbClr val="14304E"/>
                </a:solidFill>
                <a:effectLst/>
                <a:uFillTx/>
                <a:latin typeface="Cambria"/>
                <a:ea typeface="Cambria"/>
              </a:rPr>
              <a:t>B · Manutenzione ordinaria</a:t>
            </a:r>
            <a:endParaRPr lang="en-US" sz="1150" b="0" u="none" strike="noStrike">
              <a:solidFill>
                <a:srgbClr val="000000"/>
              </a:solidFill>
              <a:effectLst/>
              <a:uFillTx/>
              <a:latin typeface="Arial"/>
            </a:endParaRPr>
          </a:p>
        </p:txBody>
      </p:sp>
      <p:sp>
        <p:nvSpPr>
          <p:cNvPr id="496" name="Text 11"/>
          <p:cNvSpPr/>
          <p:nvPr/>
        </p:nvSpPr>
        <p:spPr>
          <a:xfrm>
            <a:off x="3090600" y="3639240"/>
            <a:ext cx="1572120" cy="1242720"/>
          </a:xfrm>
          <a:prstGeom prst="rect">
            <a:avLst/>
          </a:prstGeom>
          <a:noFill/>
          <a:ln w="0">
            <a:noFill/>
          </a:ln>
        </p:spPr>
        <p:style>
          <a:lnRef idx="0"/>
          <a:fillRef idx="0"/>
          <a:effectRef idx="0"/>
          <a:fontRef idx="minor"/>
        </p:style>
        <p:txBody>
          <a:bodyPr lIns="0" tIns="0" rIns="0" bIns="0" anchor="t">
            <a:noAutofit/>
          </a:bodyPr>
          <a:p>
            <a:pPr defTabSz="914400">
              <a:lnSpc>
                <a:spcPts val="1400"/>
              </a:lnSpc>
              <a:tabLst>
                <a:tab pos="0" algn="l"/>
              </a:tabLst>
            </a:pPr>
            <a:r>
              <a:rPr lang="en-US" sz="950" b="0" u="none" strike="noStrike">
                <a:solidFill>
                  <a:srgbClr val="56687A"/>
                </a:solidFill>
                <a:effectLst/>
                <a:uFillTx/>
                <a:latin typeface="Calibri"/>
                <a:ea typeface="Calibri"/>
              </a:rPr>
              <a:t>Sicurezza, correzione dei difetti, monitoraggio, gestione dei nodi.</a:t>
            </a:r>
            <a:endParaRPr lang="en-US" sz="950" b="0" u="none" strike="noStrike">
              <a:solidFill>
                <a:srgbClr val="000000"/>
              </a:solidFill>
              <a:effectLst/>
              <a:uFillTx/>
              <a:latin typeface="Arial"/>
            </a:endParaRPr>
          </a:p>
          <a:p>
            <a:pPr defTabSz="914400">
              <a:lnSpc>
                <a:spcPts val="1400"/>
              </a:lnSpc>
              <a:tabLst>
                <a:tab pos="0" algn="l"/>
              </a:tabLst>
            </a:pPr>
            <a:r>
              <a:rPr lang="en-US" sz="950" b="0" u="none" strike="noStrike">
                <a:solidFill>
                  <a:srgbClr val="56687A"/>
                </a:solidFill>
                <a:effectLst/>
                <a:uFillTx/>
                <a:latin typeface="Calibri"/>
                <a:ea typeface="Calibri"/>
              </a:rPr>
              <a:t>16.994,4 O/P</a:t>
            </a:r>
            <a:endParaRPr lang="en-US" sz="950" b="0" u="none" strike="noStrike">
              <a:solidFill>
                <a:srgbClr val="000000"/>
              </a:solidFill>
              <a:effectLst/>
              <a:uFillTx/>
              <a:latin typeface="Arial"/>
            </a:endParaRPr>
          </a:p>
        </p:txBody>
      </p:sp>
      <p:sp>
        <p:nvSpPr>
          <p:cNvPr id="497" name="Shape 12"/>
          <p:cNvSpPr/>
          <p:nvPr/>
        </p:nvSpPr>
        <p:spPr>
          <a:xfrm>
            <a:off x="5065920" y="3090600"/>
            <a:ext cx="2047680" cy="1919520"/>
          </a:xfrm>
          <a:prstGeom prst="roundRect">
            <a:avLst>
              <a:gd name="adj" fmla="val 333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8" name="Text 13"/>
          <p:cNvSpPr/>
          <p:nvPr/>
        </p:nvSpPr>
        <p:spPr>
          <a:xfrm>
            <a:off x="5321880" y="3255120"/>
            <a:ext cx="157212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rgbClr val="14304E"/>
                </a:solidFill>
                <a:effectLst/>
                <a:uFillTx/>
                <a:latin typeface="Cambria"/>
                <a:ea typeface="Cambria"/>
              </a:rPr>
              <a:t>C · Manutenzione evolutiva</a:t>
            </a:r>
            <a:endParaRPr lang="en-US" sz="1150" b="0" u="none" strike="noStrike">
              <a:solidFill>
                <a:srgbClr val="000000"/>
              </a:solidFill>
              <a:effectLst/>
              <a:uFillTx/>
              <a:latin typeface="Arial"/>
            </a:endParaRPr>
          </a:p>
        </p:txBody>
      </p:sp>
      <p:sp>
        <p:nvSpPr>
          <p:cNvPr id="499" name="Text 14"/>
          <p:cNvSpPr/>
          <p:nvPr/>
        </p:nvSpPr>
        <p:spPr>
          <a:xfrm>
            <a:off x="5321880" y="3639240"/>
            <a:ext cx="1572120" cy="1242720"/>
          </a:xfrm>
          <a:prstGeom prst="rect">
            <a:avLst/>
          </a:prstGeom>
          <a:noFill/>
          <a:ln w="0">
            <a:noFill/>
          </a:ln>
        </p:spPr>
        <p:style>
          <a:lnRef idx="0"/>
          <a:fillRef idx="0"/>
          <a:effectRef idx="0"/>
          <a:fontRef idx="minor"/>
        </p:style>
        <p:txBody>
          <a:bodyPr lIns="0" tIns="0" rIns="0" bIns="0" anchor="t">
            <a:noAutofit/>
          </a:bodyPr>
          <a:p>
            <a:pPr defTabSz="914400">
              <a:lnSpc>
                <a:spcPts val="1400"/>
              </a:lnSpc>
              <a:tabLst>
                <a:tab pos="0" algn="l"/>
              </a:tabLst>
            </a:pPr>
            <a:r>
              <a:rPr lang="en-US" sz="950" b="0" u="none" strike="noStrike">
                <a:solidFill>
                  <a:srgbClr val="56687A"/>
                </a:solidFill>
                <a:effectLst/>
                <a:uFillTx/>
                <a:latin typeface="Calibri"/>
                <a:ea typeface="Calibri"/>
              </a:rPr>
              <a:t>Nuove funzionalità per utenti e normativa. A regime dall'Anno 3.</a:t>
            </a:r>
            <a:endParaRPr lang="en-US" sz="950" b="0" u="none" strike="noStrike">
              <a:solidFill>
                <a:srgbClr val="000000"/>
              </a:solidFill>
              <a:effectLst/>
              <a:uFillTx/>
              <a:latin typeface="Arial"/>
            </a:endParaRPr>
          </a:p>
          <a:p>
            <a:pPr defTabSz="914400">
              <a:lnSpc>
                <a:spcPts val="1400"/>
              </a:lnSpc>
              <a:tabLst>
                <a:tab pos="0" algn="l"/>
              </a:tabLst>
            </a:pPr>
            <a:r>
              <a:rPr lang="en-US" sz="950" b="0" u="none" strike="noStrike">
                <a:solidFill>
                  <a:srgbClr val="56687A"/>
                </a:solidFill>
                <a:effectLst/>
                <a:uFillTx/>
                <a:latin typeface="Calibri"/>
                <a:ea typeface="Calibri"/>
              </a:rPr>
              <a:t>13.402,8 O/P</a:t>
            </a:r>
            <a:endParaRPr lang="en-US" sz="950" b="0" u="none" strike="noStrike">
              <a:solidFill>
                <a:srgbClr val="000000"/>
              </a:solidFill>
              <a:effectLst/>
              <a:uFillTx/>
              <a:latin typeface="Arial"/>
            </a:endParaRPr>
          </a:p>
        </p:txBody>
      </p:sp>
      <p:sp>
        <p:nvSpPr>
          <p:cNvPr id="500" name="Shape 15"/>
          <p:cNvSpPr/>
          <p:nvPr/>
        </p:nvSpPr>
        <p:spPr>
          <a:xfrm>
            <a:off x="7296840" y="3090600"/>
            <a:ext cx="2047680" cy="1919520"/>
          </a:xfrm>
          <a:prstGeom prst="roundRect">
            <a:avLst>
              <a:gd name="adj" fmla="val 333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1" name="Text 16"/>
          <p:cNvSpPr/>
          <p:nvPr/>
        </p:nvSpPr>
        <p:spPr>
          <a:xfrm>
            <a:off x="7552800" y="3255120"/>
            <a:ext cx="157212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rgbClr val="14304E"/>
                </a:solidFill>
                <a:effectLst/>
                <a:uFillTx/>
                <a:latin typeface="Cambria"/>
                <a:ea typeface="Cambria"/>
              </a:rPr>
              <a:t>D · Assistenza e onboarding</a:t>
            </a:r>
            <a:endParaRPr lang="en-US" sz="1150" b="0" u="none" strike="noStrike">
              <a:solidFill>
                <a:srgbClr val="000000"/>
              </a:solidFill>
              <a:effectLst/>
              <a:uFillTx/>
              <a:latin typeface="Arial"/>
            </a:endParaRPr>
          </a:p>
        </p:txBody>
      </p:sp>
      <p:sp>
        <p:nvSpPr>
          <p:cNvPr id="502" name="Text 17"/>
          <p:cNvSpPr/>
          <p:nvPr/>
        </p:nvSpPr>
        <p:spPr>
          <a:xfrm>
            <a:off x="7552800" y="3639240"/>
            <a:ext cx="1572120" cy="1242720"/>
          </a:xfrm>
          <a:prstGeom prst="rect">
            <a:avLst/>
          </a:prstGeom>
          <a:noFill/>
          <a:ln w="0">
            <a:noFill/>
          </a:ln>
        </p:spPr>
        <p:style>
          <a:lnRef idx="0"/>
          <a:fillRef idx="0"/>
          <a:effectRef idx="0"/>
          <a:fontRef idx="minor"/>
        </p:style>
        <p:txBody>
          <a:bodyPr lIns="0" tIns="0" rIns="0" bIns="0" anchor="t">
            <a:noAutofit/>
          </a:bodyPr>
          <a:p>
            <a:pPr defTabSz="914400">
              <a:lnSpc>
                <a:spcPts val="1400"/>
              </a:lnSpc>
              <a:tabLst>
                <a:tab pos="0" algn="l"/>
              </a:tabLst>
            </a:pPr>
            <a:r>
              <a:rPr lang="en-US" sz="950" b="0" u="none" strike="noStrike">
                <a:solidFill>
                  <a:srgbClr val="56687A"/>
                </a:solidFill>
                <a:effectLst/>
                <a:uFillTx/>
                <a:latin typeface="Calibri"/>
                <a:ea typeface="Calibri"/>
              </a:rPr>
              <a:t>Supporto e formazione degli attori; gestione delle identità di rete.</a:t>
            </a:r>
            <a:endParaRPr lang="en-US" sz="950" b="0" u="none" strike="noStrike">
              <a:solidFill>
                <a:srgbClr val="000000"/>
              </a:solidFill>
              <a:effectLst/>
              <a:uFillTx/>
              <a:latin typeface="Arial"/>
            </a:endParaRPr>
          </a:p>
          <a:p>
            <a:pPr defTabSz="914400">
              <a:lnSpc>
                <a:spcPts val="1400"/>
              </a:lnSpc>
              <a:tabLst>
                <a:tab pos="0" algn="l"/>
              </a:tabLst>
            </a:pPr>
            <a:r>
              <a:rPr lang="en-US" sz="950" b="0" u="none" strike="noStrike">
                <a:solidFill>
                  <a:srgbClr val="56687A"/>
                </a:solidFill>
                <a:effectLst/>
                <a:uFillTx/>
                <a:latin typeface="Calibri"/>
                <a:ea typeface="Calibri"/>
              </a:rPr>
              <a:t>13.140,0 O/P</a:t>
            </a:r>
            <a:endParaRPr lang="en-US" sz="950" b="0" u="none" strike="noStrike">
              <a:solidFill>
                <a:srgbClr val="000000"/>
              </a:solidFill>
              <a:effectLst/>
              <a:uFillTx/>
              <a:latin typeface="Arial"/>
            </a:endParaRPr>
          </a:p>
        </p:txBody>
      </p:sp>
      <p:sp>
        <p:nvSpPr>
          <p:cNvPr id="503" name="Shape 18"/>
          <p:cNvSpPr/>
          <p:nvPr/>
        </p:nvSpPr>
        <p:spPr>
          <a:xfrm>
            <a:off x="9528120" y="3090600"/>
            <a:ext cx="2047680" cy="1919520"/>
          </a:xfrm>
          <a:prstGeom prst="roundRect">
            <a:avLst>
              <a:gd name="adj" fmla="val 333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4" name="Text 19"/>
          <p:cNvSpPr/>
          <p:nvPr/>
        </p:nvSpPr>
        <p:spPr>
          <a:xfrm>
            <a:off x="9784080" y="3255120"/>
            <a:ext cx="157212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rgbClr val="14304E"/>
                </a:solidFill>
                <a:effectLst/>
                <a:uFillTx/>
                <a:latin typeface="Cambria"/>
                <a:ea typeface="Cambria"/>
              </a:rPr>
              <a:t>E · Analisi dei dati di esercizio</a:t>
            </a:r>
            <a:endParaRPr lang="en-US" sz="1150" b="0" u="none" strike="noStrike">
              <a:solidFill>
                <a:srgbClr val="000000"/>
              </a:solidFill>
              <a:effectLst/>
              <a:uFillTx/>
              <a:latin typeface="Arial"/>
            </a:endParaRPr>
          </a:p>
        </p:txBody>
      </p:sp>
      <p:sp>
        <p:nvSpPr>
          <p:cNvPr id="505" name="Text 20"/>
          <p:cNvSpPr/>
          <p:nvPr/>
        </p:nvSpPr>
        <p:spPr>
          <a:xfrm>
            <a:off x="9784080" y="3639240"/>
            <a:ext cx="1572120" cy="1242720"/>
          </a:xfrm>
          <a:prstGeom prst="rect">
            <a:avLst/>
          </a:prstGeom>
          <a:noFill/>
          <a:ln w="0">
            <a:noFill/>
          </a:ln>
        </p:spPr>
        <p:style>
          <a:lnRef idx="0"/>
          <a:fillRef idx="0"/>
          <a:effectRef idx="0"/>
          <a:fontRef idx="minor"/>
        </p:style>
        <p:txBody>
          <a:bodyPr lIns="0" tIns="0" rIns="0" bIns="0" anchor="t">
            <a:noAutofit/>
          </a:bodyPr>
          <a:p>
            <a:pPr defTabSz="914400">
              <a:lnSpc>
                <a:spcPts val="1400"/>
              </a:lnSpc>
              <a:tabLst>
                <a:tab pos="0" algn="l"/>
              </a:tabLst>
            </a:pPr>
            <a:r>
              <a:rPr lang="en-US" sz="950" b="0" u="none" strike="noStrike">
                <a:solidFill>
                  <a:srgbClr val="56687A"/>
                </a:solidFill>
                <a:effectLst/>
                <a:uFillTx/>
                <a:latin typeface="Calibri"/>
                <a:ea typeface="Calibri"/>
              </a:rPr>
              <a:t>Dati d'uso, reportistica per gli attori business, supporto alle decisioni.</a:t>
            </a:r>
            <a:endParaRPr lang="en-US" sz="950" b="0" u="none" strike="noStrike">
              <a:solidFill>
                <a:srgbClr val="000000"/>
              </a:solidFill>
              <a:effectLst/>
              <a:uFillTx/>
              <a:latin typeface="Arial"/>
            </a:endParaRPr>
          </a:p>
          <a:p>
            <a:pPr defTabSz="914400">
              <a:lnSpc>
                <a:spcPts val="1400"/>
              </a:lnSpc>
              <a:tabLst>
                <a:tab pos="0" algn="l"/>
              </a:tabLst>
            </a:pPr>
            <a:r>
              <a:rPr lang="en-US" sz="950" b="0" u="none" strike="noStrike">
                <a:solidFill>
                  <a:srgbClr val="56687A"/>
                </a:solidFill>
                <a:effectLst/>
                <a:uFillTx/>
                <a:latin typeface="Calibri"/>
                <a:ea typeface="Calibri"/>
              </a:rPr>
              <a:t>13.578,0 O/P</a:t>
            </a:r>
            <a:endParaRPr lang="en-US" sz="950" b="0" u="none" strike="noStrike">
              <a:solidFill>
                <a:srgbClr val="000000"/>
              </a:solidFill>
              <a:effectLst/>
              <a:uFillTx/>
              <a:latin typeface="Arial"/>
            </a:endParaRPr>
          </a:p>
        </p:txBody>
      </p:sp>
      <p:sp>
        <p:nvSpPr>
          <p:cNvPr id="506" name="Shape 21"/>
          <p:cNvSpPr/>
          <p:nvPr/>
        </p:nvSpPr>
        <p:spPr>
          <a:xfrm>
            <a:off x="603360" y="5157360"/>
            <a:ext cx="10972080" cy="968400"/>
          </a:xfrm>
          <a:prstGeom prst="roundRect">
            <a:avLst>
              <a:gd name="adj" fmla="val 6604"/>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7" name="Shape 22"/>
          <p:cNvSpPr/>
          <p:nvPr/>
        </p:nvSpPr>
        <p:spPr>
          <a:xfrm>
            <a:off x="841320" y="5431680"/>
            <a:ext cx="419760" cy="419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8" name="Text 23"/>
          <p:cNvSpPr/>
          <p:nvPr/>
        </p:nvSpPr>
        <p:spPr>
          <a:xfrm>
            <a:off x="841320" y="543168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304E"/>
                </a:solidFill>
                <a:effectLst/>
                <a:uFillTx/>
                <a:latin typeface="Cambria"/>
                <a:ea typeface="Cambria"/>
              </a:rPr>
              <a:t>8</a:t>
            </a:r>
            <a:endParaRPr lang="en-US" sz="1200" b="0" u="none" strike="noStrike">
              <a:solidFill>
                <a:srgbClr val="000000"/>
              </a:solidFill>
              <a:effectLst/>
              <a:uFillTx/>
              <a:latin typeface="Arial"/>
            </a:endParaRPr>
          </a:p>
        </p:txBody>
      </p:sp>
      <p:sp>
        <p:nvSpPr>
          <p:cNvPr id="509" name="Text 24"/>
          <p:cNvSpPr/>
          <p:nvPr/>
        </p:nvSpPr>
        <p:spPr>
          <a:xfrm>
            <a:off x="1444680" y="5285160"/>
            <a:ext cx="9874800" cy="71244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250" b="0" u="none" strike="noStrike">
                <a:solidFill>
                  <a:srgbClr val="4A4124"/>
                </a:solidFill>
                <a:effectLst/>
                <a:uFillTx/>
                <a:latin typeface="Calibri"/>
                <a:ea typeface="Calibri"/>
              </a:rPr>
              <a:t>Il team scende da 12 a 8 persone: 0,5 PM, 0,5 SA, 2 FSD e 4 FSDJ. Dall'Anno 3 la manutenzione evolutiva entra a regime (2,55 A/P), sottraendo impegno agli altri task una volta superato l'avviamento.</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510"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6 · RIEPILOGO</a:t>
            </a:r>
            <a:endParaRPr lang="en-US" sz="1050" b="0" u="none" strike="noStrike">
              <a:solidFill>
                <a:srgbClr val="000000"/>
              </a:solidFill>
              <a:effectLst/>
              <a:uFillTx/>
              <a:latin typeface="Arial"/>
            </a:endParaRPr>
          </a:p>
        </p:txBody>
      </p:sp>
      <p:sp>
        <p:nvSpPr>
          <p:cNvPr id="511"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Risorse umane sui sei anni</a:t>
            </a:r>
            <a:endParaRPr lang="en-US" sz="3100" b="0" u="none" strike="noStrike">
              <a:solidFill>
                <a:srgbClr val="000000"/>
              </a:solidFill>
              <a:effectLst/>
              <a:uFillTx/>
              <a:latin typeface="Arial"/>
            </a:endParaRPr>
          </a:p>
        </p:txBody>
      </p:sp>
      <p:sp>
        <p:nvSpPr>
          <p:cNvPr id="512"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25</a:t>
            </a:r>
            <a:endParaRPr lang="en-US" sz="1000" b="0" u="none" strike="noStrike">
              <a:solidFill>
                <a:srgbClr val="000000"/>
              </a:solidFill>
              <a:effectLst/>
              <a:uFillTx/>
              <a:latin typeface="Arial"/>
            </a:endParaRPr>
          </a:p>
        </p:txBody>
      </p:sp>
      <p:sp>
        <p:nvSpPr>
          <p:cNvPr id="513"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graphicFrame>
        <p:nvGraphicFramePr>
          <p:cNvPr id="514" name="Table 0"/>
          <p:cNvGraphicFramePr/>
          <p:nvPr/>
        </p:nvGraphicFramePr>
        <p:xfrm>
          <a:off x="603360" y="1426320"/>
          <a:ext cx="10972440" cy="2571840"/>
        </p:xfrm>
        <a:graphic>
          <a:graphicData uri="http://schemas.openxmlformats.org/drawingml/2006/table">
            <a:tbl>
              <a:tblPr/>
              <a:tblGrid>
                <a:gridCol w="1371600"/>
                <a:gridCol w="1371600"/>
                <a:gridCol w="1371600"/>
                <a:gridCol w="1371600"/>
                <a:gridCol w="1371600"/>
                <a:gridCol w="1371600"/>
                <a:gridCol w="1371600"/>
                <a:gridCol w="1371600"/>
              </a:tblGrid>
              <a:tr h="292320">
                <a:tc>
                  <a:txBody>
                    <a:bodyPr tIns="36360" bIns="36360" anchor="ctr">
                      <a:noAutofit/>
                    </a:bodyPr>
                    <a:p>
                      <a:pPr defTabSz="914400">
                        <a:lnSpc>
                          <a:spcPct val="100000"/>
                        </a:lnSpc>
                        <a:tabLst>
                          <a:tab pos="0" algn="l"/>
                        </a:tabLst>
                      </a:pPr>
                      <a:r>
                        <a:rPr lang="en-US" sz="1150" b="1" u="none" strike="noStrike">
                          <a:solidFill>
                            <a:srgbClr val="FAF6EC"/>
                          </a:solidFill>
                          <a:effectLst/>
                          <a:uFillTx/>
                          <a:latin typeface="Calibri"/>
                          <a:ea typeface="Calibri"/>
                        </a:rPr>
                        <a:t>Figura (Anni-Persona)</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0</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1</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2</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3</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4</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5</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Totale</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Project Manager</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Software Architect</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Full Stack Developer</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14,00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Full Stack Developer Junior</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5,75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25,75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1" u="none" strike="noStrike">
                          <a:solidFill>
                            <a:srgbClr val="14304E"/>
                          </a:solidFill>
                          <a:effectLst/>
                          <a:uFillTx/>
                          <a:latin typeface="Calibri"/>
                          <a:ea typeface="Calibri"/>
                        </a:rPr>
                        <a:t>TOTALE Anni-Persona</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11,75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7,00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7,00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7,00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7,00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7,00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46,75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Numero di persone</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12</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bl>
          </a:graphicData>
        </a:graphic>
      </p:graphicFrame>
      <p:sp>
        <p:nvSpPr>
          <p:cNvPr id="515" name="Shape 4"/>
          <p:cNvSpPr/>
          <p:nvPr/>
        </p:nvSpPr>
        <p:spPr>
          <a:xfrm>
            <a:off x="603360" y="4224600"/>
            <a:ext cx="5348520" cy="1901160"/>
          </a:xfrm>
          <a:prstGeom prst="roundRect">
            <a:avLst>
              <a:gd name="adj" fmla="val 336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6" name="Text 5"/>
          <p:cNvSpPr/>
          <p:nvPr/>
        </p:nvSpPr>
        <p:spPr>
          <a:xfrm>
            <a:off x="859680" y="4462200"/>
            <a:ext cx="487296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4304E"/>
                </a:solidFill>
                <a:effectLst/>
                <a:uFillTx/>
                <a:latin typeface="Cambria"/>
                <a:ea typeface="Cambria"/>
              </a:rPr>
              <a:t>Fase 1 — team allargato</a:t>
            </a:r>
            <a:endParaRPr lang="en-US" sz="1450" b="0" u="none" strike="noStrike">
              <a:solidFill>
                <a:srgbClr val="000000"/>
              </a:solidFill>
              <a:effectLst/>
              <a:uFillTx/>
              <a:latin typeface="Arial"/>
            </a:endParaRPr>
          </a:p>
        </p:txBody>
      </p:sp>
      <p:sp>
        <p:nvSpPr>
          <p:cNvPr id="517" name="Text 6"/>
          <p:cNvSpPr/>
          <p:nvPr/>
        </p:nvSpPr>
        <p:spPr>
          <a:xfrm>
            <a:off x="859680" y="4919400"/>
            <a:ext cx="4872960" cy="1078200"/>
          </a:xfrm>
          <a:prstGeom prst="rect">
            <a:avLst/>
          </a:prstGeom>
          <a:noFill/>
          <a:ln w="0">
            <a:noFill/>
          </a:ln>
        </p:spPr>
        <p:style>
          <a:lnRef idx="0"/>
          <a:fillRef idx="0"/>
          <a:effectRef idx="0"/>
          <a:fontRef idx="minor"/>
        </p:style>
        <p:txBody>
          <a:bodyPr lIns="0" tIns="0" rIns="0" bIns="0" anchor="t">
            <a:noAutofit/>
          </a:bodyPr>
          <a:p>
            <a:pPr defTabSz="914400">
              <a:lnSpc>
                <a:spcPts val="1800"/>
              </a:lnSpc>
              <a:tabLst>
                <a:tab pos="0" algn="l"/>
              </a:tabLst>
            </a:pPr>
            <a:r>
              <a:rPr lang="en-US" sz="1200" b="0" u="none" strike="noStrike">
                <a:solidFill>
                  <a:srgbClr val="56687A"/>
                </a:solidFill>
                <a:effectLst/>
                <a:uFillTx/>
                <a:latin typeface="Calibri"/>
                <a:ea typeface="Calibri"/>
              </a:rPr>
              <a:t>Dodici persone, quattro senior e sei junior: serve a parallelizzare i cinque sottosistemi e la componente blockchain, e ad accorciare il Time-to-Market.</a:t>
            </a:r>
            <a:endParaRPr lang="en-US" sz="1200" b="0" u="none" strike="noStrike">
              <a:solidFill>
                <a:srgbClr val="000000"/>
              </a:solidFill>
              <a:effectLst/>
              <a:uFillTx/>
              <a:latin typeface="Arial"/>
            </a:endParaRPr>
          </a:p>
        </p:txBody>
      </p:sp>
      <p:sp>
        <p:nvSpPr>
          <p:cNvPr id="518" name="Shape 7"/>
          <p:cNvSpPr/>
          <p:nvPr/>
        </p:nvSpPr>
        <p:spPr>
          <a:xfrm>
            <a:off x="6226920" y="4224600"/>
            <a:ext cx="5348520" cy="1901160"/>
          </a:xfrm>
          <a:prstGeom prst="roundRect">
            <a:avLst>
              <a:gd name="adj" fmla="val 3365"/>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9" name="Text 8"/>
          <p:cNvSpPr/>
          <p:nvPr/>
        </p:nvSpPr>
        <p:spPr>
          <a:xfrm>
            <a:off x="6483240" y="4462200"/>
            <a:ext cx="487296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50" b="1" u="none" strike="noStrike">
                <a:solidFill>
                  <a:srgbClr val="14304E"/>
                </a:solidFill>
                <a:effectLst/>
                <a:uFillTx/>
                <a:latin typeface="Cambria"/>
                <a:ea typeface="Cambria"/>
              </a:rPr>
              <a:t>Fase 2 — organico ottimizzato</a:t>
            </a:r>
            <a:endParaRPr lang="en-US" sz="1450" b="0" u="none" strike="noStrike">
              <a:solidFill>
                <a:srgbClr val="000000"/>
              </a:solidFill>
              <a:effectLst/>
              <a:uFillTx/>
              <a:latin typeface="Arial"/>
            </a:endParaRPr>
          </a:p>
        </p:txBody>
      </p:sp>
      <p:sp>
        <p:nvSpPr>
          <p:cNvPr id="520" name="Text 9"/>
          <p:cNvSpPr/>
          <p:nvPr/>
        </p:nvSpPr>
        <p:spPr>
          <a:xfrm>
            <a:off x="6483240" y="4919400"/>
            <a:ext cx="4872960" cy="1078200"/>
          </a:xfrm>
          <a:prstGeom prst="rect">
            <a:avLst/>
          </a:prstGeom>
          <a:noFill/>
          <a:ln w="0">
            <a:noFill/>
          </a:ln>
        </p:spPr>
        <p:style>
          <a:lnRef idx="0"/>
          <a:fillRef idx="0"/>
          <a:effectRef idx="0"/>
          <a:fontRef idx="minor"/>
        </p:style>
        <p:txBody>
          <a:bodyPr lIns="0" tIns="0" rIns="0" bIns="0" anchor="t">
            <a:noAutofit/>
          </a:bodyPr>
          <a:p>
            <a:pPr defTabSz="914400">
              <a:lnSpc>
                <a:spcPts val="1800"/>
              </a:lnSpc>
              <a:tabLst>
                <a:tab pos="0" algn="l"/>
              </a:tabLst>
            </a:pPr>
            <a:r>
              <a:rPr lang="en-US" sz="1200" b="0" u="none" strike="noStrike">
                <a:solidFill>
                  <a:srgbClr val="56687A"/>
                </a:solidFill>
                <a:effectLst/>
                <a:uFillTx/>
                <a:latin typeface="Calibri"/>
                <a:ea typeface="Calibri"/>
              </a:rPr>
              <a:t>Otto persone. Fatto il deployment e consolidato il chaincode, il lavoro diventa monitoraggio, assistenza e aggiornamenti incrementali.</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521"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7 · BUSINESS PLAN</a:t>
            </a:r>
            <a:endParaRPr lang="en-US" sz="1050" b="0" u="none" strike="noStrike">
              <a:solidFill>
                <a:srgbClr val="000000"/>
              </a:solidFill>
              <a:effectLst/>
              <a:uFillTx/>
              <a:latin typeface="Arial"/>
            </a:endParaRPr>
          </a:p>
        </p:txBody>
      </p:sp>
      <p:sp>
        <p:nvSpPr>
          <p:cNvPr id="522"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Costi della Fase 1 e capitale investito</a:t>
            </a:r>
            <a:endParaRPr lang="en-US" sz="3100" b="0" u="none" strike="noStrike">
              <a:solidFill>
                <a:srgbClr val="000000"/>
              </a:solidFill>
              <a:effectLst/>
              <a:uFillTx/>
              <a:latin typeface="Arial"/>
            </a:endParaRPr>
          </a:p>
        </p:txBody>
      </p:sp>
      <p:sp>
        <p:nvSpPr>
          <p:cNvPr id="523"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26</a:t>
            </a:r>
            <a:endParaRPr lang="en-US" sz="1000" b="0" u="none" strike="noStrike">
              <a:solidFill>
                <a:srgbClr val="000000"/>
              </a:solidFill>
              <a:effectLst/>
              <a:uFillTx/>
              <a:latin typeface="Arial"/>
            </a:endParaRPr>
          </a:p>
        </p:txBody>
      </p:sp>
      <p:sp>
        <p:nvSpPr>
          <p:cNvPr id="524"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525" name="Text 4"/>
          <p:cNvSpPr/>
          <p:nvPr/>
        </p:nvSpPr>
        <p:spPr>
          <a:xfrm>
            <a:off x="621720" y="1334880"/>
            <a:ext cx="10880640" cy="456480"/>
          </a:xfrm>
          <a:prstGeom prst="rect">
            <a:avLst/>
          </a:prstGeom>
          <a:noFill/>
          <a:ln w="0">
            <a:noFill/>
          </a:ln>
        </p:spPr>
        <p:style>
          <a:lnRef idx="0"/>
          <a:fillRef idx="0"/>
          <a:effectRef idx="0"/>
          <a:fontRef idx="minor"/>
        </p:style>
        <p:txBody>
          <a:bodyPr lIns="0" tIns="0" rIns="0" bIns="0" anchor="ctr">
            <a:noAutofit/>
          </a:bodyPr>
          <a:p>
            <a:pPr defTabSz="914400">
              <a:lnSpc>
                <a:spcPts val="2100"/>
              </a:lnSpc>
              <a:tabLst>
                <a:tab pos="0" algn="l"/>
              </a:tabLst>
            </a:pPr>
            <a:r>
              <a:rPr lang="en-US" sz="1450" b="0" i="1" u="none" strike="noStrike">
                <a:solidFill>
                  <a:srgbClr val="56687A"/>
                </a:solidFill>
                <a:effectLst/>
                <a:uFillTx/>
                <a:latin typeface="Calibri"/>
                <a:ea typeface="Calibri"/>
              </a:rPr>
              <a:t>Si assume che il progetto sia realizzato da una società di sviluppo software già operativa, non da una start-up, con solo personale interno.</a:t>
            </a:r>
            <a:endParaRPr lang="en-US" sz="1450" b="0" u="none" strike="noStrike">
              <a:solidFill>
                <a:srgbClr val="000000"/>
              </a:solidFill>
              <a:effectLst/>
              <a:uFillTx/>
              <a:latin typeface="Arial"/>
            </a:endParaRPr>
          </a:p>
        </p:txBody>
      </p:sp>
      <p:graphicFrame>
        <p:nvGraphicFramePr>
          <p:cNvPr id="526" name="Table 0"/>
          <p:cNvGraphicFramePr/>
          <p:nvPr/>
        </p:nvGraphicFramePr>
        <p:xfrm>
          <a:off x="603360" y="1883520"/>
          <a:ext cx="5943240" cy="2338560"/>
        </p:xfrm>
        <a:graphic>
          <a:graphicData uri="http://schemas.openxmlformats.org/drawingml/2006/table">
            <a:tbl>
              <a:tblPr/>
              <a:tblGrid>
                <a:gridCol w="2971800"/>
                <a:gridCol w="2971800"/>
              </a:tblGrid>
              <a:tr h="292320">
                <a:tc>
                  <a:txBody>
                    <a:bodyPr tIns="36360" bIns="36360" anchor="ctr">
                      <a:noAutofit/>
                    </a:bodyPr>
                    <a:p>
                      <a:pPr defTabSz="914400">
                        <a:lnSpc>
                          <a:spcPct val="100000"/>
                        </a:lnSpc>
                        <a:tabLst>
                          <a:tab pos="0" algn="l"/>
                        </a:tabLst>
                      </a:pPr>
                      <a:r>
                        <a:rPr lang="en-US" sz="1150" b="1" u="none" strike="noStrike">
                          <a:solidFill>
                            <a:srgbClr val="FAF6EC"/>
                          </a:solidFill>
                          <a:effectLst/>
                          <a:uFillTx/>
                          <a:latin typeface="Calibri"/>
                          <a:ea typeface="Calibri"/>
                        </a:rPr>
                        <a:t>Voce di costo (Anno 0)</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Importo in €</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P — Costo del personale</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456.350,04</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SG — Spese generali (20% di P)</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91.270,01</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Costi di cloud computing</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31.570,00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Consulenze esterne</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20.000,00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1" u="none" strike="noStrike">
                          <a:solidFill>
                            <a:srgbClr val="14304E"/>
                          </a:solidFill>
                          <a:effectLst/>
                          <a:uFillTx/>
                          <a:latin typeface="Calibri"/>
                          <a:ea typeface="Calibri"/>
                        </a:rPr>
                        <a:t>C — COSTO TOTALE</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599.190,05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O — Oneri finanziari su C (12%)</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71.902,81</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1" u="none" strike="noStrike">
                          <a:solidFill>
                            <a:srgbClr val="14304E"/>
                          </a:solidFill>
                          <a:effectLst/>
                          <a:uFillTx/>
                          <a:latin typeface="Calibri"/>
                          <a:ea typeface="Calibri"/>
                        </a:rPr>
                        <a:t>CO — COSTO CON ONERI</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671.092,86</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r>
            </a:tbl>
          </a:graphicData>
        </a:graphic>
      </p:graphicFrame>
      <p:sp>
        <p:nvSpPr>
          <p:cNvPr id="527" name="Shape 5"/>
          <p:cNvSpPr/>
          <p:nvPr/>
        </p:nvSpPr>
        <p:spPr>
          <a:xfrm>
            <a:off x="603360" y="4572000"/>
            <a:ext cx="2888640" cy="1206360"/>
          </a:xfrm>
          <a:prstGeom prst="roundRect">
            <a:avLst>
              <a:gd name="adj" fmla="val 5303"/>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8" name="Text 6"/>
          <p:cNvSpPr/>
          <p:nvPr/>
        </p:nvSpPr>
        <p:spPr>
          <a:xfrm>
            <a:off x="731520" y="4791600"/>
            <a:ext cx="263268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100" b="1" u="none" strike="noStrike">
                <a:solidFill>
                  <a:srgbClr val="14304E"/>
                </a:solidFill>
                <a:effectLst/>
                <a:uFillTx/>
                <a:latin typeface="Cambria"/>
                <a:ea typeface="Cambria"/>
              </a:rPr>
              <a:t>671.092,86 €</a:t>
            </a:r>
            <a:endParaRPr lang="en-US" sz="2100" b="0" u="none" strike="noStrike">
              <a:solidFill>
                <a:srgbClr val="000000"/>
              </a:solidFill>
              <a:effectLst/>
              <a:uFillTx/>
              <a:latin typeface="Arial"/>
            </a:endParaRPr>
          </a:p>
        </p:txBody>
      </p:sp>
      <p:sp>
        <p:nvSpPr>
          <p:cNvPr id="529" name="Text 7"/>
          <p:cNvSpPr/>
          <p:nvPr/>
        </p:nvSpPr>
        <p:spPr>
          <a:xfrm>
            <a:off x="731520" y="5266800"/>
            <a:ext cx="2632680" cy="3283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Capitale investito</a:t>
            </a:r>
            <a:endParaRPr lang="en-US" sz="11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nell'Anno 0</a:t>
            </a:r>
            <a:endParaRPr lang="en-US" sz="1100" b="0" u="none" strike="noStrike">
              <a:solidFill>
                <a:srgbClr val="000000"/>
              </a:solidFill>
              <a:effectLst/>
              <a:uFillTx/>
              <a:latin typeface="Arial"/>
            </a:endParaRPr>
          </a:p>
        </p:txBody>
      </p:sp>
      <p:sp>
        <p:nvSpPr>
          <p:cNvPr id="530" name="Shape 8"/>
          <p:cNvSpPr/>
          <p:nvPr/>
        </p:nvSpPr>
        <p:spPr>
          <a:xfrm>
            <a:off x="3657600" y="4572000"/>
            <a:ext cx="2888640" cy="1206360"/>
          </a:xfrm>
          <a:prstGeom prst="roundRect">
            <a:avLst>
              <a:gd name="adj" fmla="val 5303"/>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1" name="Text 9"/>
          <p:cNvSpPr/>
          <p:nvPr/>
        </p:nvSpPr>
        <p:spPr>
          <a:xfrm>
            <a:off x="3785760" y="4791600"/>
            <a:ext cx="263268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100" b="1" u="none" strike="noStrike">
                <a:solidFill>
                  <a:srgbClr val="14304E"/>
                </a:solidFill>
                <a:effectLst/>
                <a:uFillTx/>
                <a:latin typeface="Cambria"/>
                <a:ea typeface="Cambria"/>
              </a:rPr>
              <a:t>134.218,57 €</a:t>
            </a:r>
            <a:endParaRPr lang="en-US" sz="2100" b="0" u="none" strike="noStrike">
              <a:solidFill>
                <a:srgbClr val="000000"/>
              </a:solidFill>
              <a:effectLst/>
              <a:uFillTx/>
              <a:latin typeface="Arial"/>
            </a:endParaRPr>
          </a:p>
        </p:txBody>
      </p:sp>
      <p:sp>
        <p:nvSpPr>
          <p:cNvPr id="532" name="Text 10"/>
          <p:cNvSpPr/>
          <p:nvPr/>
        </p:nvSpPr>
        <p:spPr>
          <a:xfrm>
            <a:off x="3785760" y="5266800"/>
            <a:ext cx="2632680" cy="32832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Rata annua di ammortamento</a:t>
            </a:r>
            <a:endParaRPr lang="en-US" sz="11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sui cinque anni</a:t>
            </a:r>
            <a:endParaRPr lang="en-US" sz="1100" b="0" u="none" strike="noStrike">
              <a:solidFill>
                <a:srgbClr val="000000"/>
              </a:solidFill>
              <a:effectLst/>
              <a:uFillTx/>
              <a:latin typeface="Arial"/>
            </a:endParaRPr>
          </a:p>
        </p:txBody>
      </p:sp>
      <p:sp>
        <p:nvSpPr>
          <p:cNvPr id="533" name="Shape 11"/>
          <p:cNvSpPr/>
          <p:nvPr/>
        </p:nvSpPr>
        <p:spPr>
          <a:xfrm>
            <a:off x="6821280" y="1828800"/>
            <a:ext cx="4754160" cy="991440"/>
          </a:xfrm>
          <a:prstGeom prst="roundRect">
            <a:avLst>
              <a:gd name="adj" fmla="val 6452"/>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4" name="Text 12"/>
          <p:cNvSpPr/>
          <p:nvPr/>
        </p:nvSpPr>
        <p:spPr>
          <a:xfrm>
            <a:off x="7077600" y="1993320"/>
            <a:ext cx="427860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Costo del personale</a:t>
            </a:r>
            <a:endParaRPr lang="en-US" sz="1350" b="0" u="none" strike="noStrike">
              <a:solidFill>
                <a:srgbClr val="000000"/>
              </a:solidFill>
              <a:effectLst/>
              <a:uFillTx/>
              <a:latin typeface="Arial"/>
            </a:endParaRPr>
          </a:p>
        </p:txBody>
      </p:sp>
      <p:sp>
        <p:nvSpPr>
          <p:cNvPr id="535" name="Text 13"/>
          <p:cNvSpPr/>
          <p:nvPr/>
        </p:nvSpPr>
        <p:spPr>
          <a:xfrm>
            <a:off x="7077600" y="2377440"/>
            <a:ext cx="4278600" cy="31464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n-US" sz="1050" b="0" u="none" strike="noStrike">
                <a:solidFill>
                  <a:srgbClr val="56687A"/>
                </a:solidFill>
                <a:effectLst/>
                <a:uFillTx/>
                <a:latin typeface="Calibri"/>
                <a:ea typeface="Calibri"/>
              </a:rPr>
              <a:t>RAL su 13 mensilità, più TFR (RAL/13,5) e oneri a carico azienda al 24%. Livelli CCNL Metalmeccanici: Quadro, B3, B2 e B1.</a:t>
            </a:r>
            <a:endParaRPr lang="en-US" sz="1050" b="0" u="none" strike="noStrike">
              <a:solidFill>
                <a:srgbClr val="000000"/>
              </a:solidFill>
              <a:effectLst/>
              <a:uFillTx/>
              <a:latin typeface="Arial"/>
            </a:endParaRPr>
          </a:p>
        </p:txBody>
      </p:sp>
      <p:sp>
        <p:nvSpPr>
          <p:cNvPr id="536" name="Shape 14"/>
          <p:cNvSpPr/>
          <p:nvPr/>
        </p:nvSpPr>
        <p:spPr>
          <a:xfrm>
            <a:off x="6821280" y="2930760"/>
            <a:ext cx="4754160" cy="991440"/>
          </a:xfrm>
          <a:prstGeom prst="roundRect">
            <a:avLst>
              <a:gd name="adj" fmla="val 6452"/>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7" name="Text 15"/>
          <p:cNvSpPr/>
          <p:nvPr/>
        </p:nvSpPr>
        <p:spPr>
          <a:xfrm>
            <a:off x="7077600" y="3095280"/>
            <a:ext cx="427860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Spese generali</a:t>
            </a:r>
            <a:endParaRPr lang="en-US" sz="1350" b="0" u="none" strike="noStrike">
              <a:solidFill>
                <a:srgbClr val="000000"/>
              </a:solidFill>
              <a:effectLst/>
              <a:uFillTx/>
              <a:latin typeface="Arial"/>
            </a:endParaRPr>
          </a:p>
        </p:txBody>
      </p:sp>
      <p:sp>
        <p:nvSpPr>
          <p:cNvPr id="538" name="Text 16"/>
          <p:cNvSpPr/>
          <p:nvPr/>
        </p:nvSpPr>
        <p:spPr>
          <a:xfrm>
            <a:off x="7077600" y="3479400"/>
            <a:ext cx="4278600" cy="31464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n-US" sz="1050" b="0" u="none" strike="noStrike">
                <a:solidFill>
                  <a:srgbClr val="56687A"/>
                </a:solidFill>
                <a:effectLst/>
                <a:uFillTx/>
                <a:latin typeface="Calibri"/>
                <a:ea typeface="Calibri"/>
              </a:rPr>
              <a:t>Affitti, amministrazione, utenze e servizi. Stima forfettaria al 20% del costo del personale.</a:t>
            </a:r>
            <a:endParaRPr lang="en-US" sz="1050" b="0" u="none" strike="noStrike">
              <a:solidFill>
                <a:srgbClr val="000000"/>
              </a:solidFill>
              <a:effectLst/>
              <a:uFillTx/>
              <a:latin typeface="Arial"/>
            </a:endParaRPr>
          </a:p>
        </p:txBody>
      </p:sp>
      <p:sp>
        <p:nvSpPr>
          <p:cNvPr id="539" name="Shape 17"/>
          <p:cNvSpPr/>
          <p:nvPr/>
        </p:nvSpPr>
        <p:spPr>
          <a:xfrm>
            <a:off x="6821280" y="4032360"/>
            <a:ext cx="4754160" cy="991440"/>
          </a:xfrm>
          <a:prstGeom prst="roundRect">
            <a:avLst>
              <a:gd name="adj" fmla="val 6452"/>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0" name="Text 18"/>
          <p:cNvSpPr/>
          <p:nvPr/>
        </p:nvSpPr>
        <p:spPr>
          <a:xfrm>
            <a:off x="7077600" y="4197240"/>
            <a:ext cx="427860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Cloud computing</a:t>
            </a:r>
            <a:endParaRPr lang="en-US" sz="1350" b="0" u="none" strike="noStrike">
              <a:solidFill>
                <a:srgbClr val="000000"/>
              </a:solidFill>
              <a:effectLst/>
              <a:uFillTx/>
              <a:latin typeface="Arial"/>
            </a:endParaRPr>
          </a:p>
        </p:txBody>
      </p:sp>
      <p:sp>
        <p:nvSpPr>
          <p:cNvPr id="541" name="Text 19"/>
          <p:cNvSpPr/>
          <p:nvPr/>
        </p:nvSpPr>
        <p:spPr>
          <a:xfrm>
            <a:off x="7077600" y="4581000"/>
            <a:ext cx="4278600" cy="31464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n-US" sz="1050" b="0" u="none" strike="noStrike">
                <a:solidFill>
                  <a:srgbClr val="56687A"/>
                </a:solidFill>
                <a:effectLst/>
                <a:uFillTx/>
                <a:latin typeface="Calibri"/>
                <a:ea typeface="Calibri"/>
              </a:rPr>
              <a:t>Pay-per-use: 20 € fissi al mese più 2 €/ora di calcolo, sul monte ore di ciascun profilo.</a:t>
            </a:r>
            <a:endParaRPr lang="en-US" sz="1050" b="0" u="none" strike="noStrike">
              <a:solidFill>
                <a:srgbClr val="000000"/>
              </a:solidFill>
              <a:effectLst/>
              <a:uFillTx/>
              <a:latin typeface="Arial"/>
            </a:endParaRPr>
          </a:p>
        </p:txBody>
      </p:sp>
      <p:sp>
        <p:nvSpPr>
          <p:cNvPr id="542" name="Shape 20"/>
          <p:cNvSpPr/>
          <p:nvPr/>
        </p:nvSpPr>
        <p:spPr>
          <a:xfrm>
            <a:off x="6821280" y="5134320"/>
            <a:ext cx="4754160" cy="991440"/>
          </a:xfrm>
          <a:prstGeom prst="roundRect">
            <a:avLst>
              <a:gd name="adj" fmla="val 6452"/>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3" name="Text 21"/>
          <p:cNvSpPr/>
          <p:nvPr/>
        </p:nvSpPr>
        <p:spPr>
          <a:xfrm>
            <a:off x="7077600" y="5298840"/>
            <a:ext cx="427860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50" b="1" u="none" strike="noStrike">
                <a:solidFill>
                  <a:srgbClr val="14304E"/>
                </a:solidFill>
                <a:effectLst/>
                <a:uFillTx/>
                <a:latin typeface="Cambria"/>
                <a:ea typeface="Cambria"/>
              </a:rPr>
              <a:t>Oneri e fiscalità</a:t>
            </a:r>
            <a:endParaRPr lang="en-US" sz="1350" b="0" u="none" strike="noStrike">
              <a:solidFill>
                <a:srgbClr val="000000"/>
              </a:solidFill>
              <a:effectLst/>
              <a:uFillTx/>
              <a:latin typeface="Arial"/>
            </a:endParaRPr>
          </a:p>
        </p:txBody>
      </p:sp>
      <p:sp>
        <p:nvSpPr>
          <p:cNvPr id="544" name="Text 22"/>
          <p:cNvSpPr/>
          <p:nvPr/>
        </p:nvSpPr>
        <p:spPr>
          <a:xfrm>
            <a:off x="7077600" y="5682960"/>
            <a:ext cx="4278600" cy="31464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n-US" sz="1050" b="0" u="none" strike="noStrike">
                <a:solidFill>
                  <a:srgbClr val="56687A"/>
                </a:solidFill>
                <a:effectLst/>
                <a:uFillTx/>
                <a:latin typeface="Calibri"/>
                <a:ea typeface="Calibri"/>
              </a:rPr>
              <a:t>Tasso prudenziale del 12% sul capitale finanziato. IRES al 24% e IRAP al 4,82% (Calabria).</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545"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7 · BUSINESS PLAN</a:t>
            </a:r>
            <a:endParaRPr lang="en-US" sz="1050" b="0" u="none" strike="noStrike">
              <a:solidFill>
                <a:srgbClr val="000000"/>
              </a:solidFill>
              <a:effectLst/>
              <a:uFillTx/>
              <a:latin typeface="Arial"/>
            </a:endParaRPr>
          </a:p>
        </p:txBody>
      </p:sp>
      <p:sp>
        <p:nvSpPr>
          <p:cNvPr id="546"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Ricavi della Fase 2</a:t>
            </a:r>
            <a:endParaRPr lang="en-US" sz="3100" b="0" u="none" strike="noStrike">
              <a:solidFill>
                <a:srgbClr val="000000"/>
              </a:solidFill>
              <a:effectLst/>
              <a:uFillTx/>
              <a:latin typeface="Arial"/>
            </a:endParaRPr>
          </a:p>
        </p:txBody>
      </p:sp>
      <p:sp>
        <p:nvSpPr>
          <p:cNvPr id="547"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27</a:t>
            </a:r>
            <a:endParaRPr lang="en-US" sz="1000" b="0" u="none" strike="noStrike">
              <a:solidFill>
                <a:srgbClr val="000000"/>
              </a:solidFill>
              <a:effectLst/>
              <a:uFillTx/>
              <a:latin typeface="Arial"/>
            </a:endParaRPr>
          </a:p>
        </p:txBody>
      </p:sp>
      <p:sp>
        <p:nvSpPr>
          <p:cNvPr id="548"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graphicFrame>
        <p:nvGraphicFramePr>
          <p:cNvPr id="549" name="Table 0"/>
          <p:cNvGraphicFramePr/>
          <p:nvPr/>
        </p:nvGraphicFramePr>
        <p:xfrm>
          <a:off x="603360" y="1426320"/>
          <a:ext cx="10971720" cy="1885320"/>
        </p:xfrm>
        <a:graphic>
          <a:graphicData uri="http://schemas.openxmlformats.org/drawingml/2006/table">
            <a:tbl>
              <a:tblPr/>
              <a:tblGrid>
                <a:gridCol w="1567440"/>
                <a:gridCol w="1567440"/>
                <a:gridCol w="1567440"/>
                <a:gridCol w="1567440"/>
                <a:gridCol w="1567440"/>
                <a:gridCol w="1567440"/>
                <a:gridCol w="1567440"/>
              </a:tblGrid>
              <a:tr h="292320">
                <a:tc>
                  <a:txBody>
                    <a:bodyPr tIns="36360" bIns="36360" anchor="ctr">
                      <a:noAutofit/>
                    </a:bodyPr>
                    <a:p>
                      <a:pPr defTabSz="914400">
                        <a:lnSpc>
                          <a:spcPct val="100000"/>
                        </a:lnSpc>
                        <a:tabLst>
                          <a:tab pos="0" algn="l"/>
                        </a:tabLst>
                      </a:pPr>
                      <a:r>
                        <a:rPr lang="en-US" sz="1150" b="1" u="none" strike="noStrike">
                          <a:solidFill>
                            <a:srgbClr val="FAF6EC"/>
                          </a:solidFill>
                          <a:effectLst/>
                          <a:uFillTx/>
                          <a:latin typeface="Calibri"/>
                          <a:ea typeface="Calibri"/>
                        </a:rPr>
                        <a:t>Ricavi Fase 2 (€)</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1</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2</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3</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4</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5</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Totale</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Numero intermediari</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110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Totale abbonamenti</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300.000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450.000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600.000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750.000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1.200.000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3.300.000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Numero verticalizzazioni</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60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75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120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320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Totale verticalizzazioni</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100.000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180.000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180.000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225.000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360.000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1.045.000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1" u="none" strike="noStrike">
                          <a:solidFill>
                            <a:srgbClr val="14304E"/>
                          </a:solidFill>
                          <a:effectLst/>
                          <a:uFillTx/>
                          <a:latin typeface="Calibri"/>
                          <a:ea typeface="Calibri"/>
                        </a:rPr>
                        <a:t>RICAVO TOTALE</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400.000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630.000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780.000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975.000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1.560.000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4.345.000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r>
            </a:tbl>
          </a:graphicData>
        </a:graphic>
      </p:graphicFrame>
      <p:sp>
        <p:nvSpPr>
          <p:cNvPr id="550" name="Shape 4"/>
          <p:cNvSpPr/>
          <p:nvPr/>
        </p:nvSpPr>
        <p:spPr>
          <a:xfrm>
            <a:off x="603360" y="3364920"/>
            <a:ext cx="3474000" cy="1553760"/>
          </a:xfrm>
          <a:prstGeom prst="roundRect">
            <a:avLst>
              <a:gd name="adj" fmla="val 411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1" name="Shape 5"/>
          <p:cNvSpPr/>
          <p:nvPr/>
        </p:nvSpPr>
        <p:spPr>
          <a:xfrm>
            <a:off x="841320" y="360288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2" name="Text 6"/>
          <p:cNvSpPr/>
          <p:nvPr/>
        </p:nvSpPr>
        <p:spPr>
          <a:xfrm>
            <a:off x="841320" y="360288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1</a:t>
            </a:r>
            <a:endParaRPr lang="en-US" sz="1250" b="0" u="none" strike="noStrike">
              <a:solidFill>
                <a:srgbClr val="000000"/>
              </a:solidFill>
              <a:effectLst/>
              <a:uFillTx/>
              <a:latin typeface="Arial"/>
            </a:endParaRPr>
          </a:p>
        </p:txBody>
      </p:sp>
      <p:sp>
        <p:nvSpPr>
          <p:cNvPr id="553" name="Text 7"/>
          <p:cNvSpPr/>
          <p:nvPr/>
        </p:nvSpPr>
        <p:spPr>
          <a:xfrm>
            <a:off x="1371600" y="361188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Abbonamento flat</a:t>
            </a:r>
            <a:endParaRPr lang="en-US" sz="1400" b="0" u="none" strike="noStrike">
              <a:solidFill>
                <a:srgbClr val="000000"/>
              </a:solidFill>
              <a:effectLst/>
              <a:uFillTx/>
              <a:latin typeface="Arial"/>
            </a:endParaRPr>
          </a:p>
        </p:txBody>
      </p:sp>
      <p:sp>
        <p:nvSpPr>
          <p:cNvPr id="554" name="Text 8"/>
          <p:cNvSpPr/>
          <p:nvPr/>
        </p:nvSpPr>
        <p:spPr>
          <a:xfrm>
            <a:off x="859680" y="4114800"/>
            <a:ext cx="2962080" cy="6577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200" b="0" u="none" strike="noStrike">
                <a:solidFill>
                  <a:srgbClr val="56687A"/>
                </a:solidFill>
                <a:effectLst/>
                <a:uFillTx/>
                <a:latin typeface="Calibri"/>
                <a:ea typeface="Calibri"/>
              </a:rPr>
              <a:t>30.000 € annui per intermediario, costanti per tutto il quinquennio.</a:t>
            </a:r>
            <a:endParaRPr lang="en-US" sz="1200" b="0" u="none" strike="noStrike">
              <a:solidFill>
                <a:srgbClr val="000000"/>
              </a:solidFill>
              <a:effectLst/>
              <a:uFillTx/>
              <a:latin typeface="Arial"/>
            </a:endParaRPr>
          </a:p>
        </p:txBody>
      </p:sp>
      <p:sp>
        <p:nvSpPr>
          <p:cNvPr id="555" name="Shape 9"/>
          <p:cNvSpPr/>
          <p:nvPr/>
        </p:nvSpPr>
        <p:spPr>
          <a:xfrm>
            <a:off x="4352400" y="3364920"/>
            <a:ext cx="3474000" cy="1553760"/>
          </a:xfrm>
          <a:prstGeom prst="roundRect">
            <a:avLst>
              <a:gd name="adj" fmla="val 411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6" name="Shape 10"/>
          <p:cNvSpPr/>
          <p:nvPr/>
        </p:nvSpPr>
        <p:spPr>
          <a:xfrm>
            <a:off x="4590360" y="360288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7" name="Text 11"/>
          <p:cNvSpPr/>
          <p:nvPr/>
        </p:nvSpPr>
        <p:spPr>
          <a:xfrm>
            <a:off x="4590360" y="360288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2</a:t>
            </a:r>
            <a:endParaRPr lang="en-US" sz="1250" b="0" u="none" strike="noStrike">
              <a:solidFill>
                <a:srgbClr val="000000"/>
              </a:solidFill>
              <a:effectLst/>
              <a:uFillTx/>
              <a:latin typeface="Arial"/>
            </a:endParaRPr>
          </a:p>
        </p:txBody>
      </p:sp>
      <p:sp>
        <p:nvSpPr>
          <p:cNvPr id="558" name="Text 12"/>
          <p:cNvSpPr/>
          <p:nvPr/>
        </p:nvSpPr>
        <p:spPr>
          <a:xfrm>
            <a:off x="5120640" y="361188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Verticalizzazioni</a:t>
            </a:r>
            <a:endParaRPr lang="en-US" sz="1400" b="0" u="none" strike="noStrike">
              <a:solidFill>
                <a:srgbClr val="000000"/>
              </a:solidFill>
              <a:effectLst/>
              <a:uFillTx/>
              <a:latin typeface="Arial"/>
            </a:endParaRPr>
          </a:p>
        </p:txBody>
      </p:sp>
      <p:sp>
        <p:nvSpPr>
          <p:cNvPr id="559" name="Text 13"/>
          <p:cNvSpPr/>
          <p:nvPr/>
        </p:nvSpPr>
        <p:spPr>
          <a:xfrm>
            <a:off x="4608720" y="4114800"/>
            <a:ext cx="2962080" cy="6577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200" b="0" u="none" strike="noStrike">
                <a:solidFill>
                  <a:srgbClr val="56687A"/>
                </a:solidFill>
                <a:effectLst/>
                <a:uFillTx/>
                <a:latin typeface="Calibri"/>
                <a:ea typeface="Calibri"/>
              </a:rPr>
              <a:t>5.000 € il primo anno, 4.000 € il secondo, poi 3.000 € stabili.</a:t>
            </a:r>
            <a:endParaRPr lang="en-US" sz="1200" b="0" u="none" strike="noStrike">
              <a:solidFill>
                <a:srgbClr val="000000"/>
              </a:solidFill>
              <a:effectLst/>
              <a:uFillTx/>
              <a:latin typeface="Arial"/>
            </a:endParaRPr>
          </a:p>
        </p:txBody>
      </p:sp>
      <p:sp>
        <p:nvSpPr>
          <p:cNvPr id="560" name="Shape 14"/>
          <p:cNvSpPr/>
          <p:nvPr/>
        </p:nvSpPr>
        <p:spPr>
          <a:xfrm>
            <a:off x="8101440" y="3364920"/>
            <a:ext cx="3474000" cy="1553760"/>
          </a:xfrm>
          <a:prstGeom prst="roundRect">
            <a:avLst>
              <a:gd name="adj" fmla="val 411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1" name="Shape 15"/>
          <p:cNvSpPr/>
          <p:nvPr/>
        </p:nvSpPr>
        <p:spPr>
          <a:xfrm>
            <a:off x="8339400" y="3602880"/>
            <a:ext cx="401760" cy="401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2" name="Text 16"/>
          <p:cNvSpPr/>
          <p:nvPr/>
        </p:nvSpPr>
        <p:spPr>
          <a:xfrm>
            <a:off x="8339400" y="3602880"/>
            <a:ext cx="401760" cy="401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14304E"/>
                </a:solidFill>
                <a:effectLst/>
                <a:uFillTx/>
                <a:latin typeface="Cambria"/>
                <a:ea typeface="Cambria"/>
              </a:rPr>
              <a:t>3</a:t>
            </a:r>
            <a:endParaRPr lang="en-US" sz="1250" b="0" u="none" strike="noStrike">
              <a:solidFill>
                <a:srgbClr val="000000"/>
              </a:solidFill>
              <a:effectLst/>
              <a:uFillTx/>
              <a:latin typeface="Arial"/>
            </a:endParaRPr>
          </a:p>
        </p:txBody>
      </p:sp>
      <p:sp>
        <p:nvSpPr>
          <p:cNvPr id="563" name="Text 17"/>
          <p:cNvSpPr/>
          <p:nvPr/>
        </p:nvSpPr>
        <p:spPr>
          <a:xfrm>
            <a:off x="8869680" y="3611880"/>
            <a:ext cx="246816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304E"/>
                </a:solidFill>
                <a:effectLst/>
                <a:uFillTx/>
                <a:latin typeface="Cambria"/>
                <a:ea typeface="Cambria"/>
              </a:rPr>
              <a:t>Crescita del portafoglio</a:t>
            </a:r>
            <a:endParaRPr lang="en-US" sz="1400" b="0" u="none" strike="noStrike">
              <a:solidFill>
                <a:srgbClr val="000000"/>
              </a:solidFill>
              <a:effectLst/>
              <a:uFillTx/>
              <a:latin typeface="Arial"/>
            </a:endParaRPr>
          </a:p>
        </p:txBody>
      </p:sp>
      <p:sp>
        <p:nvSpPr>
          <p:cNvPr id="564" name="Text 18"/>
          <p:cNvSpPr/>
          <p:nvPr/>
        </p:nvSpPr>
        <p:spPr>
          <a:xfrm>
            <a:off x="8357760" y="4114800"/>
            <a:ext cx="2962080" cy="657720"/>
          </a:xfrm>
          <a:prstGeom prst="rect">
            <a:avLst/>
          </a:prstGeom>
          <a:noFill/>
          <a:ln w="0">
            <a:noFill/>
          </a:ln>
        </p:spPr>
        <p:style>
          <a:lnRef idx="0"/>
          <a:fillRef idx="0"/>
          <a:effectRef idx="0"/>
          <a:fontRef idx="minor"/>
        </p:style>
        <p:txBody>
          <a:bodyPr lIns="0" tIns="0" rIns="0" bIns="0" anchor="t">
            <a:noAutofit/>
          </a:bodyPr>
          <a:p>
            <a:pPr defTabSz="914400">
              <a:lnSpc>
                <a:spcPts val="1701"/>
              </a:lnSpc>
              <a:tabLst>
                <a:tab pos="0" algn="l"/>
              </a:tabLst>
            </a:pPr>
            <a:r>
              <a:rPr lang="en-US" sz="1200" b="0" u="none" strike="noStrike">
                <a:solidFill>
                  <a:srgbClr val="56687A"/>
                </a:solidFill>
                <a:effectLst/>
                <a:uFillTx/>
                <a:latin typeface="Calibri"/>
                <a:ea typeface="Calibri"/>
              </a:rPr>
              <a:t>Da 10 intermediari a 40: 2 verticalizzazioni medie il primo anno, 3 annue dal secondo.</a:t>
            </a:r>
            <a:endParaRPr lang="en-US" sz="1200" b="0" u="none" strike="noStrike">
              <a:solidFill>
                <a:srgbClr val="000000"/>
              </a:solidFill>
              <a:effectLst/>
              <a:uFillTx/>
              <a:latin typeface="Arial"/>
            </a:endParaRPr>
          </a:p>
        </p:txBody>
      </p:sp>
      <p:sp>
        <p:nvSpPr>
          <p:cNvPr id="565" name="Shape 19"/>
          <p:cNvSpPr/>
          <p:nvPr/>
        </p:nvSpPr>
        <p:spPr>
          <a:xfrm>
            <a:off x="603360" y="5175360"/>
            <a:ext cx="10972080" cy="913680"/>
          </a:xfrm>
          <a:prstGeom prst="roundRect">
            <a:avLst>
              <a:gd name="adj" fmla="val 7000"/>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6" name="Shape 20"/>
          <p:cNvSpPr/>
          <p:nvPr/>
        </p:nvSpPr>
        <p:spPr>
          <a:xfrm>
            <a:off x="841320" y="5422320"/>
            <a:ext cx="419760" cy="419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7" name="Text 21"/>
          <p:cNvSpPr/>
          <p:nvPr/>
        </p:nvSpPr>
        <p:spPr>
          <a:xfrm>
            <a:off x="841320" y="542232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304E"/>
                </a:solidFill>
                <a:effectLst/>
                <a:uFillTx/>
                <a:latin typeface="Cambria"/>
                <a:ea typeface="Cambria"/>
              </a:rPr>
              <a:t>!</a:t>
            </a:r>
            <a:endParaRPr lang="en-US" sz="1200" b="0" u="none" strike="noStrike">
              <a:solidFill>
                <a:srgbClr val="000000"/>
              </a:solidFill>
              <a:effectLst/>
              <a:uFillTx/>
              <a:latin typeface="Arial"/>
            </a:endParaRPr>
          </a:p>
        </p:txBody>
      </p:sp>
      <p:sp>
        <p:nvSpPr>
          <p:cNvPr id="568" name="Text 22"/>
          <p:cNvSpPr/>
          <p:nvPr/>
        </p:nvSpPr>
        <p:spPr>
          <a:xfrm>
            <a:off x="1444680" y="5303520"/>
            <a:ext cx="9874800" cy="65772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250" b="0" u="none" strike="noStrike">
                <a:solidFill>
                  <a:srgbClr val="4A4124"/>
                </a:solidFill>
                <a:effectLst/>
                <a:uFillTx/>
                <a:latin typeface="Calibri"/>
                <a:ea typeface="Calibri"/>
              </a:rPr>
              <a:t>Proiezione volutamente prudenziale: crescita graduale dei clienti e nessun ricavo da fee per DMVP registrato o da marketplace, entrambi previsti dal Canvas. Il profilo di redditività è quindi conservativo.</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569"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7 · BUSINESS PLAN</a:t>
            </a:r>
            <a:endParaRPr lang="en-US" sz="1050" b="0" u="none" strike="noStrike">
              <a:solidFill>
                <a:srgbClr val="000000"/>
              </a:solidFill>
              <a:effectLst/>
              <a:uFillTx/>
              <a:latin typeface="Arial"/>
            </a:endParaRPr>
          </a:p>
        </p:txBody>
      </p:sp>
      <p:sp>
        <p:nvSpPr>
          <p:cNvPr id="570"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Costi, imposte e risultato netto della Fase 2</a:t>
            </a:r>
            <a:endParaRPr lang="en-US" sz="3100" b="0" u="none" strike="noStrike">
              <a:solidFill>
                <a:srgbClr val="000000"/>
              </a:solidFill>
              <a:effectLst/>
              <a:uFillTx/>
              <a:latin typeface="Arial"/>
            </a:endParaRPr>
          </a:p>
        </p:txBody>
      </p:sp>
      <p:sp>
        <p:nvSpPr>
          <p:cNvPr id="571"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28</a:t>
            </a:r>
            <a:endParaRPr lang="en-US" sz="1000" b="0" u="none" strike="noStrike">
              <a:solidFill>
                <a:srgbClr val="000000"/>
              </a:solidFill>
              <a:effectLst/>
              <a:uFillTx/>
              <a:latin typeface="Arial"/>
            </a:endParaRPr>
          </a:p>
        </p:txBody>
      </p:sp>
      <p:sp>
        <p:nvSpPr>
          <p:cNvPr id="572"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graphicFrame>
        <p:nvGraphicFramePr>
          <p:cNvPr id="573" name="Table 0"/>
          <p:cNvGraphicFramePr/>
          <p:nvPr/>
        </p:nvGraphicFramePr>
        <p:xfrm>
          <a:off x="603360" y="1371600"/>
          <a:ext cx="10972440" cy="3215520"/>
        </p:xfrm>
        <a:graphic>
          <a:graphicData uri="http://schemas.openxmlformats.org/drawingml/2006/table">
            <a:tbl>
              <a:tblPr/>
              <a:tblGrid>
                <a:gridCol w="1828800"/>
                <a:gridCol w="1828800"/>
                <a:gridCol w="1828800"/>
                <a:gridCol w="1828800"/>
                <a:gridCol w="1828800"/>
                <a:gridCol w="1828800"/>
              </a:tblGrid>
              <a:tr h="292320">
                <a:tc>
                  <a:txBody>
                    <a:bodyPr tIns="36360" bIns="36360" anchor="ctr">
                      <a:noAutofit/>
                    </a:bodyPr>
                    <a:p>
                      <a:pPr defTabSz="914400">
                        <a:lnSpc>
                          <a:spcPct val="100000"/>
                        </a:lnSpc>
                        <a:tabLst>
                          <a:tab pos="0" algn="l"/>
                        </a:tabLst>
                      </a:pPr>
                      <a:r>
                        <a:rPr lang="en-US" sz="1150" b="1" u="none" strike="noStrike">
                          <a:solidFill>
                            <a:srgbClr val="FAF6EC"/>
                          </a:solidFill>
                          <a:effectLst/>
                          <a:uFillTx/>
                          <a:latin typeface="Calibri"/>
                          <a:ea typeface="Calibri"/>
                        </a:rPr>
                        <a:t>Voce (€)</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1</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2</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3</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4</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c>
                  <a:txBody>
                    <a:bodyPr tIns="36360" bIns="36360" anchor="ctr">
                      <a:noAutofit/>
                    </a:bodyPr>
                    <a:p>
                      <a:pPr algn="r" defTabSz="914400">
                        <a:lnSpc>
                          <a:spcPct val="100000"/>
                        </a:lnSpc>
                        <a:tabLst>
                          <a:tab pos="0" algn="l"/>
                        </a:tabLst>
                      </a:pPr>
                      <a:r>
                        <a:rPr lang="en-US" sz="1150" b="1" u="none" strike="noStrike">
                          <a:solidFill>
                            <a:srgbClr val="FAF6EC"/>
                          </a:solidFill>
                          <a:effectLst/>
                          <a:uFillTx/>
                          <a:latin typeface="Calibri"/>
                          <a:ea typeface="Calibri"/>
                        </a:rPr>
                        <a:t>Anno 5</a:t>
                      </a:r>
                      <a:endParaRPr lang="en-US" sz="1150" b="0" u="none" strike="noStrike">
                        <a:solidFill>
                          <a:srgbClr val="FFFFFF"/>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14304E"/>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B — Costo totale operativo</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486.988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481.988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481.988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481.988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481.988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C — Oneri fin. piattaforma</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80.531</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64.425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48.319</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32.212</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16.106</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D — Oneri su disavanzo</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20.102</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12.484</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1" u="none" strike="noStrike">
                          <a:solidFill>
                            <a:srgbClr val="14304E"/>
                          </a:solidFill>
                          <a:effectLst/>
                          <a:uFillTx/>
                          <a:latin typeface="Calibri"/>
                          <a:ea typeface="Calibri"/>
                        </a:rPr>
                        <a:t>BC — COSTI TOTALI</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567.520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566.516</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542.791</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514.201</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498.095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A — Ricavi</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400.000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630.000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780.000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975.000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1.560.000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R1 — Risultato lordo</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-167.520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63.484</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237.209</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460.799</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1.061.905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T1 — IRES (24% di R1)</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15.236</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56.930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110.592</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254.857</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FFFFF"/>
                    </a:solidFill>
                  </a:tcPr>
                </a:tc>
              </a:tr>
              <a:tr h="292320">
                <a:tc>
                  <a:txBody>
                    <a:bodyPr tIns="36360" bIns="36360" anchor="ctr">
                      <a:noAutofit/>
                    </a:bodyPr>
                    <a:p>
                      <a:pPr defTabSz="914400">
                        <a:lnSpc>
                          <a:spcPct val="100000"/>
                        </a:lnSpc>
                        <a:tabLst>
                          <a:tab pos="0" algn="l"/>
                        </a:tabLst>
                      </a:pPr>
                      <a:r>
                        <a:rPr lang="en-US" sz="1150" b="0" u="none" strike="noStrike">
                          <a:solidFill>
                            <a:srgbClr val="222F3B"/>
                          </a:solidFill>
                          <a:effectLst/>
                          <a:uFillTx/>
                          <a:latin typeface="Calibri"/>
                          <a:ea typeface="Calibri"/>
                        </a:rPr>
                        <a:t>T2 — IRAP (4,82% di IR)</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4.730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15.865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24.238</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35.015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c>
                  <a:txBody>
                    <a:bodyPr tIns="36360" bIns="36360" anchor="ctr">
                      <a:noAutofit/>
                    </a:bodyPr>
                    <a:p>
                      <a:pPr algn="r" defTabSz="914400">
                        <a:lnSpc>
                          <a:spcPct val="100000"/>
                        </a:lnSpc>
                        <a:tabLst>
                          <a:tab pos="0" algn="l"/>
                        </a:tabLst>
                      </a:pPr>
                      <a:r>
                        <a:rPr lang="en-US" sz="1150" b="0" u="none" strike="noStrike">
                          <a:solidFill>
                            <a:srgbClr val="222F3B"/>
                          </a:solidFill>
                          <a:effectLst/>
                          <a:uFillTx/>
                          <a:latin typeface="Calibri"/>
                          <a:ea typeface="Calibri"/>
                        </a:rPr>
                        <a:t>63.989</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7F1E2"/>
                    </a:solidFill>
                  </a:tcPr>
                </a:tc>
              </a:tr>
              <a:tr h="292320">
                <a:tc>
                  <a:txBody>
                    <a:bodyPr tIns="36360" bIns="36360" anchor="ctr">
                      <a:noAutofit/>
                    </a:bodyPr>
                    <a:p>
                      <a:pPr defTabSz="914400">
                        <a:lnSpc>
                          <a:spcPct val="100000"/>
                        </a:lnSpc>
                        <a:tabLst>
                          <a:tab pos="0" algn="l"/>
                        </a:tabLst>
                      </a:pPr>
                      <a:r>
                        <a:rPr lang="en-US" sz="1150" b="1" u="none" strike="noStrike">
                          <a:solidFill>
                            <a:srgbClr val="14304E"/>
                          </a:solidFill>
                          <a:effectLst/>
                          <a:uFillTx/>
                          <a:latin typeface="Calibri"/>
                          <a:ea typeface="Calibri"/>
                        </a:rPr>
                        <a:t>R2 — Risultato netto</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-172.250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32.383</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156.040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315.192</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743.059</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r>
              <a:tr h="292320">
                <a:tc>
                  <a:txBody>
                    <a:bodyPr tIns="36360" bIns="36360" anchor="ctr">
                      <a:noAutofit/>
                    </a:bodyPr>
                    <a:p>
                      <a:pPr defTabSz="914400">
                        <a:lnSpc>
                          <a:spcPct val="100000"/>
                        </a:lnSpc>
                        <a:tabLst>
                          <a:tab pos="0" algn="l"/>
                        </a:tabLst>
                      </a:pPr>
                      <a:r>
                        <a:rPr lang="en-US" sz="1150" b="1" u="none" strike="noStrike">
                          <a:solidFill>
                            <a:srgbClr val="14304E"/>
                          </a:solidFill>
                          <a:effectLst/>
                          <a:uFillTx/>
                          <a:latin typeface="Calibri"/>
                          <a:ea typeface="Calibri"/>
                        </a:rPr>
                        <a:t>RC — Risultato cumulato</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-172.250</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-139.867</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16.174</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331.366</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c>
                  <a:txBody>
                    <a:bodyPr tIns="36360" bIns="36360" anchor="ctr">
                      <a:noAutofit/>
                    </a:bodyPr>
                    <a:p>
                      <a:pPr algn="r" defTabSz="914400">
                        <a:lnSpc>
                          <a:spcPct val="100000"/>
                        </a:lnSpc>
                        <a:tabLst>
                          <a:tab pos="0" algn="l"/>
                        </a:tabLst>
                      </a:pPr>
                      <a:r>
                        <a:rPr lang="en-US" sz="1150" b="1" u="none" strike="noStrike">
                          <a:solidFill>
                            <a:srgbClr val="14304E"/>
                          </a:solidFill>
                          <a:effectLst/>
                          <a:uFillTx/>
                          <a:latin typeface="Calibri"/>
                          <a:ea typeface="Calibri"/>
                        </a:rPr>
                        <a:t>1.074.425</a:t>
                      </a:r>
                      <a:endParaRPr lang="en-US" sz="1150" b="0" u="none" strike="noStrike">
                        <a:solidFill>
                          <a:srgbClr val="000000"/>
                        </a:solidFill>
                        <a:effectLst/>
                        <a:uFillTx/>
                        <a:latin typeface="Arial"/>
                      </a:endParaRPr>
                    </a:p>
                  </a:txBody>
                  <a:tcPr anchor="ctr" marL="91440" marR="91440" marT="36360" marB="36360">
                    <a:lnL w="7200">
                      <a:solidFill>
                        <a:srgbClr val="E4DCC7"/>
                      </a:solidFill>
                      <a:prstDash val="solid"/>
                    </a:lnL>
                    <a:lnR w="7200">
                      <a:solidFill>
                        <a:srgbClr val="E4DCC7"/>
                      </a:solidFill>
                      <a:prstDash val="solid"/>
                    </a:lnR>
                    <a:lnT w="7200">
                      <a:solidFill>
                        <a:srgbClr val="E4DCC7"/>
                      </a:solidFill>
                      <a:prstDash val="solid"/>
                    </a:lnT>
                    <a:lnB w="7200">
                      <a:solidFill>
                        <a:srgbClr val="E4DCC7"/>
                      </a:solidFill>
                      <a:prstDash val="solid"/>
                    </a:lnB>
                    <a:solidFill>
                      <a:srgbClr val="F0E5C8"/>
                    </a:solidFill>
                  </a:tcPr>
                </a:tc>
              </a:tr>
            </a:tbl>
          </a:graphicData>
        </a:graphic>
      </p:graphicFrame>
      <p:sp>
        <p:nvSpPr>
          <p:cNvPr id="574" name="Shape 4"/>
          <p:cNvSpPr/>
          <p:nvPr/>
        </p:nvSpPr>
        <p:spPr>
          <a:xfrm>
            <a:off x="603360" y="5010840"/>
            <a:ext cx="2577960" cy="1114920"/>
          </a:xfrm>
          <a:prstGeom prst="roundRect">
            <a:avLst>
              <a:gd name="adj" fmla="val 573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5" name="Text 5"/>
          <p:cNvSpPr/>
          <p:nvPr/>
        </p:nvSpPr>
        <p:spPr>
          <a:xfrm>
            <a:off x="859680" y="5175360"/>
            <a:ext cx="210240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1" u="none" strike="noStrike">
                <a:solidFill>
                  <a:srgbClr val="14304E"/>
                </a:solidFill>
                <a:effectLst/>
                <a:uFillTx/>
                <a:latin typeface="Cambria"/>
                <a:ea typeface="Cambria"/>
              </a:rPr>
              <a:t>Ammortamento</a:t>
            </a:r>
            <a:endParaRPr lang="en-US" sz="1250" b="0" u="none" strike="noStrike">
              <a:solidFill>
                <a:srgbClr val="000000"/>
              </a:solidFill>
              <a:effectLst/>
              <a:uFillTx/>
              <a:latin typeface="Arial"/>
            </a:endParaRPr>
          </a:p>
        </p:txBody>
      </p:sp>
      <p:sp>
        <p:nvSpPr>
          <p:cNvPr id="576" name="Text 6"/>
          <p:cNvSpPr/>
          <p:nvPr/>
        </p:nvSpPr>
        <p:spPr>
          <a:xfrm>
            <a:off x="859680" y="5559480"/>
            <a:ext cx="2102400" cy="43812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n-US" sz="1050" b="0" u="none" strike="noStrike">
                <a:solidFill>
                  <a:srgbClr val="56687A"/>
                </a:solidFill>
                <a:effectLst/>
                <a:uFillTx/>
                <a:latin typeface="Calibri"/>
                <a:ea typeface="Calibri"/>
              </a:rPr>
              <a:t>134.219 € annui, quota quinquennale dell'investimento, inclusa in B.</a:t>
            </a:r>
            <a:endParaRPr lang="en-US" sz="1050" b="0" u="none" strike="noStrike">
              <a:solidFill>
                <a:srgbClr val="000000"/>
              </a:solidFill>
              <a:effectLst/>
              <a:uFillTx/>
              <a:latin typeface="Arial"/>
            </a:endParaRPr>
          </a:p>
        </p:txBody>
      </p:sp>
      <p:sp>
        <p:nvSpPr>
          <p:cNvPr id="577" name="Shape 7"/>
          <p:cNvSpPr/>
          <p:nvPr/>
        </p:nvSpPr>
        <p:spPr>
          <a:xfrm>
            <a:off x="3401640" y="5010840"/>
            <a:ext cx="2577960" cy="1114920"/>
          </a:xfrm>
          <a:prstGeom prst="roundRect">
            <a:avLst>
              <a:gd name="adj" fmla="val 573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8" name="Text 8"/>
          <p:cNvSpPr/>
          <p:nvPr/>
        </p:nvSpPr>
        <p:spPr>
          <a:xfrm>
            <a:off x="3657600" y="5175360"/>
            <a:ext cx="210240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1" u="none" strike="noStrike">
                <a:solidFill>
                  <a:srgbClr val="14304E"/>
                </a:solidFill>
                <a:effectLst/>
                <a:uFillTx/>
                <a:latin typeface="Cambria"/>
                <a:ea typeface="Cambria"/>
              </a:rPr>
              <a:t>Oneri sul finanziamento</a:t>
            </a:r>
            <a:endParaRPr lang="en-US" sz="1250" b="0" u="none" strike="noStrike">
              <a:solidFill>
                <a:srgbClr val="000000"/>
              </a:solidFill>
              <a:effectLst/>
              <a:uFillTx/>
              <a:latin typeface="Arial"/>
            </a:endParaRPr>
          </a:p>
        </p:txBody>
      </p:sp>
      <p:sp>
        <p:nvSpPr>
          <p:cNvPr id="579" name="Text 9"/>
          <p:cNvSpPr/>
          <p:nvPr/>
        </p:nvSpPr>
        <p:spPr>
          <a:xfrm>
            <a:off x="3657600" y="5559480"/>
            <a:ext cx="2102400" cy="43812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n-US" sz="1050" b="0" u="none" strike="noStrike">
                <a:solidFill>
                  <a:srgbClr val="56687A"/>
                </a:solidFill>
                <a:effectLst/>
                <a:uFillTx/>
                <a:latin typeface="Calibri"/>
                <a:ea typeface="Calibri"/>
              </a:rPr>
              <a:t>Da 80.531 €, in contrazione lineare di 16.106 € ogni anno.</a:t>
            </a:r>
            <a:endParaRPr lang="en-US" sz="1050" b="0" u="none" strike="noStrike">
              <a:solidFill>
                <a:srgbClr val="000000"/>
              </a:solidFill>
              <a:effectLst/>
              <a:uFillTx/>
              <a:latin typeface="Arial"/>
            </a:endParaRPr>
          </a:p>
        </p:txBody>
      </p:sp>
      <p:sp>
        <p:nvSpPr>
          <p:cNvPr id="580" name="Shape 10"/>
          <p:cNvSpPr/>
          <p:nvPr/>
        </p:nvSpPr>
        <p:spPr>
          <a:xfrm>
            <a:off x="6199560" y="5010840"/>
            <a:ext cx="2577960" cy="1114920"/>
          </a:xfrm>
          <a:prstGeom prst="roundRect">
            <a:avLst>
              <a:gd name="adj" fmla="val 573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1" name="Text 11"/>
          <p:cNvSpPr/>
          <p:nvPr/>
        </p:nvSpPr>
        <p:spPr>
          <a:xfrm>
            <a:off x="6455520" y="5175360"/>
            <a:ext cx="210240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1" u="none" strike="noStrike">
                <a:solidFill>
                  <a:srgbClr val="14304E"/>
                </a:solidFill>
                <a:effectLst/>
                <a:uFillTx/>
                <a:latin typeface="Cambria"/>
                <a:ea typeface="Cambria"/>
              </a:rPr>
              <a:t>Oneri su disavanzo</a:t>
            </a:r>
            <a:endParaRPr lang="en-US" sz="1250" b="0" u="none" strike="noStrike">
              <a:solidFill>
                <a:srgbClr val="000000"/>
              </a:solidFill>
              <a:effectLst/>
              <a:uFillTx/>
              <a:latin typeface="Arial"/>
            </a:endParaRPr>
          </a:p>
        </p:txBody>
      </p:sp>
      <p:sp>
        <p:nvSpPr>
          <p:cNvPr id="582" name="Text 12"/>
          <p:cNvSpPr/>
          <p:nvPr/>
        </p:nvSpPr>
        <p:spPr>
          <a:xfrm>
            <a:off x="6455520" y="5559480"/>
            <a:ext cx="2102400" cy="43812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n-US" sz="1050" b="0" u="none" strike="noStrike">
                <a:solidFill>
                  <a:srgbClr val="56687A"/>
                </a:solidFill>
                <a:effectLst/>
                <a:uFillTx/>
                <a:latin typeface="Calibri"/>
                <a:ea typeface="Calibri"/>
              </a:rPr>
              <a:t>Credito aggiuntivo al 12% sui flussi negativi: solo anni 2 e 3.</a:t>
            </a:r>
            <a:endParaRPr lang="en-US" sz="1050" b="0" u="none" strike="noStrike">
              <a:solidFill>
                <a:srgbClr val="000000"/>
              </a:solidFill>
              <a:effectLst/>
              <a:uFillTx/>
              <a:latin typeface="Arial"/>
            </a:endParaRPr>
          </a:p>
        </p:txBody>
      </p:sp>
      <p:sp>
        <p:nvSpPr>
          <p:cNvPr id="583" name="Shape 13"/>
          <p:cNvSpPr/>
          <p:nvPr/>
        </p:nvSpPr>
        <p:spPr>
          <a:xfrm>
            <a:off x="8997840" y="5010840"/>
            <a:ext cx="2577960" cy="1114920"/>
          </a:xfrm>
          <a:prstGeom prst="roundRect">
            <a:avLst>
              <a:gd name="adj" fmla="val 573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4" name="Text 14"/>
          <p:cNvSpPr/>
          <p:nvPr/>
        </p:nvSpPr>
        <p:spPr>
          <a:xfrm>
            <a:off x="9253800" y="5175360"/>
            <a:ext cx="2102400" cy="401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1" u="none" strike="noStrike">
                <a:solidFill>
                  <a:srgbClr val="14304E"/>
                </a:solidFill>
                <a:effectLst/>
                <a:uFillTx/>
                <a:latin typeface="Cambria"/>
                <a:ea typeface="Cambria"/>
              </a:rPr>
              <a:t>Consulenze esterne</a:t>
            </a:r>
            <a:endParaRPr lang="en-US" sz="1250" b="0" u="none" strike="noStrike">
              <a:solidFill>
                <a:srgbClr val="000000"/>
              </a:solidFill>
              <a:effectLst/>
              <a:uFillTx/>
              <a:latin typeface="Arial"/>
            </a:endParaRPr>
          </a:p>
        </p:txBody>
      </p:sp>
      <p:sp>
        <p:nvSpPr>
          <p:cNvPr id="585" name="Text 15"/>
          <p:cNvSpPr/>
          <p:nvPr/>
        </p:nvSpPr>
        <p:spPr>
          <a:xfrm>
            <a:off x="9253800" y="5559480"/>
            <a:ext cx="2102400" cy="43812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n-US" sz="1050" b="0" u="none" strike="noStrike">
                <a:solidFill>
                  <a:srgbClr val="56687A"/>
                </a:solidFill>
                <a:effectLst/>
                <a:uFillTx/>
                <a:latin typeface="Calibri"/>
                <a:ea typeface="Calibri"/>
              </a:rPr>
              <a:t>15.000 € il primo anno, poi 10.000 €: cresce l'autonomia del team.</a:t>
            </a:r>
            <a:endParaRPr lang="en-US"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586"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7 · VALUTAZIONE</a:t>
            </a:r>
            <a:endParaRPr lang="en-US" sz="1050" b="0" u="none" strike="noStrike">
              <a:solidFill>
                <a:srgbClr val="000000"/>
              </a:solidFill>
              <a:effectLst/>
              <a:uFillTx/>
              <a:latin typeface="Arial"/>
            </a:endParaRPr>
          </a:p>
        </p:txBody>
      </p:sp>
      <p:sp>
        <p:nvSpPr>
          <p:cNvPr id="587"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Break Even Point e ROI</a:t>
            </a:r>
            <a:endParaRPr lang="en-US" sz="3100" b="0" u="none" strike="noStrike">
              <a:solidFill>
                <a:srgbClr val="000000"/>
              </a:solidFill>
              <a:effectLst/>
              <a:uFillTx/>
              <a:latin typeface="Arial"/>
            </a:endParaRPr>
          </a:p>
        </p:txBody>
      </p:sp>
      <p:sp>
        <p:nvSpPr>
          <p:cNvPr id="588"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29</a:t>
            </a:r>
            <a:endParaRPr lang="en-US" sz="1000" b="0" u="none" strike="noStrike">
              <a:solidFill>
                <a:srgbClr val="000000"/>
              </a:solidFill>
              <a:effectLst/>
              <a:uFillTx/>
              <a:latin typeface="Arial"/>
            </a:endParaRPr>
          </a:p>
        </p:txBody>
      </p:sp>
      <p:sp>
        <p:nvSpPr>
          <p:cNvPr id="589"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590" name="Shape 4"/>
          <p:cNvSpPr/>
          <p:nvPr/>
        </p:nvSpPr>
        <p:spPr>
          <a:xfrm>
            <a:off x="603360" y="1371600"/>
            <a:ext cx="6948720" cy="3702600"/>
          </a:xfrm>
          <a:prstGeom prst="roundRect">
            <a:avLst>
              <a:gd name="adj" fmla="val 1728"/>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graphicFrame>
        <p:nvGraphicFramePr>
          <p:cNvPr id="591" name="Chart 0"/>
          <p:cNvGraphicFramePr/>
          <p:nvPr/>
        </p:nvGraphicFramePr>
        <p:xfrm>
          <a:off x="749880" y="1499760"/>
          <a:ext cx="6656040" cy="3455640"/>
        </p:xfrm>
        <a:graphic>
          <a:graphicData uri="http://schemas.openxmlformats.org/drawingml/2006/chart">
            <c:chart xmlns:c="http://schemas.openxmlformats.org/drawingml/2006/chart" xmlns:r="http://schemas.openxmlformats.org/officeDocument/2006/relationships" r:id="rId1"/>
          </a:graphicData>
        </a:graphic>
      </p:graphicFrame>
      <p:sp>
        <p:nvSpPr>
          <p:cNvPr id="592" name="Shape 5"/>
          <p:cNvSpPr/>
          <p:nvPr/>
        </p:nvSpPr>
        <p:spPr>
          <a:xfrm>
            <a:off x="7827120" y="1371600"/>
            <a:ext cx="3748320" cy="1151280"/>
          </a:xfrm>
          <a:prstGeom prst="roundRect">
            <a:avLst>
              <a:gd name="adj" fmla="val 5556"/>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3" name="Text 6"/>
          <p:cNvSpPr/>
          <p:nvPr/>
        </p:nvSpPr>
        <p:spPr>
          <a:xfrm>
            <a:off x="7955280" y="1591200"/>
            <a:ext cx="3492360" cy="474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600" b="1" u="none" strike="noStrike">
                <a:solidFill>
                  <a:srgbClr val="14304E"/>
                </a:solidFill>
                <a:effectLst/>
                <a:uFillTx/>
                <a:latin typeface="Cambria"/>
                <a:ea typeface="Cambria"/>
              </a:rPr>
              <a:t>Anno 3</a:t>
            </a:r>
            <a:endParaRPr lang="en-US" sz="2600" b="0" u="none" strike="noStrike">
              <a:solidFill>
                <a:srgbClr val="000000"/>
              </a:solidFill>
              <a:effectLst/>
              <a:uFillTx/>
              <a:latin typeface="Arial"/>
            </a:endParaRPr>
          </a:p>
        </p:txBody>
      </p:sp>
      <p:sp>
        <p:nvSpPr>
          <p:cNvPr id="594" name="Text 7"/>
          <p:cNvSpPr/>
          <p:nvPr/>
        </p:nvSpPr>
        <p:spPr>
          <a:xfrm>
            <a:off x="7955280" y="2084760"/>
            <a:ext cx="3492360" cy="25524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Break Even Point: il cumulato passa da −139.867 € a +16.174 €</a:t>
            </a:r>
            <a:endParaRPr lang="en-US" sz="1100" b="0" u="none" strike="noStrike">
              <a:solidFill>
                <a:srgbClr val="000000"/>
              </a:solidFill>
              <a:effectLst/>
              <a:uFillTx/>
              <a:latin typeface="Arial"/>
            </a:endParaRPr>
          </a:p>
        </p:txBody>
      </p:sp>
      <p:sp>
        <p:nvSpPr>
          <p:cNvPr id="595" name="Shape 8"/>
          <p:cNvSpPr/>
          <p:nvPr/>
        </p:nvSpPr>
        <p:spPr>
          <a:xfrm>
            <a:off x="7827120" y="2651760"/>
            <a:ext cx="1791360" cy="1151280"/>
          </a:xfrm>
          <a:prstGeom prst="roundRect">
            <a:avLst>
              <a:gd name="adj" fmla="val 555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6" name="Text 9"/>
          <p:cNvSpPr/>
          <p:nvPr/>
        </p:nvSpPr>
        <p:spPr>
          <a:xfrm>
            <a:off x="7955280" y="2871360"/>
            <a:ext cx="15354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4304E"/>
                </a:solidFill>
                <a:effectLst/>
                <a:uFillTx/>
                <a:latin typeface="Cambria"/>
                <a:ea typeface="Cambria"/>
              </a:rPr>
              <a:t>160,10%</a:t>
            </a:r>
            <a:endParaRPr lang="en-US" sz="2000" b="0" u="none" strike="noStrike">
              <a:solidFill>
                <a:srgbClr val="000000"/>
              </a:solidFill>
              <a:effectLst/>
              <a:uFillTx/>
              <a:latin typeface="Arial"/>
            </a:endParaRPr>
          </a:p>
        </p:txBody>
      </p:sp>
      <p:sp>
        <p:nvSpPr>
          <p:cNvPr id="597" name="Text 10"/>
          <p:cNvSpPr/>
          <p:nvPr/>
        </p:nvSpPr>
        <p:spPr>
          <a:xfrm>
            <a:off x="7955280" y="3346560"/>
            <a:ext cx="1535400" cy="27360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ROI in</a:t>
            </a:r>
            <a:endParaRPr lang="en-US" sz="11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5 anni</a:t>
            </a:r>
            <a:endParaRPr lang="en-US" sz="1100" b="0" u="none" strike="noStrike">
              <a:solidFill>
                <a:srgbClr val="000000"/>
              </a:solidFill>
              <a:effectLst/>
              <a:uFillTx/>
              <a:latin typeface="Arial"/>
            </a:endParaRPr>
          </a:p>
        </p:txBody>
      </p:sp>
      <p:sp>
        <p:nvSpPr>
          <p:cNvPr id="598" name="Shape 11"/>
          <p:cNvSpPr/>
          <p:nvPr/>
        </p:nvSpPr>
        <p:spPr>
          <a:xfrm>
            <a:off x="9784080" y="2651760"/>
            <a:ext cx="1791360" cy="1151280"/>
          </a:xfrm>
          <a:prstGeom prst="roundRect">
            <a:avLst>
              <a:gd name="adj" fmla="val 5556"/>
            </a:avLst>
          </a:prstGeom>
          <a:solidFill>
            <a:srgbClr val="FFFFFF"/>
          </a:solidFill>
          <a:ln w="9525">
            <a:solidFill>
              <a:srgbClr val="E4DCC7"/>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9" name="Text 12"/>
          <p:cNvSpPr/>
          <p:nvPr/>
        </p:nvSpPr>
        <p:spPr>
          <a:xfrm>
            <a:off x="9912240" y="2871360"/>
            <a:ext cx="153540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4304E"/>
                </a:solidFill>
                <a:effectLst/>
                <a:uFillTx/>
                <a:latin typeface="Cambria"/>
                <a:ea typeface="Cambria"/>
              </a:rPr>
              <a:t>12,02%</a:t>
            </a:r>
            <a:endParaRPr lang="en-US" sz="2000" b="0" u="none" strike="noStrike">
              <a:solidFill>
                <a:srgbClr val="000000"/>
              </a:solidFill>
              <a:effectLst/>
              <a:uFillTx/>
              <a:latin typeface="Arial"/>
            </a:endParaRPr>
          </a:p>
        </p:txBody>
      </p:sp>
      <p:sp>
        <p:nvSpPr>
          <p:cNvPr id="600" name="Text 13"/>
          <p:cNvSpPr/>
          <p:nvPr/>
        </p:nvSpPr>
        <p:spPr>
          <a:xfrm>
            <a:off x="9912240" y="3346560"/>
            <a:ext cx="1535400" cy="273600"/>
          </a:xfrm>
          <a:prstGeom prst="rect">
            <a:avLst/>
          </a:prstGeom>
          <a:noFill/>
          <a:ln w="0">
            <a:noFill/>
          </a:ln>
        </p:spPr>
        <p:style>
          <a:lnRef idx="0"/>
          <a:fillRef idx="0"/>
          <a:effectRef idx="0"/>
          <a:fontRef idx="minor"/>
        </p:style>
        <p:txBody>
          <a:bodyPr lIns="0" tIns="0" rIns="0" bIns="0" anchor="t">
            <a:noAutofit/>
          </a:bodyPr>
          <a:p>
            <a:pPr algn="ctr" defTabSz="914400">
              <a:lnSpc>
                <a:spcPts val="1599"/>
              </a:lnSpc>
              <a:tabLst>
                <a:tab pos="0" algn="l"/>
              </a:tabLst>
            </a:pPr>
            <a:r>
              <a:rPr lang="en-US" sz="1100" b="0" u="none" strike="noStrike">
                <a:solidFill>
                  <a:srgbClr val="56687A"/>
                </a:solidFill>
                <a:effectLst/>
                <a:uFillTx/>
                <a:latin typeface="Calibri"/>
                <a:ea typeface="Calibri"/>
              </a:rPr>
              <a:t>Rendimento</a:t>
            </a:r>
            <a:endParaRPr lang="en-US" sz="1100" b="0" u="none" strike="noStrike">
              <a:solidFill>
                <a:srgbClr val="000000"/>
              </a:solidFill>
              <a:effectLst/>
              <a:uFillTx/>
              <a:latin typeface="Arial"/>
            </a:endParaRPr>
          </a:p>
          <a:p>
            <a:pPr algn="ctr" defTabSz="914400">
              <a:lnSpc>
                <a:spcPts val="1599"/>
              </a:lnSpc>
              <a:tabLst>
                <a:tab pos="0" algn="l"/>
              </a:tabLst>
            </a:pPr>
            <a:r>
              <a:rPr lang="en-US" sz="1100" b="0" u="none" strike="noStrike">
                <a:solidFill>
                  <a:srgbClr val="56687A"/>
                </a:solidFill>
                <a:effectLst/>
                <a:uFillTx/>
                <a:latin typeface="Calibri"/>
                <a:ea typeface="Calibri"/>
              </a:rPr>
              <a:t>medio annuo</a:t>
            </a:r>
            <a:endParaRPr lang="en-US" sz="1100" b="0" u="none" strike="noStrike">
              <a:solidFill>
                <a:srgbClr val="000000"/>
              </a:solidFill>
              <a:effectLst/>
              <a:uFillTx/>
              <a:latin typeface="Arial"/>
            </a:endParaRPr>
          </a:p>
        </p:txBody>
      </p:sp>
      <p:sp>
        <p:nvSpPr>
          <p:cNvPr id="601" name="Shape 14"/>
          <p:cNvSpPr/>
          <p:nvPr/>
        </p:nvSpPr>
        <p:spPr>
          <a:xfrm>
            <a:off x="7827120" y="3931920"/>
            <a:ext cx="3748320" cy="1142280"/>
          </a:xfrm>
          <a:prstGeom prst="roundRect">
            <a:avLst>
              <a:gd name="adj" fmla="val 5600"/>
            </a:avLst>
          </a:prstGeom>
          <a:solidFill>
            <a:srgbClr val="FFFFFF"/>
          </a:solidFill>
          <a:ln w="9525">
            <a:solidFill>
              <a:srgbClr val="E4DCC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2" name="Text 15"/>
          <p:cNvSpPr/>
          <p:nvPr/>
        </p:nvSpPr>
        <p:spPr>
          <a:xfrm>
            <a:off x="8065080" y="4078080"/>
            <a:ext cx="3291120" cy="867960"/>
          </a:xfrm>
          <a:prstGeom prst="rect">
            <a:avLst/>
          </a:prstGeom>
          <a:noFill/>
          <a:ln w="0">
            <a:noFill/>
          </a:ln>
        </p:spPr>
        <p:style>
          <a:lnRef idx="0"/>
          <a:fillRef idx="0"/>
          <a:effectRef idx="0"/>
          <a:fontRef idx="minor"/>
        </p:style>
        <p:txBody>
          <a:bodyPr lIns="0" tIns="0" rIns="0" bIns="0" anchor="ctr">
            <a:noAutofit/>
          </a:bodyPr>
          <a:p>
            <a:pPr defTabSz="914400">
              <a:lnSpc>
                <a:spcPts val="2100"/>
              </a:lnSpc>
              <a:tabLst>
                <a:tab pos="0" algn="l"/>
              </a:tabLst>
            </a:pPr>
            <a:r>
              <a:rPr lang="en-US" sz="1250" b="0" u="none" strike="noStrike">
                <a:solidFill>
                  <a:srgbClr val="56687A"/>
                </a:solidFill>
                <a:effectLst/>
                <a:uFillTx/>
                <a:latin typeface="Calibri"/>
                <a:ea typeface="Calibri"/>
              </a:rPr>
              <a:t>Capitale investito </a:t>
            </a:r>
            <a:r>
              <a:rPr lang="en-US" sz="1250" b="1" u="none" strike="noStrike">
                <a:solidFill>
                  <a:srgbClr val="14304E"/>
                </a:solidFill>
                <a:effectLst/>
                <a:uFillTx/>
                <a:latin typeface="Calibri"/>
                <a:ea typeface="Calibri"/>
              </a:rPr>
              <a:t>671.092,86 €</a:t>
            </a:r>
            <a:endParaRPr lang="en-US" sz="1250" b="0" u="none" strike="noStrike">
              <a:solidFill>
                <a:srgbClr val="000000"/>
              </a:solidFill>
              <a:effectLst/>
              <a:uFillTx/>
              <a:latin typeface="Arial"/>
            </a:endParaRPr>
          </a:p>
          <a:p>
            <a:pPr defTabSz="914400">
              <a:lnSpc>
                <a:spcPts val="2100"/>
              </a:lnSpc>
              <a:tabLst>
                <a:tab pos="0" algn="l"/>
              </a:tabLst>
            </a:pPr>
            <a:r>
              <a:rPr lang="en-US" sz="1250" b="0" u="none" strike="noStrike">
                <a:solidFill>
                  <a:srgbClr val="56687A"/>
                </a:solidFill>
                <a:effectLst/>
                <a:uFillTx/>
                <a:latin typeface="Calibri"/>
                <a:ea typeface="Calibri"/>
              </a:rPr>
              <a:t>Risultato cumulato </a:t>
            </a:r>
            <a:r>
              <a:rPr lang="en-US" sz="1250" b="1" u="none" strike="noStrike">
                <a:solidFill>
                  <a:srgbClr val="14304E"/>
                </a:solidFill>
                <a:effectLst/>
                <a:uFillTx/>
                <a:latin typeface="Calibri"/>
                <a:ea typeface="Calibri"/>
              </a:rPr>
              <a:t>1.074.425,25 €</a:t>
            </a:r>
            <a:endParaRPr lang="en-US" sz="1250" b="0" u="none" strike="noStrike">
              <a:solidFill>
                <a:srgbClr val="000000"/>
              </a:solidFill>
              <a:effectLst/>
              <a:uFillTx/>
              <a:latin typeface="Arial"/>
            </a:endParaRPr>
          </a:p>
        </p:txBody>
      </p:sp>
      <p:sp>
        <p:nvSpPr>
          <p:cNvPr id="603" name="Shape 16"/>
          <p:cNvSpPr/>
          <p:nvPr/>
        </p:nvSpPr>
        <p:spPr>
          <a:xfrm>
            <a:off x="603360" y="5193720"/>
            <a:ext cx="10972080" cy="913680"/>
          </a:xfrm>
          <a:prstGeom prst="roundRect">
            <a:avLst>
              <a:gd name="adj" fmla="val 7000"/>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4" name="Shape 17"/>
          <p:cNvSpPr/>
          <p:nvPr/>
        </p:nvSpPr>
        <p:spPr>
          <a:xfrm>
            <a:off x="841320" y="5440680"/>
            <a:ext cx="419760" cy="419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5" name="Text 18"/>
          <p:cNvSpPr/>
          <p:nvPr/>
        </p:nvSpPr>
        <p:spPr>
          <a:xfrm>
            <a:off x="841320" y="544068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304E"/>
                </a:solidFill>
                <a:effectLst/>
                <a:uFillTx/>
                <a:latin typeface="Cambria"/>
                <a:ea typeface="Cambria"/>
              </a:rPr>
              <a:t>!</a:t>
            </a:r>
            <a:endParaRPr lang="en-US" sz="1200" b="0" u="none" strike="noStrike">
              <a:solidFill>
                <a:srgbClr val="000000"/>
              </a:solidFill>
              <a:effectLst/>
              <a:uFillTx/>
              <a:latin typeface="Arial"/>
            </a:endParaRPr>
          </a:p>
        </p:txBody>
      </p:sp>
      <p:sp>
        <p:nvSpPr>
          <p:cNvPr id="606" name="Text 19"/>
          <p:cNvSpPr/>
          <p:nvPr/>
        </p:nvSpPr>
        <p:spPr>
          <a:xfrm>
            <a:off x="1444680" y="5321880"/>
            <a:ext cx="9874800" cy="65772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250" b="0" u="none" strike="noStrike">
                <a:solidFill>
                  <a:srgbClr val="4A4124"/>
                </a:solidFill>
                <a:effectLst/>
                <a:uFillTx/>
                <a:latin typeface="Calibri"/>
                <a:ea typeface="Calibri"/>
              </a:rPr>
              <a:t>Il pareggio arriva con un margine sottile — poco più di 16.000 € — quindi basta un rallentamento nell'acquisizione dei primi clienti per far slittare il BEP. È il principale rischio economico, ed è lo stesso che la SWOT indicava come massa critica.</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6EC"/>
        </a:solidFill>
      </p:bgPr>
    </p:bg>
    <p:spTree>
      <p:nvGrpSpPr>
        <p:cNvPr id="1" name=""/>
        <p:cNvGrpSpPr/>
        <p:nvPr/>
      </p:nvGrpSpPr>
      <p:grpSpPr>
        <a:xfrm>
          <a:off x="0" y="0"/>
          <a:ext cx="0" cy="0"/>
          <a:chOff x="0" y="0"/>
          <a:chExt cx="0" cy="0"/>
        </a:xfrm>
      </p:grpSpPr>
      <p:sp>
        <p:nvSpPr>
          <p:cNvPr id="607" name="Text 0"/>
          <p:cNvSpPr/>
          <p:nvPr/>
        </p:nvSpPr>
        <p:spPr>
          <a:xfrm>
            <a:off x="621720" y="311040"/>
            <a:ext cx="9600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1" u="none" spc="221" strike="noStrike">
                <a:solidFill>
                  <a:srgbClr val="8F7026"/>
                </a:solidFill>
                <a:effectLst/>
                <a:uFillTx/>
                <a:latin typeface="Calibri"/>
                <a:ea typeface="Calibri"/>
              </a:rPr>
              <a:t>CAPITOLO 8 · CONCLUSIONI</a:t>
            </a:r>
            <a:endParaRPr lang="en-US" sz="1050" b="0" u="none" strike="noStrike">
              <a:solidFill>
                <a:srgbClr val="000000"/>
              </a:solidFill>
              <a:effectLst/>
              <a:uFillTx/>
              <a:latin typeface="Arial"/>
            </a:endParaRPr>
          </a:p>
        </p:txBody>
      </p:sp>
      <p:sp>
        <p:nvSpPr>
          <p:cNvPr id="608" name="Text 1"/>
          <p:cNvSpPr/>
          <p:nvPr/>
        </p:nvSpPr>
        <p:spPr>
          <a:xfrm>
            <a:off x="603360" y="567000"/>
            <a:ext cx="10972080" cy="657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100" b="1" u="none" strike="noStrike">
                <a:solidFill>
                  <a:srgbClr val="14304E"/>
                </a:solidFill>
                <a:effectLst/>
                <a:uFillTx/>
                <a:latin typeface="Cambria"/>
                <a:ea typeface="Cambria"/>
              </a:rPr>
              <a:t>Che cosa abbiamo ottenuto e dove può andare</a:t>
            </a:r>
            <a:endParaRPr lang="en-US" sz="3100" b="0" u="none" strike="noStrike">
              <a:solidFill>
                <a:srgbClr val="000000"/>
              </a:solidFill>
              <a:effectLst/>
              <a:uFillTx/>
              <a:latin typeface="Arial"/>
            </a:endParaRPr>
          </a:p>
        </p:txBody>
      </p:sp>
      <p:sp>
        <p:nvSpPr>
          <p:cNvPr id="609" name="Text 2"/>
          <p:cNvSpPr/>
          <p:nvPr/>
        </p:nvSpPr>
        <p:spPr>
          <a:xfrm>
            <a:off x="11292840" y="6355080"/>
            <a:ext cx="365040" cy="255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C2A04A"/>
                </a:solidFill>
                <a:effectLst/>
                <a:uFillTx/>
                <a:latin typeface="Calibri"/>
                <a:ea typeface="Calibri"/>
              </a:rPr>
              <a:t>30</a:t>
            </a:r>
            <a:endParaRPr lang="en-US" sz="1000" b="0" u="none" strike="noStrike">
              <a:solidFill>
                <a:srgbClr val="000000"/>
              </a:solidFill>
              <a:effectLst/>
              <a:uFillTx/>
              <a:latin typeface="Arial"/>
            </a:endParaRPr>
          </a:p>
        </p:txBody>
      </p:sp>
      <p:sp>
        <p:nvSpPr>
          <p:cNvPr id="610" name="Text 3"/>
          <p:cNvSpPr/>
          <p:nvPr/>
        </p:nvSpPr>
        <p:spPr>
          <a:xfrm>
            <a:off x="621720" y="6355080"/>
            <a:ext cx="502848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9A390"/>
                </a:solidFill>
                <a:effectLst/>
                <a:uFillTx/>
                <a:latin typeface="Calibri"/>
                <a:ea typeface="Calibri"/>
              </a:rPr>
              <a:t>Tuning Ledger  ·  Sistemi Informativi</a:t>
            </a:r>
            <a:endParaRPr lang="en-US" sz="900" b="0" u="none" strike="noStrike">
              <a:solidFill>
                <a:srgbClr val="000000"/>
              </a:solidFill>
              <a:effectLst/>
              <a:uFillTx/>
              <a:latin typeface="Arial"/>
            </a:endParaRPr>
          </a:p>
        </p:txBody>
      </p:sp>
      <p:sp>
        <p:nvSpPr>
          <p:cNvPr id="611" name="Text 4"/>
          <p:cNvSpPr/>
          <p:nvPr/>
        </p:nvSpPr>
        <p:spPr>
          <a:xfrm>
            <a:off x="640080" y="1371600"/>
            <a:ext cx="53028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F7026"/>
                </a:solidFill>
                <a:effectLst/>
                <a:uFillTx/>
                <a:latin typeface="Calibri"/>
                <a:ea typeface="Calibri"/>
              </a:rPr>
              <a:t>Vantaggi strategici</a:t>
            </a:r>
            <a:endParaRPr lang="en-US" sz="1150" b="0" u="none" strike="noStrike">
              <a:solidFill>
                <a:srgbClr val="000000"/>
              </a:solidFill>
              <a:effectLst/>
              <a:uFillTx/>
              <a:latin typeface="Arial"/>
            </a:endParaRPr>
          </a:p>
        </p:txBody>
      </p:sp>
      <p:sp>
        <p:nvSpPr>
          <p:cNvPr id="612" name="Shape 5"/>
          <p:cNvSpPr/>
          <p:nvPr/>
        </p:nvSpPr>
        <p:spPr>
          <a:xfrm>
            <a:off x="640080" y="190872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3" name="Text 6"/>
          <p:cNvSpPr/>
          <p:nvPr/>
        </p:nvSpPr>
        <p:spPr>
          <a:xfrm>
            <a:off x="640080" y="190872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1</a:t>
            </a:r>
            <a:endParaRPr lang="en-US" sz="1300" b="0" u="none" strike="noStrike">
              <a:solidFill>
                <a:srgbClr val="000000"/>
              </a:solidFill>
              <a:effectLst/>
              <a:uFillTx/>
              <a:latin typeface="Arial"/>
            </a:endParaRPr>
          </a:p>
        </p:txBody>
      </p:sp>
      <p:sp>
        <p:nvSpPr>
          <p:cNvPr id="614" name="Text 7"/>
          <p:cNvSpPr/>
          <p:nvPr/>
        </p:nvSpPr>
        <p:spPr>
          <a:xfrm>
            <a:off x="1261800" y="1774080"/>
            <a:ext cx="1828080" cy="70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Informazioni certe</a:t>
            </a:r>
            <a:endParaRPr lang="en-US" sz="1300" b="0" u="none" strike="noStrike">
              <a:solidFill>
                <a:srgbClr val="000000"/>
              </a:solidFill>
              <a:effectLst/>
              <a:uFillTx/>
              <a:latin typeface="Arial"/>
            </a:endParaRPr>
          </a:p>
        </p:txBody>
      </p:sp>
      <p:sp>
        <p:nvSpPr>
          <p:cNvPr id="615" name="Text 8"/>
          <p:cNvSpPr/>
          <p:nvPr/>
        </p:nvSpPr>
        <p:spPr>
          <a:xfrm>
            <a:off x="3273480" y="1774080"/>
            <a:ext cx="2541240" cy="7081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100" b="0" u="none" strike="noStrike">
                <a:solidFill>
                  <a:srgbClr val="56687A"/>
                </a:solidFill>
                <a:effectLst/>
                <a:uFillTx/>
                <a:latin typeface="Calibri"/>
                <a:ea typeface="Calibri"/>
              </a:rPr>
              <a:t>Retrodatare, sostituire documenti o dichiarare modifiche mai fatte diventa tecnicamente impossibile.</a:t>
            </a:r>
            <a:endParaRPr lang="en-US" sz="1100" b="0" u="none" strike="noStrike">
              <a:solidFill>
                <a:srgbClr val="000000"/>
              </a:solidFill>
              <a:effectLst/>
              <a:uFillTx/>
              <a:latin typeface="Arial"/>
            </a:endParaRPr>
          </a:p>
        </p:txBody>
      </p:sp>
      <p:sp>
        <p:nvSpPr>
          <p:cNvPr id="616" name="Shape 9"/>
          <p:cNvSpPr/>
          <p:nvPr/>
        </p:nvSpPr>
        <p:spPr>
          <a:xfrm>
            <a:off x="640080" y="270900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7" name="Text 10"/>
          <p:cNvSpPr/>
          <p:nvPr/>
        </p:nvSpPr>
        <p:spPr>
          <a:xfrm>
            <a:off x="640080" y="270900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2</a:t>
            </a:r>
            <a:endParaRPr lang="en-US" sz="1300" b="0" u="none" strike="noStrike">
              <a:solidFill>
                <a:srgbClr val="000000"/>
              </a:solidFill>
              <a:effectLst/>
              <a:uFillTx/>
              <a:latin typeface="Arial"/>
            </a:endParaRPr>
          </a:p>
        </p:txBody>
      </p:sp>
      <p:sp>
        <p:nvSpPr>
          <p:cNvPr id="618" name="Text 11"/>
          <p:cNvSpPr/>
          <p:nvPr/>
        </p:nvSpPr>
        <p:spPr>
          <a:xfrm>
            <a:off x="1261800" y="2574000"/>
            <a:ext cx="1828080" cy="70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Tutela legale</a:t>
            </a:r>
            <a:endParaRPr lang="en-US" sz="1300" b="0" u="none" strike="noStrike">
              <a:solidFill>
                <a:srgbClr val="000000"/>
              </a:solidFill>
              <a:effectLst/>
              <a:uFillTx/>
              <a:latin typeface="Arial"/>
            </a:endParaRPr>
          </a:p>
        </p:txBody>
      </p:sp>
      <p:sp>
        <p:nvSpPr>
          <p:cNvPr id="619" name="Text 12"/>
          <p:cNvSpPr/>
          <p:nvPr/>
        </p:nvSpPr>
        <p:spPr>
          <a:xfrm>
            <a:off x="3273480" y="2574000"/>
            <a:ext cx="2541240" cy="7081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100" b="0" u="none" strike="noStrike">
                <a:solidFill>
                  <a:srgbClr val="56687A"/>
                </a:solidFill>
                <a:effectLst/>
                <a:uFillTx/>
                <a:latin typeface="Calibri"/>
                <a:ea typeface="Calibri"/>
              </a:rPr>
              <a:t>Prova documentale per l'officina, minore esposizione per la concessionaria.</a:t>
            </a:r>
            <a:endParaRPr lang="en-US" sz="1100" b="0" u="none" strike="noStrike">
              <a:solidFill>
                <a:srgbClr val="000000"/>
              </a:solidFill>
              <a:effectLst/>
              <a:uFillTx/>
              <a:latin typeface="Arial"/>
            </a:endParaRPr>
          </a:p>
        </p:txBody>
      </p:sp>
      <p:sp>
        <p:nvSpPr>
          <p:cNvPr id="620" name="Shape 13"/>
          <p:cNvSpPr/>
          <p:nvPr/>
        </p:nvSpPr>
        <p:spPr>
          <a:xfrm>
            <a:off x="640080" y="350892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1" name="Text 14"/>
          <p:cNvSpPr/>
          <p:nvPr/>
        </p:nvSpPr>
        <p:spPr>
          <a:xfrm>
            <a:off x="640080" y="350892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3</a:t>
            </a:r>
            <a:endParaRPr lang="en-US" sz="1300" b="0" u="none" strike="noStrike">
              <a:solidFill>
                <a:srgbClr val="000000"/>
              </a:solidFill>
              <a:effectLst/>
              <a:uFillTx/>
              <a:latin typeface="Arial"/>
            </a:endParaRPr>
          </a:p>
        </p:txBody>
      </p:sp>
      <p:sp>
        <p:nvSpPr>
          <p:cNvPr id="622" name="Text 15"/>
          <p:cNvSpPr/>
          <p:nvPr/>
        </p:nvSpPr>
        <p:spPr>
          <a:xfrm>
            <a:off x="1261800" y="3374280"/>
            <a:ext cx="1828080" cy="70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Verifiche più rapide</a:t>
            </a:r>
            <a:endParaRPr lang="en-US" sz="1300" b="0" u="none" strike="noStrike">
              <a:solidFill>
                <a:srgbClr val="000000"/>
              </a:solidFill>
              <a:effectLst/>
              <a:uFillTx/>
              <a:latin typeface="Arial"/>
            </a:endParaRPr>
          </a:p>
        </p:txBody>
      </p:sp>
      <p:sp>
        <p:nvSpPr>
          <p:cNvPr id="623" name="Text 16"/>
          <p:cNvSpPr/>
          <p:nvPr/>
        </p:nvSpPr>
        <p:spPr>
          <a:xfrm>
            <a:off x="3273480" y="3374280"/>
            <a:ext cx="2541240" cy="7081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100" b="0" u="none" strike="noStrike">
                <a:solidFill>
                  <a:srgbClr val="56687A"/>
                </a:solidFill>
                <a:effectLst/>
                <a:uFillTx/>
                <a:latin typeface="Calibri"/>
                <a:ea typeface="Calibri"/>
              </a:rPr>
              <a:t>Dati già strutturati: collaudi più brevi e controlli più semplici per gli enti.</a:t>
            </a:r>
            <a:endParaRPr lang="en-US" sz="1100" b="0" u="none" strike="noStrike">
              <a:solidFill>
                <a:srgbClr val="000000"/>
              </a:solidFill>
              <a:effectLst/>
              <a:uFillTx/>
              <a:latin typeface="Arial"/>
            </a:endParaRPr>
          </a:p>
        </p:txBody>
      </p:sp>
      <p:sp>
        <p:nvSpPr>
          <p:cNvPr id="624" name="Shape 17"/>
          <p:cNvSpPr/>
          <p:nvPr/>
        </p:nvSpPr>
        <p:spPr>
          <a:xfrm>
            <a:off x="640080" y="430920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5" name="Text 18"/>
          <p:cNvSpPr/>
          <p:nvPr/>
        </p:nvSpPr>
        <p:spPr>
          <a:xfrm>
            <a:off x="640080" y="430920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4</a:t>
            </a:r>
            <a:endParaRPr lang="en-US" sz="1300" b="0" u="none" strike="noStrike">
              <a:solidFill>
                <a:srgbClr val="000000"/>
              </a:solidFill>
              <a:effectLst/>
              <a:uFillTx/>
              <a:latin typeface="Arial"/>
            </a:endParaRPr>
          </a:p>
        </p:txBody>
      </p:sp>
      <p:sp>
        <p:nvSpPr>
          <p:cNvPr id="626" name="Text 19"/>
          <p:cNvSpPr/>
          <p:nvPr/>
        </p:nvSpPr>
        <p:spPr>
          <a:xfrm>
            <a:off x="1261800" y="4174200"/>
            <a:ext cx="1828080" cy="70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Valore del veicolo</a:t>
            </a:r>
            <a:endParaRPr lang="en-US" sz="1300" b="0" u="none" strike="noStrike">
              <a:solidFill>
                <a:srgbClr val="000000"/>
              </a:solidFill>
              <a:effectLst/>
              <a:uFillTx/>
              <a:latin typeface="Arial"/>
            </a:endParaRPr>
          </a:p>
        </p:txBody>
      </p:sp>
      <p:sp>
        <p:nvSpPr>
          <p:cNvPr id="627" name="Text 20"/>
          <p:cNvSpPr/>
          <p:nvPr/>
        </p:nvSpPr>
        <p:spPr>
          <a:xfrm>
            <a:off x="3273480" y="4174200"/>
            <a:ext cx="2541240" cy="7081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100" b="0" u="none" strike="noStrike">
                <a:solidFill>
                  <a:srgbClr val="56687A"/>
                </a:solidFill>
                <a:effectLst/>
                <a:uFillTx/>
                <a:latin typeface="Calibri"/>
                <a:ea typeface="Calibri"/>
              </a:rPr>
              <a:t>Uno storico certificato e trasferibile contrasta la svalutazione nell'usato.</a:t>
            </a:r>
            <a:endParaRPr lang="en-US" sz="1100" b="0" u="none" strike="noStrike">
              <a:solidFill>
                <a:srgbClr val="000000"/>
              </a:solidFill>
              <a:effectLst/>
              <a:uFillTx/>
              <a:latin typeface="Arial"/>
            </a:endParaRPr>
          </a:p>
        </p:txBody>
      </p:sp>
      <p:sp>
        <p:nvSpPr>
          <p:cNvPr id="628" name="Text 21"/>
          <p:cNvSpPr/>
          <p:nvPr/>
        </p:nvSpPr>
        <p:spPr>
          <a:xfrm>
            <a:off x="6346080" y="1371600"/>
            <a:ext cx="53028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8F7026"/>
                </a:solidFill>
                <a:effectLst/>
                <a:uFillTx/>
                <a:latin typeface="Calibri"/>
                <a:ea typeface="Calibri"/>
              </a:rPr>
              <a:t>Sviluppi futuri</a:t>
            </a:r>
            <a:endParaRPr lang="en-US" sz="1150" b="0" u="none" strike="noStrike">
              <a:solidFill>
                <a:srgbClr val="000000"/>
              </a:solidFill>
              <a:effectLst/>
              <a:uFillTx/>
              <a:latin typeface="Arial"/>
            </a:endParaRPr>
          </a:p>
        </p:txBody>
      </p:sp>
      <p:sp>
        <p:nvSpPr>
          <p:cNvPr id="629" name="Shape 22"/>
          <p:cNvSpPr/>
          <p:nvPr/>
        </p:nvSpPr>
        <p:spPr>
          <a:xfrm>
            <a:off x="6346080" y="190872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0" name="Text 23"/>
          <p:cNvSpPr/>
          <p:nvPr/>
        </p:nvSpPr>
        <p:spPr>
          <a:xfrm>
            <a:off x="6346080" y="190872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1</a:t>
            </a:r>
            <a:endParaRPr lang="en-US" sz="1300" b="0" u="none" strike="noStrike">
              <a:solidFill>
                <a:srgbClr val="000000"/>
              </a:solidFill>
              <a:effectLst/>
              <a:uFillTx/>
              <a:latin typeface="Arial"/>
            </a:endParaRPr>
          </a:p>
        </p:txBody>
      </p:sp>
      <p:sp>
        <p:nvSpPr>
          <p:cNvPr id="631" name="Text 24"/>
          <p:cNvSpPr/>
          <p:nvPr/>
        </p:nvSpPr>
        <p:spPr>
          <a:xfrm>
            <a:off x="6967800" y="1774080"/>
            <a:ext cx="1919520" cy="70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Segmenti contigui</a:t>
            </a:r>
            <a:endParaRPr lang="en-US" sz="1300" b="0" u="none" strike="noStrike">
              <a:solidFill>
                <a:srgbClr val="000000"/>
              </a:solidFill>
              <a:effectLst/>
              <a:uFillTx/>
              <a:latin typeface="Arial"/>
            </a:endParaRPr>
          </a:p>
        </p:txBody>
      </p:sp>
      <p:sp>
        <p:nvSpPr>
          <p:cNvPr id="632" name="Text 25"/>
          <p:cNvSpPr/>
          <p:nvPr/>
        </p:nvSpPr>
        <p:spPr>
          <a:xfrm>
            <a:off x="9070920" y="1774080"/>
            <a:ext cx="2303640" cy="7081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100" b="0" u="none" strike="noStrike">
                <a:solidFill>
                  <a:srgbClr val="56687A"/>
                </a:solidFill>
                <a:effectLst/>
                <a:uFillTx/>
                <a:latin typeface="Calibri"/>
                <a:ea typeface="Calibri"/>
              </a:rPr>
              <a:t>Retrofit elettrico, veicoli storici, allestimenti commerciali e flotte aziendali.</a:t>
            </a:r>
            <a:endParaRPr lang="en-US" sz="1100" b="0" u="none" strike="noStrike">
              <a:solidFill>
                <a:srgbClr val="000000"/>
              </a:solidFill>
              <a:effectLst/>
              <a:uFillTx/>
              <a:latin typeface="Arial"/>
            </a:endParaRPr>
          </a:p>
        </p:txBody>
      </p:sp>
      <p:sp>
        <p:nvSpPr>
          <p:cNvPr id="633" name="Shape 26"/>
          <p:cNvSpPr/>
          <p:nvPr/>
        </p:nvSpPr>
        <p:spPr>
          <a:xfrm>
            <a:off x="6346080" y="270900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4" name="Text 27"/>
          <p:cNvSpPr/>
          <p:nvPr/>
        </p:nvSpPr>
        <p:spPr>
          <a:xfrm>
            <a:off x="6346080" y="270900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2</a:t>
            </a:r>
            <a:endParaRPr lang="en-US" sz="1300" b="0" u="none" strike="noStrike">
              <a:solidFill>
                <a:srgbClr val="000000"/>
              </a:solidFill>
              <a:effectLst/>
              <a:uFillTx/>
              <a:latin typeface="Arial"/>
            </a:endParaRPr>
          </a:p>
        </p:txBody>
      </p:sp>
      <p:sp>
        <p:nvSpPr>
          <p:cNvPr id="635" name="Text 28"/>
          <p:cNvSpPr/>
          <p:nvPr/>
        </p:nvSpPr>
        <p:spPr>
          <a:xfrm>
            <a:off x="6967800" y="2574000"/>
            <a:ext cx="1919520" cy="70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Riconoscimento formale</a:t>
            </a:r>
            <a:endParaRPr lang="en-US" sz="1300" b="0" u="none" strike="noStrike">
              <a:solidFill>
                <a:srgbClr val="000000"/>
              </a:solidFill>
              <a:effectLst/>
              <a:uFillTx/>
              <a:latin typeface="Arial"/>
            </a:endParaRPr>
          </a:p>
        </p:txBody>
      </p:sp>
      <p:sp>
        <p:nvSpPr>
          <p:cNvPr id="636" name="Text 29"/>
          <p:cNvSpPr/>
          <p:nvPr/>
        </p:nvSpPr>
        <p:spPr>
          <a:xfrm>
            <a:off x="9070920" y="2574000"/>
            <a:ext cx="2303640" cy="7081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100" b="0" u="none" strike="noStrike">
                <a:solidFill>
                  <a:srgbClr val="56687A"/>
                </a:solidFill>
                <a:effectLst/>
                <a:uFillTx/>
                <a:latin typeface="Calibri"/>
                <a:ea typeface="Calibri"/>
              </a:rPr>
              <a:t>Valore giuridico dato da Motorizzazione e assicurazioni: da adempimento a sostituto.</a:t>
            </a:r>
            <a:endParaRPr lang="en-US" sz="1100" b="0" u="none" strike="noStrike">
              <a:solidFill>
                <a:srgbClr val="000000"/>
              </a:solidFill>
              <a:effectLst/>
              <a:uFillTx/>
              <a:latin typeface="Arial"/>
            </a:endParaRPr>
          </a:p>
        </p:txBody>
      </p:sp>
      <p:sp>
        <p:nvSpPr>
          <p:cNvPr id="637" name="Shape 30"/>
          <p:cNvSpPr/>
          <p:nvPr/>
        </p:nvSpPr>
        <p:spPr>
          <a:xfrm>
            <a:off x="6346080" y="350892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8" name="Text 31"/>
          <p:cNvSpPr/>
          <p:nvPr/>
        </p:nvSpPr>
        <p:spPr>
          <a:xfrm>
            <a:off x="6346080" y="350892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3</a:t>
            </a:r>
            <a:endParaRPr lang="en-US" sz="1300" b="0" u="none" strike="noStrike">
              <a:solidFill>
                <a:srgbClr val="000000"/>
              </a:solidFill>
              <a:effectLst/>
              <a:uFillTx/>
              <a:latin typeface="Arial"/>
            </a:endParaRPr>
          </a:p>
        </p:txBody>
      </p:sp>
      <p:sp>
        <p:nvSpPr>
          <p:cNvPr id="639" name="Text 32"/>
          <p:cNvSpPr/>
          <p:nvPr/>
        </p:nvSpPr>
        <p:spPr>
          <a:xfrm>
            <a:off x="6967800" y="3374280"/>
            <a:ext cx="1919520" cy="70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Intelligenza artificiale</a:t>
            </a:r>
            <a:endParaRPr lang="en-US" sz="1300" b="0" u="none" strike="noStrike">
              <a:solidFill>
                <a:srgbClr val="000000"/>
              </a:solidFill>
              <a:effectLst/>
              <a:uFillTx/>
              <a:latin typeface="Arial"/>
            </a:endParaRPr>
          </a:p>
        </p:txBody>
      </p:sp>
      <p:sp>
        <p:nvSpPr>
          <p:cNvPr id="640" name="Text 33"/>
          <p:cNvSpPr/>
          <p:nvPr/>
        </p:nvSpPr>
        <p:spPr>
          <a:xfrm>
            <a:off x="9070920" y="3374280"/>
            <a:ext cx="2303640" cy="7081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100" b="0" u="none" strike="noStrike">
                <a:solidFill>
                  <a:srgbClr val="56687A"/>
                </a:solidFill>
                <a:effectLst/>
                <a:uFillTx/>
                <a:latin typeface="Calibri"/>
                <a:ea typeface="Calibri"/>
              </a:rPr>
              <a:t>Correlazioni tra modifiche, componenti ed esiti dei collaudi per indicazioni predittive.</a:t>
            </a:r>
            <a:endParaRPr lang="en-US" sz="1100" b="0" u="none" strike="noStrike">
              <a:solidFill>
                <a:srgbClr val="000000"/>
              </a:solidFill>
              <a:effectLst/>
              <a:uFillTx/>
              <a:latin typeface="Arial"/>
            </a:endParaRPr>
          </a:p>
        </p:txBody>
      </p:sp>
      <p:sp>
        <p:nvSpPr>
          <p:cNvPr id="641" name="Shape 34"/>
          <p:cNvSpPr/>
          <p:nvPr/>
        </p:nvSpPr>
        <p:spPr>
          <a:xfrm>
            <a:off x="6346080" y="4309200"/>
            <a:ext cx="419760" cy="419760"/>
          </a:xfrm>
          <a:prstGeom prst="ellipse">
            <a:avLst/>
          </a:prstGeom>
          <a:solidFill>
            <a:srgbClr val="F0E5C8"/>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2" name="Text 35"/>
          <p:cNvSpPr/>
          <p:nvPr/>
        </p:nvSpPr>
        <p:spPr>
          <a:xfrm>
            <a:off x="6346080" y="430920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304E"/>
                </a:solidFill>
                <a:effectLst/>
                <a:uFillTx/>
                <a:latin typeface="Cambria"/>
                <a:ea typeface="Cambria"/>
              </a:rPr>
              <a:t>4</a:t>
            </a:r>
            <a:endParaRPr lang="en-US" sz="1300" b="0" u="none" strike="noStrike">
              <a:solidFill>
                <a:srgbClr val="000000"/>
              </a:solidFill>
              <a:effectLst/>
              <a:uFillTx/>
              <a:latin typeface="Arial"/>
            </a:endParaRPr>
          </a:p>
        </p:txBody>
      </p:sp>
      <p:sp>
        <p:nvSpPr>
          <p:cNvPr id="643" name="Text 36"/>
          <p:cNvSpPr/>
          <p:nvPr/>
        </p:nvSpPr>
        <p:spPr>
          <a:xfrm>
            <a:off x="6967800" y="4174200"/>
            <a:ext cx="1919520" cy="70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4304E"/>
                </a:solidFill>
                <a:effectLst/>
                <a:uFillTx/>
                <a:latin typeface="Cambria"/>
                <a:ea typeface="Cambria"/>
              </a:rPr>
              <a:t>Digital Product Passport</a:t>
            </a:r>
            <a:endParaRPr lang="en-US" sz="1300" b="0" u="none" strike="noStrike">
              <a:solidFill>
                <a:srgbClr val="000000"/>
              </a:solidFill>
              <a:effectLst/>
              <a:uFillTx/>
              <a:latin typeface="Arial"/>
            </a:endParaRPr>
          </a:p>
        </p:txBody>
      </p:sp>
      <p:sp>
        <p:nvSpPr>
          <p:cNvPr id="644" name="Text 37"/>
          <p:cNvSpPr/>
          <p:nvPr/>
        </p:nvSpPr>
        <p:spPr>
          <a:xfrm>
            <a:off x="9070920" y="4174200"/>
            <a:ext cx="2303640" cy="708120"/>
          </a:xfrm>
          <a:prstGeom prst="rect">
            <a:avLst/>
          </a:prstGeom>
          <a:noFill/>
          <a:ln w="0">
            <a:noFill/>
          </a:ln>
        </p:spPr>
        <p:style>
          <a:lnRef idx="0"/>
          <a:fillRef idx="0"/>
          <a:effectRef idx="0"/>
          <a:fontRef idx="minor"/>
        </p:style>
        <p:txBody>
          <a:bodyPr lIns="0" tIns="0" rIns="0" bIns="0" anchor="ctr">
            <a:noAutofit/>
          </a:bodyPr>
          <a:p>
            <a:pPr defTabSz="914400">
              <a:lnSpc>
                <a:spcPts val="1701"/>
              </a:lnSpc>
              <a:tabLst>
                <a:tab pos="0" algn="l"/>
              </a:tabLst>
            </a:pPr>
            <a:r>
              <a:rPr lang="en-US" sz="1100" b="0" u="none" strike="noStrike">
                <a:solidFill>
                  <a:srgbClr val="56687A"/>
                </a:solidFill>
                <a:effectLst/>
                <a:uFillTx/>
                <a:latin typeface="Calibri"/>
                <a:ea typeface="Calibri"/>
              </a:rPr>
              <a:t>Allineamento agli standard europei e automazione contrattuale via smart contract.</a:t>
            </a:r>
            <a:endParaRPr lang="en-US" sz="1100" b="0" u="none" strike="noStrike">
              <a:solidFill>
                <a:srgbClr val="000000"/>
              </a:solidFill>
              <a:effectLst/>
              <a:uFillTx/>
              <a:latin typeface="Arial"/>
            </a:endParaRPr>
          </a:p>
        </p:txBody>
      </p:sp>
      <p:sp>
        <p:nvSpPr>
          <p:cNvPr id="645" name="Shape 38"/>
          <p:cNvSpPr/>
          <p:nvPr/>
        </p:nvSpPr>
        <p:spPr>
          <a:xfrm>
            <a:off x="621720" y="5212080"/>
            <a:ext cx="10917360" cy="913680"/>
          </a:xfrm>
          <a:prstGeom prst="roundRect">
            <a:avLst>
              <a:gd name="adj" fmla="val 7000"/>
            </a:avLst>
          </a:prstGeom>
          <a:solidFill>
            <a:srgbClr val="F0E5C8"/>
          </a:solidFill>
          <a:ln w="9525">
            <a:solidFill>
              <a:srgbClr val="C2A04A"/>
            </a:solidFill>
            <a:round/>
          </a:ln>
          <a:effectLst>
            <a:outerShdw algn="bl" blurRad="114480" dir="5400000" dist="20160" kx="0" ky="0" rotWithShape="0" sx="100000" sy="100000">
              <a:srgbClr val="8C8168">
                <a:alpha val="11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6" name="Shape 39"/>
          <p:cNvSpPr/>
          <p:nvPr/>
        </p:nvSpPr>
        <p:spPr>
          <a:xfrm>
            <a:off x="859680" y="5459040"/>
            <a:ext cx="419760" cy="419760"/>
          </a:xfrm>
          <a:prstGeom prst="ellipse">
            <a:avLst/>
          </a:prstGeom>
          <a:solidFill>
            <a:srgbClr val="FFFFFF"/>
          </a:solidFill>
          <a:ln w="1397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7" name="Text 40"/>
          <p:cNvSpPr/>
          <p:nvPr/>
        </p:nvSpPr>
        <p:spPr>
          <a:xfrm>
            <a:off x="859680" y="5459040"/>
            <a:ext cx="419760" cy="41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304E"/>
                </a:solidFill>
                <a:effectLst/>
                <a:uFillTx/>
                <a:latin typeface="Cambria"/>
                <a:ea typeface="Cambria"/>
              </a:rPr>
              <a:t>→</a:t>
            </a:r>
            <a:endParaRPr lang="en-US" sz="1200" b="0" u="none" strike="noStrike">
              <a:solidFill>
                <a:srgbClr val="000000"/>
              </a:solidFill>
              <a:effectLst/>
              <a:uFillTx/>
              <a:latin typeface="Arial"/>
            </a:endParaRPr>
          </a:p>
        </p:txBody>
      </p:sp>
      <p:sp>
        <p:nvSpPr>
          <p:cNvPr id="648" name="Text 41"/>
          <p:cNvSpPr/>
          <p:nvPr/>
        </p:nvSpPr>
        <p:spPr>
          <a:xfrm>
            <a:off x="1463040" y="5340240"/>
            <a:ext cx="9820080" cy="657720"/>
          </a:xfrm>
          <a:prstGeom prst="rect">
            <a:avLst/>
          </a:prstGeom>
          <a:noFill/>
          <a:ln w="0">
            <a:noFill/>
          </a:ln>
        </p:spPr>
        <p:style>
          <a:lnRef idx="0"/>
          <a:fillRef idx="0"/>
          <a:effectRef idx="0"/>
          <a:fontRef idx="minor"/>
        </p:style>
        <p:txBody>
          <a:bodyPr lIns="0" tIns="0" rIns="0" bIns="0" anchor="ctr">
            <a:noAutofit/>
          </a:bodyPr>
          <a:p>
            <a:pPr defTabSz="914400">
              <a:lnSpc>
                <a:spcPts val="1899"/>
              </a:lnSpc>
              <a:tabLst>
                <a:tab pos="0" algn="l"/>
              </a:tabLst>
            </a:pPr>
            <a:r>
              <a:rPr lang="en-US" sz="1300" b="0" u="none" strike="noStrike">
                <a:solidFill>
                  <a:srgbClr val="4A4124"/>
                </a:solidFill>
                <a:effectLst/>
                <a:uFillTx/>
                <a:latin typeface="Calibri"/>
                <a:ea typeface="Calibri"/>
              </a:rPr>
              <a:t>La condizione di successo non è tecnica: la solidità della soluzione l'abbiamo verificata. È la capacità di aggregare attorno al registro abbastanza attori della filiera e di ottenere dagli enti il riconoscimento che ne consacri il valore probatorio.</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D31"/>
        </a:solidFill>
      </p:bgPr>
    </p:bg>
    <p:spTree>
      <p:nvGrpSpPr>
        <p:cNvPr id="1" name=""/>
        <p:cNvGrpSpPr/>
        <p:nvPr/>
      </p:nvGrpSpPr>
      <p:grpSpPr>
        <a:xfrm>
          <a:off x="0" y="0"/>
          <a:ext cx="0" cy="0"/>
          <a:chOff x="0" y="0"/>
          <a:chExt cx="0" cy="0"/>
        </a:xfrm>
      </p:grpSpPr>
      <p:sp>
        <p:nvSpPr>
          <p:cNvPr id="649" name="Shape 0"/>
          <p:cNvSpPr/>
          <p:nvPr/>
        </p:nvSpPr>
        <p:spPr>
          <a:xfrm>
            <a:off x="5413320" y="1389960"/>
            <a:ext cx="1370880" cy="1370880"/>
          </a:xfrm>
          <a:prstGeom prst="ellipse">
            <a:avLst/>
          </a:prstGeom>
          <a:solidFill>
            <a:srgbClr val="0B1D31"/>
          </a:solidFill>
          <a:ln w="19050">
            <a:solidFill>
              <a:srgbClr val="C2A04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0" name="Text 1"/>
          <p:cNvSpPr/>
          <p:nvPr/>
        </p:nvSpPr>
        <p:spPr>
          <a:xfrm>
            <a:off x="5413320" y="1389960"/>
            <a:ext cx="1370880" cy="137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C2A04A"/>
                </a:solidFill>
                <a:effectLst/>
                <a:uFillTx/>
                <a:latin typeface="Cambria"/>
                <a:ea typeface="Cambria"/>
              </a:rPr>
              <a:t>DMVP</a:t>
            </a:r>
            <a:endParaRPr lang="en-US" sz="1500" b="0" u="none" strike="noStrike">
              <a:solidFill>
                <a:srgbClr val="FFFFFF"/>
              </a:solidFill>
              <a:effectLst/>
              <a:uFillTx/>
              <a:latin typeface="Arial"/>
            </a:endParaRPr>
          </a:p>
        </p:txBody>
      </p:sp>
      <p:sp>
        <p:nvSpPr>
          <p:cNvPr id="651" name="Text 2"/>
          <p:cNvSpPr/>
          <p:nvPr/>
        </p:nvSpPr>
        <p:spPr>
          <a:xfrm>
            <a:off x="1097280" y="2980800"/>
            <a:ext cx="9966240" cy="776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FAF6EC"/>
                </a:solidFill>
                <a:effectLst/>
                <a:uFillTx/>
                <a:latin typeface="Cambria"/>
                <a:ea typeface="Cambria"/>
              </a:rPr>
              <a:t>Grazie per l'attenzione</a:t>
            </a:r>
            <a:endParaRPr lang="en-US" sz="4000" b="0" u="none" strike="noStrike">
              <a:solidFill>
                <a:srgbClr val="FFFFFF"/>
              </a:solidFill>
              <a:effectLst/>
              <a:uFillTx/>
              <a:latin typeface="Arial"/>
            </a:endParaRPr>
          </a:p>
        </p:txBody>
      </p:sp>
      <p:sp>
        <p:nvSpPr>
          <p:cNvPr id="652" name="Text 3"/>
          <p:cNvSpPr/>
          <p:nvPr/>
        </p:nvSpPr>
        <p:spPr>
          <a:xfrm>
            <a:off x="1828800" y="3822120"/>
            <a:ext cx="8503200" cy="547920"/>
          </a:xfrm>
          <a:prstGeom prst="rect">
            <a:avLst/>
          </a:prstGeom>
          <a:noFill/>
          <a:ln w="0">
            <a:noFill/>
          </a:ln>
        </p:spPr>
        <p:style>
          <a:lnRef idx="0"/>
          <a:fillRef idx="0"/>
          <a:effectRef idx="0"/>
          <a:fontRef idx="minor"/>
        </p:style>
        <p:txBody>
          <a:bodyPr lIns="0" tIns="0" rIns="0" bIns="0" anchor="ctr">
            <a:noAutofit/>
          </a:bodyPr>
          <a:p>
            <a:pPr algn="ctr" defTabSz="914400">
              <a:lnSpc>
                <a:spcPts val="2200"/>
              </a:lnSpc>
              <a:tabLst>
                <a:tab pos="0" algn="l"/>
              </a:tabLst>
            </a:pPr>
            <a:r>
              <a:rPr lang="en-US" sz="1400" b="0" u="none" strike="noStrike">
                <a:solidFill>
                  <a:srgbClr val="A8BACB"/>
                </a:solidFill>
                <a:effectLst/>
                <a:uFillTx/>
                <a:latin typeface="Calibri"/>
                <a:ea typeface="Calibri"/>
              </a:rPr>
              <a:t>Tuning Ledger — un registro condiviso che restituisce valore agli operatori e ai proprietari dei veicoli</a:t>
            </a:r>
            <a:endParaRPr lang="en-US" sz="1400" b="0" u="none" strike="noStrike">
              <a:solidFill>
                <a:srgbClr val="FFFFFF"/>
              </a:solidFill>
              <a:effectLst/>
              <a:uFillTx/>
              <a:latin typeface="Arial"/>
            </a:endParaRPr>
          </a:p>
        </p:txBody>
      </p:sp>
      <p:sp>
        <p:nvSpPr>
          <p:cNvPr id="653" name="Text 4"/>
          <p:cNvSpPr/>
          <p:nvPr/>
        </p:nvSpPr>
        <p:spPr>
          <a:xfrm>
            <a:off x="2359080" y="4754880"/>
            <a:ext cx="237672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C2A04A"/>
                </a:solidFill>
                <a:effectLst/>
                <a:uFillTx/>
                <a:latin typeface="Cambria"/>
                <a:ea typeface="Cambria"/>
              </a:rPr>
              <a:t>46,75</a:t>
            </a:r>
            <a:endParaRPr lang="en-US" sz="2400" b="0" u="none" strike="noStrike">
              <a:solidFill>
                <a:srgbClr val="FFFFFF"/>
              </a:solidFill>
              <a:effectLst/>
              <a:uFillTx/>
              <a:latin typeface="Arial"/>
            </a:endParaRPr>
          </a:p>
        </p:txBody>
      </p:sp>
      <p:sp>
        <p:nvSpPr>
          <p:cNvPr id="654" name="Text 5"/>
          <p:cNvSpPr/>
          <p:nvPr/>
        </p:nvSpPr>
        <p:spPr>
          <a:xfrm>
            <a:off x="2359080" y="5212080"/>
            <a:ext cx="23767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8FA5B9"/>
                </a:solidFill>
                <a:effectLst/>
                <a:uFillTx/>
                <a:latin typeface="Calibri"/>
                <a:ea typeface="Calibri"/>
              </a:rPr>
              <a:t>Anni-Persona</a:t>
            </a:r>
            <a:endParaRPr lang="en-US" sz="1100" b="0" u="none" strike="noStrike">
              <a:solidFill>
                <a:srgbClr val="FFFFFF"/>
              </a:solidFill>
              <a:effectLst/>
              <a:uFillTx/>
              <a:latin typeface="Arial"/>
            </a:endParaRPr>
          </a:p>
        </p:txBody>
      </p:sp>
      <p:sp>
        <p:nvSpPr>
          <p:cNvPr id="655" name="Text 6"/>
          <p:cNvSpPr/>
          <p:nvPr/>
        </p:nvSpPr>
        <p:spPr>
          <a:xfrm>
            <a:off x="4919400" y="4754880"/>
            <a:ext cx="237672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C2A04A"/>
                </a:solidFill>
                <a:effectLst/>
                <a:uFillTx/>
                <a:latin typeface="Cambria"/>
                <a:ea typeface="Cambria"/>
              </a:rPr>
              <a:t>Anno 3</a:t>
            </a:r>
            <a:endParaRPr lang="en-US" sz="2400" b="0" u="none" strike="noStrike">
              <a:solidFill>
                <a:srgbClr val="FFFFFF"/>
              </a:solidFill>
              <a:effectLst/>
              <a:uFillTx/>
              <a:latin typeface="Arial"/>
            </a:endParaRPr>
          </a:p>
        </p:txBody>
      </p:sp>
      <p:sp>
        <p:nvSpPr>
          <p:cNvPr id="656" name="Text 7"/>
          <p:cNvSpPr/>
          <p:nvPr/>
        </p:nvSpPr>
        <p:spPr>
          <a:xfrm>
            <a:off x="4919400" y="5212080"/>
            <a:ext cx="23767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8FA5B9"/>
                </a:solidFill>
                <a:effectLst/>
                <a:uFillTx/>
                <a:latin typeface="Calibri"/>
                <a:ea typeface="Calibri"/>
              </a:rPr>
              <a:t>Break Even Point</a:t>
            </a:r>
            <a:endParaRPr lang="en-US" sz="1100" b="0" u="none" strike="noStrike">
              <a:solidFill>
                <a:srgbClr val="FFFFFF"/>
              </a:solidFill>
              <a:effectLst/>
              <a:uFillTx/>
              <a:latin typeface="Arial"/>
            </a:endParaRPr>
          </a:p>
        </p:txBody>
      </p:sp>
      <p:sp>
        <p:nvSpPr>
          <p:cNvPr id="657" name="Text 8"/>
          <p:cNvSpPr/>
          <p:nvPr/>
        </p:nvSpPr>
        <p:spPr>
          <a:xfrm>
            <a:off x="7479720" y="4754880"/>
            <a:ext cx="2376720" cy="456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C2A04A"/>
                </a:solidFill>
                <a:effectLst/>
                <a:uFillTx/>
                <a:latin typeface="Cambria"/>
                <a:ea typeface="Cambria"/>
              </a:rPr>
              <a:t>160,10%</a:t>
            </a:r>
            <a:endParaRPr lang="en-US" sz="2400" b="0" u="none" strike="noStrike">
              <a:solidFill>
                <a:srgbClr val="FFFFFF"/>
              </a:solidFill>
              <a:effectLst/>
              <a:uFillTx/>
              <a:latin typeface="Arial"/>
            </a:endParaRPr>
          </a:p>
        </p:txBody>
      </p:sp>
      <p:sp>
        <p:nvSpPr>
          <p:cNvPr id="658" name="Text 9"/>
          <p:cNvSpPr/>
          <p:nvPr/>
        </p:nvSpPr>
        <p:spPr>
          <a:xfrm>
            <a:off x="7479720" y="5212080"/>
            <a:ext cx="23767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8FA5B9"/>
                </a:solidFill>
                <a:effectLst/>
                <a:uFillTx/>
                <a:latin typeface="Calibri"/>
                <a:ea typeface="Calibri"/>
              </a:rPr>
              <a:t>ROI in 5 anni</a:t>
            </a:r>
            <a:endParaRPr lang="en-US" sz="1100" b="0" u="none" strike="noStrike">
              <a:solidFill>
                <a:srgbClr val="FFFFFF"/>
              </a:solidFill>
              <a:effectLst/>
              <a:uFillTx/>
              <a:latin typeface="Arial"/>
            </a:endParaRPr>
          </a:p>
        </p:txBody>
      </p:sp>
      <p:sp>
        <p:nvSpPr>
          <p:cNvPr id="659" name="Text 10"/>
          <p:cNvSpPr/>
          <p:nvPr/>
        </p:nvSpPr>
        <p:spPr>
          <a:xfrm>
            <a:off x="1097280" y="5897880"/>
            <a:ext cx="996624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u="none" strike="noStrike">
                <a:solidFill>
                  <a:srgbClr val="5C7084"/>
                </a:solidFill>
                <a:effectLst/>
                <a:uFillTx/>
                <a:latin typeface="Calibri"/>
                <a:ea typeface="Calibri"/>
              </a:rPr>
              <a:t>Gabriele Hamil  ·  Matteo Stricagnolo      |      Prof. Domenico Saccà      |      Università della Calabria</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LibreOffice/26.2.6.3$Linux_X86_64 LibreOffice_project/620$Build-3</Application>
  <AppVersion>15.0000</AppVersion>
  <Words>0</Words>
  <Paragraphs>0</Paragraphs>
  <Company>Corso di Sistemi Informativi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2026-09-16T15:14:48Z</dcterms:created>
  <dc:creator>Gabriele</dc:creator>
  <dc:description/>
  <dc:language>en-US</dc:language>
  <cp:lastModifiedBy/>
  <dcterms:modified xsi:type="dcterms:W3CDTF">2026-09-28T11:19:21Z</dcterms:modified>
  <cp:revision>4</cp:revision>
  <dc:subject>PptxGenJS Presentation</dc:subject>
  <dc:title>Tuning Ledger: Piattaforma Blockchain per la Certificazione del Tuning Automobilistico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35</vt:i4>
  </property>
  <property fmtid="{D5CDD505-2E9C-101B-9397-08002B2CF9AE}" pid="3" name="PresentationFormat">
    <vt:lpwstr>On-screen Show (16:9)</vt:lpwstr>
  </property>
  <property fmtid="{D5CDD505-2E9C-101B-9397-08002B2CF9AE}" pid="4" name="Slides">
    <vt:i4>35</vt:i4>
  </property>
</Properties>
</file>